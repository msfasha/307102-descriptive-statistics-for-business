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483" r:id="rId2"/>
    <p:sldId id="447" r:id="rId3"/>
    <p:sldId id="645" r:id="rId4"/>
    <p:sldId id="729" r:id="rId5"/>
    <p:sldId id="730" r:id="rId6"/>
    <p:sldId id="731" r:id="rId7"/>
    <p:sldId id="510" r:id="rId8"/>
    <p:sldId id="732" r:id="rId9"/>
    <p:sldId id="733" r:id="rId10"/>
    <p:sldId id="740" r:id="rId11"/>
    <p:sldId id="621" r:id="rId12"/>
    <p:sldId id="514" r:id="rId13"/>
    <p:sldId id="696" r:id="rId14"/>
    <p:sldId id="646" r:id="rId15"/>
    <p:sldId id="650" r:id="rId16"/>
    <p:sldId id="649" r:id="rId17"/>
    <p:sldId id="651" r:id="rId18"/>
    <p:sldId id="619" r:id="rId19"/>
    <p:sldId id="647" r:id="rId20"/>
    <p:sldId id="734" r:id="rId21"/>
    <p:sldId id="737" r:id="rId22"/>
    <p:sldId id="640" r:id="rId23"/>
    <p:sldId id="742" r:id="rId24"/>
    <p:sldId id="744" r:id="rId25"/>
    <p:sldId id="743" r:id="rId26"/>
    <p:sldId id="635" r:id="rId27"/>
    <p:sldId id="638" r:id="rId28"/>
    <p:sldId id="625" r:id="rId29"/>
    <p:sldId id="653" r:id="rId30"/>
    <p:sldId id="654" r:id="rId31"/>
    <p:sldId id="655" r:id="rId32"/>
    <p:sldId id="669" r:id="rId33"/>
    <p:sldId id="671" r:id="rId34"/>
    <p:sldId id="667" r:id="rId35"/>
    <p:sldId id="668" r:id="rId36"/>
    <p:sldId id="657" r:id="rId37"/>
    <p:sldId id="670" r:id="rId38"/>
    <p:sldId id="658" r:id="rId39"/>
    <p:sldId id="661" r:id="rId40"/>
    <p:sldId id="672" r:id="rId41"/>
    <p:sldId id="675" r:id="rId42"/>
    <p:sldId id="674" r:id="rId43"/>
    <p:sldId id="728" r:id="rId44"/>
    <p:sldId id="726" r:id="rId45"/>
    <p:sldId id="660" r:id="rId46"/>
    <p:sldId id="659" r:id="rId47"/>
    <p:sldId id="685" r:id="rId48"/>
    <p:sldId id="682" r:id="rId49"/>
    <p:sldId id="683" r:id="rId50"/>
    <p:sldId id="684" r:id="rId51"/>
    <p:sldId id="686" r:id="rId52"/>
    <p:sldId id="687" r:id="rId53"/>
    <p:sldId id="688" r:id="rId54"/>
    <p:sldId id="689" r:id="rId55"/>
    <p:sldId id="692" r:id="rId56"/>
    <p:sldId id="690" r:id="rId57"/>
    <p:sldId id="69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55" d="100"/>
          <a:sy n="155" d="100"/>
        </p:scale>
        <p:origin x="51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ldChg>
      <pc:sldChg chg="modSp mod">
        <pc:chgData name="Mohammed Fasha" userId="cc64f42d-a1a6-4f08-b97b-0c37f877119f" providerId="ADAL" clId="{19B6BCF0-69C5-47B4-98CC-B0941D29A039}" dt="2025-04-09T04:26:33.067" v="527" actId="404"/>
        <pc:sldMkLst>
          <pc:docMk/>
          <pc:sldMk cId="1852804652" sldId="396"/>
        </pc:sldMkLst>
      </pc:sldChg>
      <pc:sldChg chg="modSp mod">
        <pc:chgData name="Mohammed Fasha" userId="cc64f42d-a1a6-4f08-b97b-0c37f877119f" providerId="ADAL" clId="{19B6BCF0-69C5-47B4-98CC-B0941D29A039}" dt="2025-04-09T04:26:33.067" v="527" actId="404"/>
        <pc:sldMkLst>
          <pc:docMk/>
          <pc:sldMk cId="2127906749" sldId="427"/>
        </pc:sldMkLst>
      </pc:sldChg>
      <pc:sldChg chg="modSp mod">
        <pc:chgData name="Mohammed Fasha" userId="cc64f42d-a1a6-4f08-b97b-0c37f877119f" providerId="ADAL" clId="{19B6BCF0-69C5-47B4-98CC-B0941D29A039}" dt="2025-04-09T04:26:33.067" v="527" actId="404"/>
        <pc:sldMkLst>
          <pc:docMk/>
          <pc:sldMk cId="3339445507" sldId="430"/>
        </pc:sldMkLst>
      </pc:sldChg>
      <pc:sldChg chg="addSp delSp modSp mod">
        <pc:chgData name="Mohammed Fasha" userId="cc64f42d-a1a6-4f08-b97b-0c37f877119f" providerId="ADAL" clId="{19B6BCF0-69C5-47B4-98CC-B0941D29A039}" dt="2025-04-09T04:16:36.518" v="433" actId="1076"/>
        <pc:sldMkLst>
          <pc:docMk/>
          <pc:sldMk cId="1210803598" sldId="478"/>
        </pc:sldMkLst>
      </pc:sldChg>
      <pc:sldChg chg="modSp mod">
        <pc:chgData name="Mohammed Fasha" userId="cc64f42d-a1a6-4f08-b97b-0c37f877119f" providerId="ADAL" clId="{19B6BCF0-69C5-47B4-98CC-B0941D29A039}" dt="2025-04-07T04:00:51.916" v="22" actId="207"/>
        <pc:sldMkLst>
          <pc:docMk/>
          <pc:sldMk cId="1772982877" sldId="590"/>
        </pc:sldMkLst>
      </pc:sldChg>
      <pc:sldChg chg="modSp mod chgLayout">
        <pc:chgData name="Mohammed Fasha" userId="cc64f42d-a1a6-4f08-b97b-0c37f877119f" providerId="ADAL" clId="{19B6BCF0-69C5-47B4-98CC-B0941D29A039}" dt="2025-04-09T04:26:31.177" v="523" actId="700"/>
        <pc:sldMkLst>
          <pc:docMk/>
          <pc:sldMk cId="4204510001" sldId="592"/>
        </pc:sldMkLst>
      </pc:sldChg>
      <pc:sldChg chg="modSp mod chgLayout">
        <pc:chgData name="Mohammed Fasha" userId="cc64f42d-a1a6-4f08-b97b-0c37f877119f" providerId="ADAL" clId="{19B6BCF0-69C5-47B4-98CC-B0941D29A039}" dt="2025-04-09T04:24:52.300" v="492" actId="700"/>
        <pc:sldMkLst>
          <pc:docMk/>
          <pc:sldMk cId="1503045661" sldId="593"/>
        </pc:sldMkLst>
      </pc:sldChg>
      <pc:sldChg chg="addSp delSp modSp mod">
        <pc:chgData name="Mohammed Fasha" userId="cc64f42d-a1a6-4f08-b97b-0c37f877119f" providerId="ADAL" clId="{19B6BCF0-69C5-47B4-98CC-B0941D29A039}" dt="2025-04-09T04:14:48.624" v="428" actId="1076"/>
        <pc:sldMkLst>
          <pc:docMk/>
          <pc:sldMk cId="3474268344" sldId="596"/>
        </pc:sldMkLst>
      </pc:sldChg>
      <pc:sldChg chg="modSp mod">
        <pc:chgData name="Mohammed Fasha" userId="cc64f42d-a1a6-4f08-b97b-0c37f877119f" providerId="ADAL" clId="{19B6BCF0-69C5-47B4-98CC-B0941D29A039}" dt="2025-04-09T04:26:33.067" v="527" actId="404"/>
        <pc:sldMkLst>
          <pc:docMk/>
          <pc:sldMk cId="627652750" sldId="615"/>
        </pc:sldMkLst>
      </pc:sldChg>
      <pc:sldChg chg="modSp mod">
        <pc:chgData name="Mohammed Fasha" userId="cc64f42d-a1a6-4f08-b97b-0c37f877119f" providerId="ADAL" clId="{19B6BCF0-69C5-47B4-98CC-B0941D29A039}" dt="2025-04-09T04:26:33.067" v="527" actId="404"/>
        <pc:sldMkLst>
          <pc:docMk/>
          <pc:sldMk cId="839834530" sldId="621"/>
        </pc:sldMkLst>
        <pc:spChg chg="mod">
          <ac:chgData name="Mohammed Fasha" userId="cc64f42d-a1a6-4f08-b97b-0c37f877119f" providerId="ADAL" clId="{19B6BCF0-69C5-47B4-98CC-B0941D29A039}" dt="2025-04-09T04:26:33.067" v="527" actId="404"/>
          <ac:spMkLst>
            <pc:docMk/>
            <pc:sldMk cId="839834530" sldId="621"/>
            <ac:spMk id="5" creationId="{B0E4E7FB-FE36-574B-CC96-F23D77146AFF}"/>
          </ac:spMkLst>
        </pc:spChg>
      </pc:sldChg>
      <pc:sldChg chg="modSp mod">
        <pc:chgData name="Mohammed Fasha" userId="cc64f42d-a1a6-4f08-b97b-0c37f877119f" providerId="ADAL" clId="{19B6BCF0-69C5-47B4-98CC-B0941D29A039}" dt="2025-04-09T04:26:32.504" v="525" actId="404"/>
        <pc:sldMkLst>
          <pc:docMk/>
          <pc:sldMk cId="662689605" sldId="649"/>
        </pc:sldMkLst>
        <pc:spChg chg="mod">
          <ac:chgData name="Mohammed Fasha" userId="cc64f42d-a1a6-4f08-b97b-0c37f877119f" providerId="ADAL" clId="{19B6BCF0-69C5-47B4-98CC-B0941D29A039}" dt="2025-04-09T04:26:32.504" v="525" actId="404"/>
          <ac:spMkLst>
            <pc:docMk/>
            <pc:sldMk cId="662689605" sldId="649"/>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3942060319" sldId="650"/>
        </pc:sldMkLst>
        <pc:spChg chg="mod">
          <ac:chgData name="Mohammed Fasha" userId="cc64f42d-a1a6-4f08-b97b-0c37f877119f" providerId="ADAL" clId="{19B6BCF0-69C5-47B4-98CC-B0941D29A039}" dt="2025-04-09T04:26:33.067" v="527" actId="404"/>
          <ac:spMkLst>
            <pc:docMk/>
            <pc:sldMk cId="3942060319" sldId="650"/>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916802035" sldId="651"/>
        </pc:sldMkLst>
        <pc:spChg chg="mod">
          <ac:chgData name="Mohammed Fasha" userId="cc64f42d-a1a6-4f08-b97b-0c37f877119f" providerId="ADAL" clId="{19B6BCF0-69C5-47B4-98CC-B0941D29A039}" dt="2025-04-09T04:26:33.067" v="527" actId="404"/>
          <ac:spMkLst>
            <pc:docMk/>
            <pc:sldMk cId="916802035" sldId="651"/>
            <ac:spMk id="3" creationId="{4A45A649-6990-06EF-697E-90241C4765BF}"/>
          </ac:spMkLst>
        </pc:spChg>
      </pc:sldChg>
      <pc:sldChg chg="modSp mod">
        <pc:chgData name="Mohammed Fasha" userId="cc64f42d-a1a6-4f08-b97b-0c37f877119f" providerId="ADAL" clId="{19B6BCF0-69C5-47B4-98CC-B0941D29A039}" dt="2025-04-09T04:26:33.067" v="527" actId="404"/>
        <pc:sldMkLst>
          <pc:docMk/>
          <pc:sldMk cId="2892622100" sldId="655"/>
        </pc:sldMkLst>
        <pc:spChg chg="mod">
          <ac:chgData name="Mohammed Fasha" userId="cc64f42d-a1a6-4f08-b97b-0c37f877119f" providerId="ADAL" clId="{19B6BCF0-69C5-47B4-98CC-B0941D29A039}" dt="2025-04-09T04:26:33.067" v="527" actId="404"/>
          <ac:spMkLst>
            <pc:docMk/>
            <pc:sldMk cId="2892622100" sldId="655"/>
            <ac:spMk id="3" creationId="{DDB8F6FE-FF12-0BA5-D224-71F068E4DF88}"/>
          </ac:spMkLst>
        </pc:spChg>
      </pc:sldChg>
      <pc:sldChg chg="modSp mod">
        <pc:chgData name="Mohammed Fasha" userId="cc64f42d-a1a6-4f08-b97b-0c37f877119f" providerId="ADAL" clId="{19B6BCF0-69C5-47B4-98CC-B0941D29A039}" dt="2025-04-09T04:26:33.067" v="527" actId="404"/>
        <pc:sldMkLst>
          <pc:docMk/>
          <pc:sldMk cId="2680231355" sldId="669"/>
        </pc:sldMkLst>
        <pc:spChg chg="mod">
          <ac:chgData name="Mohammed Fasha" userId="cc64f42d-a1a6-4f08-b97b-0c37f877119f" providerId="ADAL" clId="{19B6BCF0-69C5-47B4-98CC-B0941D29A039}" dt="2025-04-09T04:26:33.067" v="527" actId="404"/>
          <ac:spMkLst>
            <pc:docMk/>
            <pc:sldMk cId="2680231355" sldId="669"/>
            <ac:spMk id="9" creationId="{33559B29-4771-A9F7-E7CA-D37CB72E62CF}"/>
          </ac:spMkLst>
        </pc:spChg>
      </pc:sldChg>
      <pc:sldChg chg="modSp mod">
        <pc:chgData name="Mohammed Fasha" userId="cc64f42d-a1a6-4f08-b97b-0c37f877119f" providerId="ADAL" clId="{19B6BCF0-69C5-47B4-98CC-B0941D29A039}" dt="2025-04-09T04:26:33.067" v="527" actId="404"/>
        <pc:sldMkLst>
          <pc:docMk/>
          <pc:sldMk cId="1620993364" sldId="672"/>
        </pc:sldMkLst>
        <pc:spChg chg="mod">
          <ac:chgData name="Mohammed Fasha" userId="cc64f42d-a1a6-4f08-b97b-0c37f877119f" providerId="ADAL" clId="{19B6BCF0-69C5-47B4-98CC-B0941D29A039}" dt="2025-04-09T04:26:33.067" v="527" actId="404"/>
          <ac:spMkLst>
            <pc:docMk/>
            <pc:sldMk cId="1620993364" sldId="672"/>
            <ac:spMk id="3" creationId="{5132636A-6168-1E5E-CC52-8E5CAA70E411}"/>
          </ac:spMkLst>
        </pc:spChg>
      </pc:sldChg>
      <pc:sldChg chg="modSp mod">
        <pc:chgData name="Mohammed Fasha" userId="cc64f42d-a1a6-4f08-b97b-0c37f877119f" providerId="ADAL" clId="{19B6BCF0-69C5-47B4-98CC-B0941D29A039}" dt="2025-04-09T04:26:33.067" v="527" actId="404"/>
        <pc:sldMkLst>
          <pc:docMk/>
          <pc:sldMk cId="32004852" sldId="708"/>
        </pc:sldMkLst>
      </pc:sldChg>
      <pc:sldChg chg="modSp mod">
        <pc:chgData name="Mohammed Fasha" userId="cc64f42d-a1a6-4f08-b97b-0c37f877119f" providerId="ADAL" clId="{19B6BCF0-69C5-47B4-98CC-B0941D29A039}" dt="2025-04-09T04:26:33.067" v="527" actId="404"/>
        <pc:sldMkLst>
          <pc:docMk/>
          <pc:sldMk cId="1096386322" sldId="715"/>
        </pc:sldMkLst>
      </pc:sldChg>
      <pc:sldChg chg="modSp mod">
        <pc:chgData name="Mohammed Fasha" userId="cc64f42d-a1a6-4f08-b97b-0c37f877119f" providerId="ADAL" clId="{19B6BCF0-69C5-47B4-98CC-B0941D29A039}" dt="2025-04-09T04:26:33.067" v="527" actId="404"/>
        <pc:sldMkLst>
          <pc:docMk/>
          <pc:sldMk cId="1784058309" sldId="716"/>
        </pc:sldMkLst>
      </pc:sldChg>
      <pc:sldChg chg="modSp mod">
        <pc:chgData name="Mohammed Fasha" userId="cc64f42d-a1a6-4f08-b97b-0c37f877119f" providerId="ADAL" clId="{19B6BCF0-69C5-47B4-98CC-B0941D29A039}" dt="2025-04-09T04:26:33.067" v="527" actId="404"/>
        <pc:sldMkLst>
          <pc:docMk/>
          <pc:sldMk cId="3139017106" sldId="717"/>
        </pc:sldMkLst>
      </pc:sldChg>
      <pc:sldChg chg="modSp mod">
        <pc:chgData name="Mohammed Fasha" userId="cc64f42d-a1a6-4f08-b97b-0c37f877119f" providerId="ADAL" clId="{19B6BCF0-69C5-47B4-98CC-B0941D29A039}" dt="2025-04-09T04:26:33.067" v="527" actId="404"/>
        <pc:sldMkLst>
          <pc:docMk/>
          <pc:sldMk cId="3043812923" sldId="718"/>
        </pc:sldMkLst>
      </pc:sldChg>
      <pc:sldChg chg="addSp delSp modSp new add del mod">
        <pc:chgData name="Mohammed Fasha" userId="cc64f42d-a1a6-4f08-b97b-0c37f877119f" providerId="ADAL" clId="{19B6BCF0-69C5-47B4-98CC-B0941D29A039}" dt="2025-04-09T04:34:39.336" v="631" actId="1076"/>
        <pc:sldMkLst>
          <pc:docMk/>
          <pc:sldMk cId="555545871" sldId="719"/>
        </pc:sldMkLst>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5F852C96-121E-4103-85D0-117B736085A1}"/>
    <pc:docChg chg="delSld modSld">
      <pc:chgData name="Mohammed Fasha" userId="cc64f42d-a1a6-4f08-b97b-0c37f877119f" providerId="ADAL" clId="{5F852C96-121E-4103-85D0-117B736085A1}" dt="2025-05-16T05:51:20.859" v="189" actId="47"/>
      <pc:docMkLst>
        <pc:docMk/>
      </pc:docMkLst>
      <pc:sldChg chg="del">
        <pc:chgData name="Mohammed Fasha" userId="cc64f42d-a1a6-4f08-b97b-0c37f877119f" providerId="ADAL" clId="{5F852C96-121E-4103-85D0-117B736085A1}" dt="2025-05-16T05:48:23.531" v="188" actId="47"/>
        <pc:sldMkLst>
          <pc:docMk/>
          <pc:sldMk cId="607684796" sldId="333"/>
        </pc:sldMkLst>
      </pc:sldChg>
      <pc:sldChg chg="del">
        <pc:chgData name="Mohammed Fasha" userId="cc64f42d-a1a6-4f08-b97b-0c37f877119f" providerId="ADAL" clId="{5F852C96-121E-4103-85D0-117B736085A1}" dt="2025-05-16T05:48:23.531" v="188" actId="47"/>
        <pc:sldMkLst>
          <pc:docMk/>
          <pc:sldMk cId="3241718055" sldId="344"/>
        </pc:sldMkLst>
      </pc:sldChg>
      <pc:sldChg chg="del">
        <pc:chgData name="Mohammed Fasha" userId="cc64f42d-a1a6-4f08-b97b-0c37f877119f" providerId="ADAL" clId="{5F852C96-121E-4103-85D0-117B736085A1}" dt="2025-05-16T05:48:23.531" v="188" actId="47"/>
        <pc:sldMkLst>
          <pc:docMk/>
          <pc:sldMk cId="2957811751" sldId="354"/>
        </pc:sldMkLst>
      </pc:sldChg>
      <pc:sldChg chg="del">
        <pc:chgData name="Mohammed Fasha" userId="cc64f42d-a1a6-4f08-b97b-0c37f877119f" providerId="ADAL" clId="{5F852C96-121E-4103-85D0-117B736085A1}" dt="2025-05-16T05:48:23.531" v="188" actId="47"/>
        <pc:sldMkLst>
          <pc:docMk/>
          <pc:sldMk cId="1499958888" sldId="394"/>
        </pc:sldMkLst>
      </pc:sldChg>
      <pc:sldChg chg="del">
        <pc:chgData name="Mohammed Fasha" userId="cc64f42d-a1a6-4f08-b97b-0c37f877119f" providerId="ADAL" clId="{5F852C96-121E-4103-85D0-117B736085A1}" dt="2025-05-16T05:48:23.531" v="188" actId="47"/>
        <pc:sldMkLst>
          <pc:docMk/>
          <pc:sldMk cId="1852804652" sldId="396"/>
        </pc:sldMkLst>
      </pc:sldChg>
      <pc:sldChg chg="del">
        <pc:chgData name="Mohammed Fasha" userId="cc64f42d-a1a6-4f08-b97b-0c37f877119f" providerId="ADAL" clId="{5F852C96-121E-4103-85D0-117B736085A1}" dt="2025-05-16T05:48:23.531" v="188" actId="47"/>
        <pc:sldMkLst>
          <pc:docMk/>
          <pc:sldMk cId="587789057" sldId="423"/>
        </pc:sldMkLst>
      </pc:sldChg>
      <pc:sldChg chg="del">
        <pc:chgData name="Mohammed Fasha" userId="cc64f42d-a1a6-4f08-b97b-0c37f877119f" providerId="ADAL" clId="{5F852C96-121E-4103-85D0-117B736085A1}" dt="2025-05-16T05:48:23.531" v="188" actId="47"/>
        <pc:sldMkLst>
          <pc:docMk/>
          <pc:sldMk cId="1625691186" sldId="425"/>
        </pc:sldMkLst>
      </pc:sldChg>
      <pc:sldChg chg="del">
        <pc:chgData name="Mohammed Fasha" userId="cc64f42d-a1a6-4f08-b97b-0c37f877119f" providerId="ADAL" clId="{5F852C96-121E-4103-85D0-117B736085A1}" dt="2025-05-16T05:48:23.531" v="188" actId="47"/>
        <pc:sldMkLst>
          <pc:docMk/>
          <pc:sldMk cId="2127906749" sldId="427"/>
        </pc:sldMkLst>
      </pc:sldChg>
      <pc:sldChg chg="del">
        <pc:chgData name="Mohammed Fasha" userId="cc64f42d-a1a6-4f08-b97b-0c37f877119f" providerId="ADAL" clId="{5F852C96-121E-4103-85D0-117B736085A1}" dt="2025-05-16T05:48:23.531" v="188" actId="47"/>
        <pc:sldMkLst>
          <pc:docMk/>
          <pc:sldMk cId="391491219" sldId="428"/>
        </pc:sldMkLst>
      </pc:sldChg>
      <pc:sldChg chg="del">
        <pc:chgData name="Mohammed Fasha" userId="cc64f42d-a1a6-4f08-b97b-0c37f877119f" providerId="ADAL" clId="{5F852C96-121E-4103-85D0-117B736085A1}" dt="2025-05-16T05:48:23.531" v="188" actId="47"/>
        <pc:sldMkLst>
          <pc:docMk/>
          <pc:sldMk cId="3339445507" sldId="430"/>
        </pc:sldMkLst>
      </pc:sldChg>
      <pc:sldChg chg="del">
        <pc:chgData name="Mohammed Fasha" userId="cc64f42d-a1a6-4f08-b97b-0c37f877119f" providerId="ADAL" clId="{5F852C96-121E-4103-85D0-117B736085A1}" dt="2025-05-16T05:48:23.531" v="188" actId="47"/>
        <pc:sldMkLst>
          <pc:docMk/>
          <pc:sldMk cId="3389046835" sldId="431"/>
        </pc:sldMkLst>
      </pc:sldChg>
      <pc:sldChg chg="del">
        <pc:chgData name="Mohammed Fasha" userId="cc64f42d-a1a6-4f08-b97b-0c37f877119f" providerId="ADAL" clId="{5F852C96-121E-4103-85D0-117B736085A1}" dt="2025-05-16T05:48:23.531" v="188" actId="47"/>
        <pc:sldMkLst>
          <pc:docMk/>
          <pc:sldMk cId="2409345436" sldId="437"/>
        </pc:sldMkLst>
      </pc:sldChg>
      <pc:sldChg chg="del">
        <pc:chgData name="Mohammed Fasha" userId="cc64f42d-a1a6-4f08-b97b-0c37f877119f" providerId="ADAL" clId="{5F852C96-121E-4103-85D0-117B736085A1}" dt="2025-05-16T05:48:23.531" v="188" actId="47"/>
        <pc:sldMkLst>
          <pc:docMk/>
          <pc:sldMk cId="2522174856" sldId="438"/>
        </pc:sldMkLst>
      </pc:sldChg>
      <pc:sldChg chg="del">
        <pc:chgData name="Mohammed Fasha" userId="cc64f42d-a1a6-4f08-b97b-0c37f877119f" providerId="ADAL" clId="{5F852C96-121E-4103-85D0-117B736085A1}" dt="2025-05-16T05:48:23.531" v="188" actId="47"/>
        <pc:sldMkLst>
          <pc:docMk/>
          <pc:sldMk cId="2905491798" sldId="440"/>
        </pc:sldMkLst>
      </pc:sldChg>
      <pc:sldChg chg="modSp mod">
        <pc:chgData name="Mohammed Fasha" userId="cc64f42d-a1a6-4f08-b97b-0c37f877119f" providerId="ADAL" clId="{5F852C96-121E-4103-85D0-117B736085A1}" dt="2025-05-16T05:48:08.576" v="187"/>
        <pc:sldMkLst>
          <pc:docMk/>
          <pc:sldMk cId="4208461039" sldId="447"/>
        </pc:sldMkLst>
        <pc:spChg chg="mod">
          <ac:chgData name="Mohammed Fasha" userId="cc64f42d-a1a6-4f08-b97b-0c37f877119f" providerId="ADAL" clId="{5F852C96-121E-4103-85D0-117B736085A1}" dt="2025-05-16T05:48:08.576" v="187"/>
          <ac:spMkLst>
            <pc:docMk/>
            <pc:sldMk cId="4208461039" sldId="447"/>
            <ac:spMk id="3" creationId="{33DCE5F9-E85C-BE5A-115B-5073F877C0A4}"/>
          </ac:spMkLst>
        </pc:spChg>
      </pc:sldChg>
      <pc:sldChg chg="del">
        <pc:chgData name="Mohammed Fasha" userId="cc64f42d-a1a6-4f08-b97b-0c37f877119f" providerId="ADAL" clId="{5F852C96-121E-4103-85D0-117B736085A1}" dt="2025-05-16T05:48:23.531" v="188" actId="47"/>
        <pc:sldMkLst>
          <pc:docMk/>
          <pc:sldMk cId="1210803598" sldId="478"/>
        </pc:sldMkLst>
      </pc:sldChg>
      <pc:sldChg chg="del">
        <pc:chgData name="Mohammed Fasha" userId="cc64f42d-a1a6-4f08-b97b-0c37f877119f" providerId="ADAL" clId="{5F852C96-121E-4103-85D0-117B736085A1}" dt="2025-05-16T05:48:23.531" v="188" actId="47"/>
        <pc:sldMkLst>
          <pc:docMk/>
          <pc:sldMk cId="2726994946" sldId="479"/>
        </pc:sldMkLst>
      </pc:sldChg>
      <pc:sldChg chg="modSp mod">
        <pc:chgData name="Mohammed Fasha" userId="cc64f42d-a1a6-4f08-b97b-0c37f877119f" providerId="ADAL" clId="{5F852C96-121E-4103-85D0-117B736085A1}" dt="2025-05-16T05:46:42.494" v="21" actId="20577"/>
        <pc:sldMkLst>
          <pc:docMk/>
          <pc:sldMk cId="2297456757" sldId="483"/>
        </pc:sldMkLst>
        <pc:spChg chg="mod">
          <ac:chgData name="Mohammed Fasha" userId="cc64f42d-a1a6-4f08-b97b-0c37f877119f" providerId="ADAL" clId="{5F852C96-121E-4103-85D0-117B736085A1}" dt="2025-05-16T05:46:42.494" v="21" actId="20577"/>
          <ac:spMkLst>
            <pc:docMk/>
            <pc:sldMk cId="2297456757" sldId="483"/>
            <ac:spMk id="5" creationId="{89403830-E271-DAA0-8838-E295A84A8B5B}"/>
          </ac:spMkLst>
        </pc:spChg>
      </pc:sldChg>
      <pc:sldChg chg="del">
        <pc:chgData name="Mohammed Fasha" userId="cc64f42d-a1a6-4f08-b97b-0c37f877119f" providerId="ADAL" clId="{5F852C96-121E-4103-85D0-117B736085A1}" dt="2025-05-16T05:48:23.531" v="188" actId="47"/>
        <pc:sldMkLst>
          <pc:docMk/>
          <pc:sldMk cId="941853383" sldId="484"/>
        </pc:sldMkLst>
      </pc:sldChg>
      <pc:sldChg chg="del">
        <pc:chgData name="Mohammed Fasha" userId="cc64f42d-a1a6-4f08-b97b-0c37f877119f" providerId="ADAL" clId="{5F852C96-121E-4103-85D0-117B736085A1}" dt="2025-05-16T05:48:23.531" v="188" actId="47"/>
        <pc:sldMkLst>
          <pc:docMk/>
          <pc:sldMk cId="3354701919" sldId="588"/>
        </pc:sldMkLst>
      </pc:sldChg>
      <pc:sldChg chg="del">
        <pc:chgData name="Mohammed Fasha" userId="cc64f42d-a1a6-4f08-b97b-0c37f877119f" providerId="ADAL" clId="{5F852C96-121E-4103-85D0-117B736085A1}" dt="2025-05-16T05:48:23.531" v="188" actId="47"/>
        <pc:sldMkLst>
          <pc:docMk/>
          <pc:sldMk cId="1772982877" sldId="590"/>
        </pc:sldMkLst>
      </pc:sldChg>
      <pc:sldChg chg="del">
        <pc:chgData name="Mohammed Fasha" userId="cc64f42d-a1a6-4f08-b97b-0c37f877119f" providerId="ADAL" clId="{5F852C96-121E-4103-85D0-117B736085A1}" dt="2025-05-16T05:48:23.531" v="188" actId="47"/>
        <pc:sldMkLst>
          <pc:docMk/>
          <pc:sldMk cId="4013144202" sldId="591"/>
        </pc:sldMkLst>
      </pc:sldChg>
      <pc:sldChg chg="del">
        <pc:chgData name="Mohammed Fasha" userId="cc64f42d-a1a6-4f08-b97b-0c37f877119f" providerId="ADAL" clId="{5F852C96-121E-4103-85D0-117B736085A1}" dt="2025-05-16T05:48:23.531" v="188" actId="47"/>
        <pc:sldMkLst>
          <pc:docMk/>
          <pc:sldMk cId="4204510001" sldId="592"/>
        </pc:sldMkLst>
      </pc:sldChg>
      <pc:sldChg chg="del">
        <pc:chgData name="Mohammed Fasha" userId="cc64f42d-a1a6-4f08-b97b-0c37f877119f" providerId="ADAL" clId="{5F852C96-121E-4103-85D0-117B736085A1}" dt="2025-05-16T05:48:23.531" v="188" actId="47"/>
        <pc:sldMkLst>
          <pc:docMk/>
          <pc:sldMk cId="1503045661" sldId="593"/>
        </pc:sldMkLst>
      </pc:sldChg>
      <pc:sldChg chg="del">
        <pc:chgData name="Mohammed Fasha" userId="cc64f42d-a1a6-4f08-b97b-0c37f877119f" providerId="ADAL" clId="{5F852C96-121E-4103-85D0-117B736085A1}" dt="2025-05-16T05:48:23.531" v="188" actId="47"/>
        <pc:sldMkLst>
          <pc:docMk/>
          <pc:sldMk cId="3474268344" sldId="596"/>
        </pc:sldMkLst>
      </pc:sldChg>
      <pc:sldChg chg="del">
        <pc:chgData name="Mohammed Fasha" userId="cc64f42d-a1a6-4f08-b97b-0c37f877119f" providerId="ADAL" clId="{5F852C96-121E-4103-85D0-117B736085A1}" dt="2025-05-16T05:48:23.531" v="188" actId="47"/>
        <pc:sldMkLst>
          <pc:docMk/>
          <pc:sldMk cId="4148675757" sldId="597"/>
        </pc:sldMkLst>
      </pc:sldChg>
      <pc:sldChg chg="del">
        <pc:chgData name="Mohammed Fasha" userId="cc64f42d-a1a6-4f08-b97b-0c37f877119f" providerId="ADAL" clId="{5F852C96-121E-4103-85D0-117B736085A1}" dt="2025-05-16T05:48:23.531" v="188" actId="47"/>
        <pc:sldMkLst>
          <pc:docMk/>
          <pc:sldMk cId="2392152533" sldId="598"/>
        </pc:sldMkLst>
      </pc:sldChg>
      <pc:sldChg chg="del">
        <pc:chgData name="Mohammed Fasha" userId="cc64f42d-a1a6-4f08-b97b-0c37f877119f" providerId="ADAL" clId="{5F852C96-121E-4103-85D0-117B736085A1}" dt="2025-05-16T05:48:23.531" v="188" actId="47"/>
        <pc:sldMkLst>
          <pc:docMk/>
          <pc:sldMk cId="3480194047" sldId="599"/>
        </pc:sldMkLst>
      </pc:sldChg>
      <pc:sldChg chg="del">
        <pc:chgData name="Mohammed Fasha" userId="cc64f42d-a1a6-4f08-b97b-0c37f877119f" providerId="ADAL" clId="{5F852C96-121E-4103-85D0-117B736085A1}" dt="2025-05-16T05:48:23.531" v="188" actId="47"/>
        <pc:sldMkLst>
          <pc:docMk/>
          <pc:sldMk cId="3146452721" sldId="600"/>
        </pc:sldMkLst>
      </pc:sldChg>
      <pc:sldChg chg="del">
        <pc:chgData name="Mohammed Fasha" userId="cc64f42d-a1a6-4f08-b97b-0c37f877119f" providerId="ADAL" clId="{5F852C96-121E-4103-85D0-117B736085A1}" dt="2025-05-16T05:48:23.531" v="188" actId="47"/>
        <pc:sldMkLst>
          <pc:docMk/>
          <pc:sldMk cId="3244541146" sldId="601"/>
        </pc:sldMkLst>
      </pc:sldChg>
      <pc:sldChg chg="del">
        <pc:chgData name="Mohammed Fasha" userId="cc64f42d-a1a6-4f08-b97b-0c37f877119f" providerId="ADAL" clId="{5F852C96-121E-4103-85D0-117B736085A1}" dt="2025-05-16T05:48:23.531" v="188" actId="47"/>
        <pc:sldMkLst>
          <pc:docMk/>
          <pc:sldMk cId="659845697" sldId="602"/>
        </pc:sldMkLst>
      </pc:sldChg>
      <pc:sldChg chg="del">
        <pc:chgData name="Mohammed Fasha" userId="cc64f42d-a1a6-4f08-b97b-0c37f877119f" providerId="ADAL" clId="{5F852C96-121E-4103-85D0-117B736085A1}" dt="2025-05-16T05:48:23.531" v="188" actId="47"/>
        <pc:sldMkLst>
          <pc:docMk/>
          <pc:sldMk cId="2464207026" sldId="603"/>
        </pc:sldMkLst>
      </pc:sldChg>
      <pc:sldChg chg="del">
        <pc:chgData name="Mohammed Fasha" userId="cc64f42d-a1a6-4f08-b97b-0c37f877119f" providerId="ADAL" clId="{5F852C96-121E-4103-85D0-117B736085A1}" dt="2025-05-16T05:48:23.531" v="188" actId="47"/>
        <pc:sldMkLst>
          <pc:docMk/>
          <pc:sldMk cId="4283467534" sldId="604"/>
        </pc:sldMkLst>
      </pc:sldChg>
      <pc:sldChg chg="del">
        <pc:chgData name="Mohammed Fasha" userId="cc64f42d-a1a6-4f08-b97b-0c37f877119f" providerId="ADAL" clId="{5F852C96-121E-4103-85D0-117B736085A1}" dt="2025-05-16T05:48:23.531" v="188" actId="47"/>
        <pc:sldMkLst>
          <pc:docMk/>
          <pc:sldMk cId="2877973779" sldId="607"/>
        </pc:sldMkLst>
      </pc:sldChg>
      <pc:sldChg chg="del">
        <pc:chgData name="Mohammed Fasha" userId="cc64f42d-a1a6-4f08-b97b-0c37f877119f" providerId="ADAL" clId="{5F852C96-121E-4103-85D0-117B736085A1}" dt="2025-05-16T05:48:23.531" v="188" actId="47"/>
        <pc:sldMkLst>
          <pc:docMk/>
          <pc:sldMk cId="21481256" sldId="611"/>
        </pc:sldMkLst>
      </pc:sldChg>
      <pc:sldChg chg="del">
        <pc:chgData name="Mohammed Fasha" userId="cc64f42d-a1a6-4f08-b97b-0c37f877119f" providerId="ADAL" clId="{5F852C96-121E-4103-85D0-117B736085A1}" dt="2025-05-16T05:48:23.531" v="188" actId="47"/>
        <pc:sldMkLst>
          <pc:docMk/>
          <pc:sldMk cId="4040874025" sldId="612"/>
        </pc:sldMkLst>
      </pc:sldChg>
      <pc:sldChg chg="del">
        <pc:chgData name="Mohammed Fasha" userId="cc64f42d-a1a6-4f08-b97b-0c37f877119f" providerId="ADAL" clId="{5F852C96-121E-4103-85D0-117B736085A1}" dt="2025-05-16T05:48:23.531" v="188" actId="47"/>
        <pc:sldMkLst>
          <pc:docMk/>
          <pc:sldMk cId="399592497" sldId="613"/>
        </pc:sldMkLst>
      </pc:sldChg>
      <pc:sldChg chg="del">
        <pc:chgData name="Mohammed Fasha" userId="cc64f42d-a1a6-4f08-b97b-0c37f877119f" providerId="ADAL" clId="{5F852C96-121E-4103-85D0-117B736085A1}" dt="2025-05-16T05:48:23.531" v="188" actId="47"/>
        <pc:sldMkLst>
          <pc:docMk/>
          <pc:sldMk cId="3535314737" sldId="614"/>
        </pc:sldMkLst>
      </pc:sldChg>
      <pc:sldChg chg="del">
        <pc:chgData name="Mohammed Fasha" userId="cc64f42d-a1a6-4f08-b97b-0c37f877119f" providerId="ADAL" clId="{5F852C96-121E-4103-85D0-117B736085A1}" dt="2025-05-16T05:48:23.531" v="188" actId="47"/>
        <pc:sldMkLst>
          <pc:docMk/>
          <pc:sldMk cId="627652750" sldId="615"/>
        </pc:sldMkLst>
      </pc:sldChg>
      <pc:sldChg chg="del">
        <pc:chgData name="Mohammed Fasha" userId="cc64f42d-a1a6-4f08-b97b-0c37f877119f" providerId="ADAL" clId="{5F852C96-121E-4103-85D0-117B736085A1}" dt="2025-05-16T05:48:23.531" v="188" actId="47"/>
        <pc:sldMkLst>
          <pc:docMk/>
          <pc:sldMk cId="423212581" sldId="616"/>
        </pc:sldMkLst>
      </pc:sldChg>
      <pc:sldChg chg="del">
        <pc:chgData name="Mohammed Fasha" userId="cc64f42d-a1a6-4f08-b97b-0c37f877119f" providerId="ADAL" clId="{5F852C96-121E-4103-85D0-117B736085A1}" dt="2025-05-16T05:48:23.531" v="188" actId="47"/>
        <pc:sldMkLst>
          <pc:docMk/>
          <pc:sldMk cId="3329135496" sldId="617"/>
        </pc:sldMkLst>
      </pc:sldChg>
      <pc:sldChg chg="del">
        <pc:chgData name="Mohammed Fasha" userId="cc64f42d-a1a6-4f08-b97b-0c37f877119f" providerId="ADAL" clId="{5F852C96-121E-4103-85D0-117B736085A1}" dt="2025-05-16T05:48:23.531" v="188" actId="47"/>
        <pc:sldMkLst>
          <pc:docMk/>
          <pc:sldMk cId="1380276415" sldId="618"/>
        </pc:sldMkLst>
      </pc:sldChg>
      <pc:sldChg chg="del">
        <pc:chgData name="Mohammed Fasha" userId="cc64f42d-a1a6-4f08-b97b-0c37f877119f" providerId="ADAL" clId="{5F852C96-121E-4103-85D0-117B736085A1}" dt="2025-05-16T05:48:23.531" v="188" actId="47"/>
        <pc:sldMkLst>
          <pc:docMk/>
          <pc:sldMk cId="4269580935" sldId="634"/>
        </pc:sldMkLst>
      </pc:sldChg>
      <pc:sldChg chg="del">
        <pc:chgData name="Mohammed Fasha" userId="cc64f42d-a1a6-4f08-b97b-0c37f877119f" providerId="ADAL" clId="{5F852C96-121E-4103-85D0-117B736085A1}" dt="2025-05-16T05:48:23.531" v="188" actId="47"/>
        <pc:sldMkLst>
          <pc:docMk/>
          <pc:sldMk cId="1135291414" sldId="643"/>
        </pc:sldMkLst>
      </pc:sldChg>
      <pc:sldChg chg="del">
        <pc:chgData name="Mohammed Fasha" userId="cc64f42d-a1a6-4f08-b97b-0c37f877119f" providerId="ADAL" clId="{5F852C96-121E-4103-85D0-117B736085A1}" dt="2025-05-16T05:48:23.531" v="188" actId="47"/>
        <pc:sldMkLst>
          <pc:docMk/>
          <pc:sldMk cId="1030124935" sldId="644"/>
        </pc:sldMkLst>
      </pc:sldChg>
      <pc:sldChg chg="del">
        <pc:chgData name="Mohammed Fasha" userId="cc64f42d-a1a6-4f08-b97b-0c37f877119f" providerId="ADAL" clId="{5F852C96-121E-4103-85D0-117B736085A1}" dt="2025-05-16T05:51:20.859" v="189" actId="47"/>
        <pc:sldMkLst>
          <pc:docMk/>
          <pc:sldMk cId="691538069" sldId="662"/>
        </pc:sldMkLst>
      </pc:sldChg>
      <pc:sldChg chg="del">
        <pc:chgData name="Mohammed Fasha" userId="cc64f42d-a1a6-4f08-b97b-0c37f877119f" providerId="ADAL" clId="{5F852C96-121E-4103-85D0-117B736085A1}" dt="2025-05-16T05:51:20.859" v="189" actId="47"/>
        <pc:sldMkLst>
          <pc:docMk/>
          <pc:sldMk cId="3980180774" sldId="663"/>
        </pc:sldMkLst>
      </pc:sldChg>
      <pc:sldChg chg="del">
        <pc:chgData name="Mohammed Fasha" userId="cc64f42d-a1a6-4f08-b97b-0c37f877119f" providerId="ADAL" clId="{5F852C96-121E-4103-85D0-117B736085A1}" dt="2025-05-16T05:51:20.859" v="189" actId="47"/>
        <pc:sldMkLst>
          <pc:docMk/>
          <pc:sldMk cId="1728680596" sldId="664"/>
        </pc:sldMkLst>
      </pc:sldChg>
      <pc:sldChg chg="del">
        <pc:chgData name="Mohammed Fasha" userId="cc64f42d-a1a6-4f08-b97b-0c37f877119f" providerId="ADAL" clId="{5F852C96-121E-4103-85D0-117B736085A1}" dt="2025-05-16T05:51:20.859" v="189" actId="47"/>
        <pc:sldMkLst>
          <pc:docMk/>
          <pc:sldMk cId="148099094" sldId="665"/>
        </pc:sldMkLst>
      </pc:sldChg>
      <pc:sldChg chg="del">
        <pc:chgData name="Mohammed Fasha" userId="cc64f42d-a1a6-4f08-b97b-0c37f877119f" providerId="ADAL" clId="{5F852C96-121E-4103-85D0-117B736085A1}" dt="2025-05-16T05:51:20.859" v="189" actId="47"/>
        <pc:sldMkLst>
          <pc:docMk/>
          <pc:sldMk cId="1577854815" sldId="676"/>
        </pc:sldMkLst>
      </pc:sldChg>
      <pc:sldChg chg="del">
        <pc:chgData name="Mohammed Fasha" userId="cc64f42d-a1a6-4f08-b97b-0c37f877119f" providerId="ADAL" clId="{5F852C96-121E-4103-85D0-117B736085A1}" dt="2025-05-16T05:51:20.859" v="189" actId="47"/>
        <pc:sldMkLst>
          <pc:docMk/>
          <pc:sldMk cId="139882925" sldId="677"/>
        </pc:sldMkLst>
      </pc:sldChg>
      <pc:sldChg chg="del">
        <pc:chgData name="Mohammed Fasha" userId="cc64f42d-a1a6-4f08-b97b-0c37f877119f" providerId="ADAL" clId="{5F852C96-121E-4103-85D0-117B736085A1}" dt="2025-05-16T05:51:20.859" v="189" actId="47"/>
        <pc:sldMkLst>
          <pc:docMk/>
          <pc:sldMk cId="4146654093" sldId="678"/>
        </pc:sldMkLst>
      </pc:sldChg>
      <pc:sldChg chg="del">
        <pc:chgData name="Mohammed Fasha" userId="cc64f42d-a1a6-4f08-b97b-0c37f877119f" providerId="ADAL" clId="{5F852C96-121E-4103-85D0-117B736085A1}" dt="2025-05-16T05:51:20.859" v="189" actId="47"/>
        <pc:sldMkLst>
          <pc:docMk/>
          <pc:sldMk cId="3454522070" sldId="679"/>
        </pc:sldMkLst>
      </pc:sldChg>
      <pc:sldChg chg="del">
        <pc:chgData name="Mohammed Fasha" userId="cc64f42d-a1a6-4f08-b97b-0c37f877119f" providerId="ADAL" clId="{5F852C96-121E-4103-85D0-117B736085A1}" dt="2025-05-16T05:51:20.859" v="189" actId="47"/>
        <pc:sldMkLst>
          <pc:docMk/>
          <pc:sldMk cId="2856814121" sldId="681"/>
        </pc:sldMkLst>
      </pc:sldChg>
      <pc:sldChg chg="del">
        <pc:chgData name="Mohammed Fasha" userId="cc64f42d-a1a6-4f08-b97b-0c37f877119f" providerId="ADAL" clId="{5F852C96-121E-4103-85D0-117B736085A1}" dt="2025-05-16T05:48:23.531" v="188" actId="47"/>
        <pc:sldMkLst>
          <pc:docMk/>
          <pc:sldMk cId="3424197979" sldId="694"/>
        </pc:sldMkLst>
      </pc:sldChg>
      <pc:sldChg chg="del">
        <pc:chgData name="Mohammed Fasha" userId="cc64f42d-a1a6-4f08-b97b-0c37f877119f" providerId="ADAL" clId="{5F852C96-121E-4103-85D0-117B736085A1}" dt="2025-05-16T05:51:20.859" v="189" actId="47"/>
        <pc:sldMkLst>
          <pc:docMk/>
          <pc:sldMk cId="265576630" sldId="698"/>
        </pc:sldMkLst>
      </pc:sldChg>
      <pc:sldChg chg="del">
        <pc:chgData name="Mohammed Fasha" userId="cc64f42d-a1a6-4f08-b97b-0c37f877119f" providerId="ADAL" clId="{5F852C96-121E-4103-85D0-117B736085A1}" dt="2025-05-16T05:51:20.859" v="189" actId="47"/>
        <pc:sldMkLst>
          <pc:docMk/>
          <pc:sldMk cId="4247717824" sldId="700"/>
        </pc:sldMkLst>
      </pc:sldChg>
      <pc:sldChg chg="del">
        <pc:chgData name="Mohammed Fasha" userId="cc64f42d-a1a6-4f08-b97b-0c37f877119f" providerId="ADAL" clId="{5F852C96-121E-4103-85D0-117B736085A1}" dt="2025-05-16T05:48:23.531" v="188" actId="47"/>
        <pc:sldMkLst>
          <pc:docMk/>
          <pc:sldMk cId="1972625976" sldId="707"/>
        </pc:sldMkLst>
      </pc:sldChg>
      <pc:sldChg chg="del">
        <pc:chgData name="Mohammed Fasha" userId="cc64f42d-a1a6-4f08-b97b-0c37f877119f" providerId="ADAL" clId="{5F852C96-121E-4103-85D0-117B736085A1}" dt="2025-05-16T05:48:23.531" v="188" actId="47"/>
        <pc:sldMkLst>
          <pc:docMk/>
          <pc:sldMk cId="32004852" sldId="708"/>
        </pc:sldMkLst>
      </pc:sldChg>
      <pc:sldChg chg="del">
        <pc:chgData name="Mohammed Fasha" userId="cc64f42d-a1a6-4f08-b97b-0c37f877119f" providerId="ADAL" clId="{5F852C96-121E-4103-85D0-117B736085A1}" dt="2025-05-16T05:51:20.859" v="189" actId="47"/>
        <pc:sldMkLst>
          <pc:docMk/>
          <pc:sldMk cId="67871309" sldId="709"/>
        </pc:sldMkLst>
      </pc:sldChg>
      <pc:sldChg chg="del">
        <pc:chgData name="Mohammed Fasha" userId="cc64f42d-a1a6-4f08-b97b-0c37f877119f" providerId="ADAL" clId="{5F852C96-121E-4103-85D0-117B736085A1}" dt="2025-05-16T05:51:20.859" v="189" actId="47"/>
        <pc:sldMkLst>
          <pc:docMk/>
          <pc:sldMk cId="4114896152" sldId="710"/>
        </pc:sldMkLst>
      </pc:sldChg>
      <pc:sldChg chg="del">
        <pc:chgData name="Mohammed Fasha" userId="cc64f42d-a1a6-4f08-b97b-0c37f877119f" providerId="ADAL" clId="{5F852C96-121E-4103-85D0-117B736085A1}" dt="2025-05-16T05:51:20.859" v="189" actId="47"/>
        <pc:sldMkLst>
          <pc:docMk/>
          <pc:sldMk cId="3794385322" sldId="711"/>
        </pc:sldMkLst>
      </pc:sldChg>
      <pc:sldChg chg="del">
        <pc:chgData name="Mohammed Fasha" userId="cc64f42d-a1a6-4f08-b97b-0c37f877119f" providerId="ADAL" clId="{5F852C96-121E-4103-85D0-117B736085A1}" dt="2025-05-16T05:51:20.859" v="189" actId="47"/>
        <pc:sldMkLst>
          <pc:docMk/>
          <pc:sldMk cId="3701206727" sldId="712"/>
        </pc:sldMkLst>
      </pc:sldChg>
      <pc:sldChg chg="del">
        <pc:chgData name="Mohammed Fasha" userId="cc64f42d-a1a6-4f08-b97b-0c37f877119f" providerId="ADAL" clId="{5F852C96-121E-4103-85D0-117B736085A1}" dt="2025-05-16T05:51:20.859" v="189" actId="47"/>
        <pc:sldMkLst>
          <pc:docMk/>
          <pc:sldMk cId="1499972066" sldId="713"/>
        </pc:sldMkLst>
      </pc:sldChg>
      <pc:sldChg chg="del">
        <pc:chgData name="Mohammed Fasha" userId="cc64f42d-a1a6-4f08-b97b-0c37f877119f" providerId="ADAL" clId="{5F852C96-121E-4103-85D0-117B736085A1}" dt="2025-05-16T05:51:20.859" v="189" actId="47"/>
        <pc:sldMkLst>
          <pc:docMk/>
          <pc:sldMk cId="1270641495" sldId="714"/>
        </pc:sldMkLst>
      </pc:sldChg>
      <pc:sldChg chg="del">
        <pc:chgData name="Mohammed Fasha" userId="cc64f42d-a1a6-4f08-b97b-0c37f877119f" providerId="ADAL" clId="{5F852C96-121E-4103-85D0-117B736085A1}" dt="2025-05-16T05:51:20.859" v="189" actId="47"/>
        <pc:sldMkLst>
          <pc:docMk/>
          <pc:sldMk cId="1096386322" sldId="715"/>
        </pc:sldMkLst>
      </pc:sldChg>
      <pc:sldChg chg="del">
        <pc:chgData name="Mohammed Fasha" userId="cc64f42d-a1a6-4f08-b97b-0c37f877119f" providerId="ADAL" clId="{5F852C96-121E-4103-85D0-117B736085A1}" dt="2025-05-16T05:51:20.859" v="189" actId="47"/>
        <pc:sldMkLst>
          <pc:docMk/>
          <pc:sldMk cId="1784058309" sldId="716"/>
        </pc:sldMkLst>
      </pc:sldChg>
      <pc:sldChg chg="del">
        <pc:chgData name="Mohammed Fasha" userId="cc64f42d-a1a6-4f08-b97b-0c37f877119f" providerId="ADAL" clId="{5F852C96-121E-4103-85D0-117B736085A1}" dt="2025-05-16T05:51:20.859" v="189" actId="47"/>
        <pc:sldMkLst>
          <pc:docMk/>
          <pc:sldMk cId="3139017106" sldId="717"/>
        </pc:sldMkLst>
      </pc:sldChg>
      <pc:sldChg chg="del">
        <pc:chgData name="Mohammed Fasha" userId="cc64f42d-a1a6-4f08-b97b-0c37f877119f" providerId="ADAL" clId="{5F852C96-121E-4103-85D0-117B736085A1}" dt="2025-05-16T05:51:20.859" v="189" actId="47"/>
        <pc:sldMkLst>
          <pc:docMk/>
          <pc:sldMk cId="3043812923" sldId="718"/>
        </pc:sldMkLst>
      </pc:sldChg>
      <pc:sldChg chg="del">
        <pc:chgData name="Mohammed Fasha" userId="cc64f42d-a1a6-4f08-b97b-0c37f877119f" providerId="ADAL" clId="{5F852C96-121E-4103-85D0-117B736085A1}" dt="2025-05-16T05:48:23.531" v="188" actId="47"/>
        <pc:sldMkLst>
          <pc:docMk/>
          <pc:sldMk cId="555545871" sldId="719"/>
        </pc:sldMkLst>
      </pc:sldChg>
      <pc:sldChg chg="del">
        <pc:chgData name="Mohammed Fasha" userId="cc64f42d-a1a6-4f08-b97b-0c37f877119f" providerId="ADAL" clId="{5F852C96-121E-4103-85D0-117B736085A1}" dt="2025-05-16T05:48:23.531" v="188" actId="47"/>
        <pc:sldMkLst>
          <pc:docMk/>
          <pc:sldMk cId="3150550060" sldId="720"/>
        </pc:sldMkLst>
      </pc:sldChg>
      <pc:sldChg chg="del">
        <pc:chgData name="Mohammed Fasha" userId="cc64f42d-a1a6-4f08-b97b-0c37f877119f" providerId="ADAL" clId="{5F852C96-121E-4103-85D0-117B736085A1}" dt="2025-05-16T05:48:23.531" v="188" actId="47"/>
        <pc:sldMkLst>
          <pc:docMk/>
          <pc:sldMk cId="1915229598" sldId="721"/>
        </pc:sldMkLst>
      </pc:sldChg>
      <pc:sldChg chg="del">
        <pc:chgData name="Mohammed Fasha" userId="cc64f42d-a1a6-4f08-b97b-0c37f877119f" providerId="ADAL" clId="{5F852C96-121E-4103-85D0-117B736085A1}" dt="2025-05-16T05:48:23.531" v="188" actId="47"/>
        <pc:sldMkLst>
          <pc:docMk/>
          <pc:sldMk cId="3417524918" sldId="722"/>
        </pc:sldMkLst>
      </pc:sldChg>
      <pc:sldChg chg="del">
        <pc:chgData name="Mohammed Fasha" userId="cc64f42d-a1a6-4f08-b97b-0c37f877119f" providerId="ADAL" clId="{5F852C96-121E-4103-85D0-117B736085A1}" dt="2025-05-16T05:48:23.531" v="188" actId="47"/>
        <pc:sldMkLst>
          <pc:docMk/>
          <pc:sldMk cId="218477773" sldId="723"/>
        </pc:sldMkLst>
      </pc:sldChg>
      <pc:sldChg chg="del">
        <pc:chgData name="Mohammed Fasha" userId="cc64f42d-a1a6-4f08-b97b-0c37f877119f" providerId="ADAL" clId="{5F852C96-121E-4103-85D0-117B736085A1}" dt="2025-05-16T05:48:23.531" v="188" actId="47"/>
        <pc:sldMkLst>
          <pc:docMk/>
          <pc:sldMk cId="3056700689" sldId="724"/>
        </pc:sldMkLst>
      </pc:sldChg>
      <pc:sldChg chg="del">
        <pc:chgData name="Mohammed Fasha" userId="cc64f42d-a1a6-4f08-b97b-0c37f877119f" providerId="ADAL" clId="{5F852C96-121E-4103-85D0-117B736085A1}" dt="2025-05-16T05:48:23.531" v="188" actId="47"/>
        <pc:sldMkLst>
          <pc:docMk/>
          <pc:sldMk cId="2280465272" sldId="725"/>
        </pc:sldMkLst>
      </pc:sldChg>
    </pc:docChg>
  </pc:docChgLst>
  <pc:docChgLst>
    <pc:chgData name="Mohammed Fasha" userId="cc64f42d-a1a6-4f08-b97b-0c37f877119f" providerId="ADAL" clId="{25C05559-E4DC-4EE1-91BC-1444D09EE869}"/>
    <pc:docChg chg="undo custSel addSld delSld modSld sldOrd">
      <pc:chgData name="Mohammed Fasha" userId="cc64f42d-a1a6-4f08-b97b-0c37f877119f" providerId="ADAL" clId="{25C05559-E4DC-4EE1-91BC-1444D09EE869}" dt="2025-04-30T07:51:18.812" v="264" actId="47"/>
      <pc:docMkLst>
        <pc:docMk/>
      </pc:docMkLst>
      <pc:sldChg chg="modSp mod">
        <pc:chgData name="Mohammed Fasha" userId="cc64f42d-a1a6-4f08-b97b-0c37f877119f" providerId="ADAL" clId="{25C05559-E4DC-4EE1-91BC-1444D09EE869}" dt="2025-04-16T06:14:55.232" v="16" actId="1076"/>
        <pc:sldMkLst>
          <pc:docMk/>
          <pc:sldMk cId="1499958888" sldId="394"/>
        </pc:sldMkLst>
      </pc:sldChg>
      <pc:sldChg chg="delSp modSp mod delAnim">
        <pc:chgData name="Mohammed Fasha" userId="cc64f42d-a1a6-4f08-b97b-0c37f877119f" providerId="ADAL" clId="{25C05559-E4DC-4EE1-91BC-1444D09EE869}" dt="2025-04-16T06:43:36.666" v="20" actId="478"/>
        <pc:sldMkLst>
          <pc:docMk/>
          <pc:sldMk cId="2905491798" sldId="440"/>
        </pc:sldMkLst>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sldChg>
      <pc:sldChg chg="modSp mod">
        <pc:chgData name="Mohammed Fasha" userId="cc64f42d-a1a6-4f08-b97b-0c37f877119f" providerId="ADAL" clId="{25C05559-E4DC-4EE1-91BC-1444D09EE869}" dt="2025-04-16T06:49:10.468" v="48" actId="404"/>
        <pc:sldMkLst>
          <pc:docMk/>
          <pc:sldMk cId="2856814121" sldId="681"/>
        </pc:sldMkLst>
      </pc:sldChg>
      <pc:sldChg chg="modSp mod">
        <pc:chgData name="Mohammed Fasha" userId="cc64f42d-a1a6-4f08-b97b-0c37f877119f" providerId="ADAL" clId="{25C05559-E4DC-4EE1-91BC-1444D09EE869}" dt="2025-04-16T06:48:55.287" v="46" actId="27636"/>
        <pc:sldMkLst>
          <pc:docMk/>
          <pc:sldMk cId="265576630" sldId="698"/>
        </pc:sldMkLst>
      </pc:sldChg>
      <pc:sldChg chg="modSp">
        <pc:chgData name="Mohammed Fasha" userId="cc64f42d-a1a6-4f08-b97b-0c37f877119f" providerId="ADAL" clId="{25C05559-E4DC-4EE1-91BC-1444D09EE869}" dt="2025-04-16T06:48:02.658" v="36" actId="1076"/>
        <pc:sldMkLst>
          <pc:docMk/>
          <pc:sldMk cId="3085160177" sldId="704"/>
        </pc:sldMkLst>
      </pc:sldChg>
      <pc:sldChg chg="modSp mod">
        <pc:chgData name="Mohammed Fasha" userId="cc64f42d-a1a6-4f08-b97b-0c37f877119f" providerId="ADAL" clId="{25C05559-E4DC-4EE1-91BC-1444D09EE869}" dt="2025-04-16T06:47:18.630" v="34" actId="1076"/>
        <pc:sldMkLst>
          <pc:docMk/>
          <pc:sldMk cId="32004852" sldId="708"/>
        </pc:sldMkLst>
      </pc:sldChg>
      <pc:sldChg chg="addSp delSp modSp mod">
        <pc:chgData name="Mohammed Fasha" userId="cc64f42d-a1a6-4f08-b97b-0c37f877119f" providerId="ADAL" clId="{25C05559-E4DC-4EE1-91BC-1444D09EE869}" dt="2025-04-16T06:14:10.424" v="11" actId="167"/>
        <pc:sldMkLst>
          <pc:docMk/>
          <pc:sldMk cId="3150550060" sldId="720"/>
        </pc:sldMkLst>
      </pc:sldChg>
      <pc:sldChg chg="addSp modSp new mod">
        <pc:chgData name="Mohammed Fasha" userId="cc64f42d-a1a6-4f08-b97b-0c37f877119f" providerId="ADAL" clId="{25C05559-E4DC-4EE1-91BC-1444D09EE869}" dt="2025-04-30T06:40:50.224" v="212" actId="6549"/>
        <pc:sldMkLst>
          <pc:docMk/>
          <pc:sldMk cId="666527140" sldId="725"/>
        </pc:sldMkLst>
      </pc:sldChg>
      <pc:sldChg chg="addSp delSp modSp new mod">
        <pc:chgData name="Mohammed Fasha" userId="cc64f42d-a1a6-4f08-b97b-0c37f877119f" providerId="ADAL" clId="{25C05559-E4DC-4EE1-91BC-1444D09EE869}" dt="2025-04-30T07:05:36.135" v="263" actId="122"/>
        <pc:sldMkLst>
          <pc:docMk/>
          <pc:sldMk cId="3660604927" sldId="726"/>
        </pc:sldMkLst>
        <pc:spChg chg="mod">
          <ac:chgData name="Mohammed Fasha" userId="cc64f42d-a1a6-4f08-b97b-0c37f877119f" providerId="ADAL" clId="{25C05559-E4DC-4EE1-91BC-1444D09EE869}" dt="2025-04-30T06:47:45.454" v="240"/>
          <ac:spMkLst>
            <pc:docMk/>
            <pc:sldMk cId="3660604927" sldId="726"/>
            <ac:spMk id="2" creationId="{B373AE91-A898-4A65-8CE7-1BCEF61FAF12}"/>
          </ac:spMkLst>
        </pc:spChg>
        <pc:graphicFrameChg chg="add mod modGraphic">
          <ac:chgData name="Mohammed Fasha" userId="cc64f42d-a1a6-4f08-b97b-0c37f877119f" providerId="ADAL" clId="{25C05559-E4DC-4EE1-91BC-1444D09EE869}" dt="2025-04-30T07:05:02.236" v="255" actId="1076"/>
          <ac:graphicFrameMkLst>
            <pc:docMk/>
            <pc:sldMk cId="3660604927" sldId="726"/>
            <ac:graphicFrameMk id="4" creationId="{30CD29F8-8A06-4B73-886B-A33FC88F5E67}"/>
          </ac:graphicFrameMkLst>
        </pc:graphicFrameChg>
        <pc:graphicFrameChg chg="add mod modGraphic">
          <ac:chgData name="Mohammed Fasha" userId="cc64f42d-a1a6-4f08-b97b-0c37f877119f" providerId="ADAL" clId="{25C05559-E4DC-4EE1-91BC-1444D09EE869}" dt="2025-04-30T07:05:36.135" v="263" actId="122"/>
          <ac:graphicFrameMkLst>
            <pc:docMk/>
            <pc:sldMk cId="3660604927" sldId="726"/>
            <ac:graphicFrameMk id="5" creationId="{32A7FF02-00A7-4B96-B478-CB5CE55DC7ED}"/>
          </ac:graphicFrameMkLst>
        </pc:graphicFrameChg>
      </pc:sldChg>
      <pc:sldChg chg="add del">
        <pc:chgData name="Mohammed Fasha" userId="cc64f42d-a1a6-4f08-b97b-0c37f877119f" providerId="ADAL" clId="{25C05559-E4DC-4EE1-91BC-1444D09EE869}" dt="2025-04-30T07:51:18.812" v="264" actId="47"/>
        <pc:sldMkLst>
          <pc:docMk/>
          <pc:sldMk cId="2399550384" sldId="727"/>
        </pc:sldMkLst>
      </pc:sldChg>
      <pc:sldChg chg="modSp add mod ord">
        <pc:chgData name="Mohammed Fasha" userId="cc64f42d-a1a6-4f08-b97b-0c37f877119f" providerId="ADAL" clId="{25C05559-E4DC-4EE1-91BC-1444D09EE869}" dt="2025-04-30T06:47:23.280" v="238" actId="20577"/>
        <pc:sldMkLst>
          <pc:docMk/>
          <pc:sldMk cId="4051640529" sldId="728"/>
        </pc:sldMkLst>
        <pc:spChg chg="mod">
          <ac:chgData name="Mohammed Fasha" userId="cc64f42d-a1a6-4f08-b97b-0c37f877119f" providerId="ADAL" clId="{25C05559-E4DC-4EE1-91BC-1444D09EE869}" dt="2025-04-30T06:47:23.280" v="238" actId="20577"/>
          <ac:spMkLst>
            <pc:docMk/>
            <pc:sldMk cId="4051640529" sldId="728"/>
            <ac:spMk id="2" creationId="{B373AE91-A898-4A65-8CE7-1BCEF61FAF12}"/>
          </ac:spMkLst>
        </pc:spChg>
        <pc:spChg chg="mod">
          <ac:chgData name="Mohammed Fasha" userId="cc64f42d-a1a6-4f08-b97b-0c37f877119f" providerId="ADAL" clId="{25C05559-E4DC-4EE1-91BC-1444D09EE869}" dt="2025-04-30T06:47:03.692" v="218" actId="21"/>
          <ac:spMkLst>
            <pc:docMk/>
            <pc:sldMk cId="4051640529" sldId="728"/>
            <ac:spMk id="3" creationId="{4B0719DE-43B0-4F5B-8823-6AC5927AA0BE}"/>
          </ac:spMkLst>
        </pc:spChg>
      </pc:sldChg>
    </pc:docChg>
  </pc:docChgLst>
  <pc:docChgLst>
    <pc:chgData name="Mohammed Fasha" userId="cc64f42d-a1a6-4f08-b97b-0c37f877119f" providerId="ADAL" clId="{14ACCC35-F7A7-4452-B69F-AC22B42CD6C7}"/>
    <pc:docChg chg="undo redo custSel addSld delSld modSld sldOrd">
      <pc:chgData name="Mohammed Fasha" userId="cc64f42d-a1a6-4f08-b97b-0c37f877119f" providerId="ADAL" clId="{14ACCC35-F7A7-4452-B69F-AC22B42CD6C7}" dt="2025-05-14T04:05:24.135" v="3186" actId="404"/>
      <pc:docMkLst>
        <pc:docMk/>
      </pc:docMkLst>
      <pc:sldChg chg="modSp mod">
        <pc:chgData name="Mohammed Fasha" userId="cc64f42d-a1a6-4f08-b97b-0c37f877119f" providerId="ADAL" clId="{14ACCC35-F7A7-4452-B69F-AC22B42CD6C7}" dt="2025-05-13T19:14:24.907" v="350" actId="27636"/>
        <pc:sldMkLst>
          <pc:docMk/>
          <pc:sldMk cId="3241718055" sldId="344"/>
        </pc:sldMkLst>
      </pc:sldChg>
      <pc:sldChg chg="modSp del mod">
        <pc:chgData name="Mohammed Fasha" userId="cc64f42d-a1a6-4f08-b97b-0c37f877119f" providerId="ADAL" clId="{14ACCC35-F7A7-4452-B69F-AC22B42CD6C7}" dt="2025-05-12T04:02:16.160" v="236" actId="2696"/>
        <pc:sldMkLst>
          <pc:docMk/>
          <pc:sldMk cId="1586650541" sldId="510"/>
        </pc:sldMkLst>
      </pc:sldChg>
      <pc:sldChg chg="modSp add mod ord">
        <pc:chgData name="Mohammed Fasha" userId="cc64f42d-a1a6-4f08-b97b-0c37f877119f" providerId="ADAL" clId="{14ACCC35-F7A7-4452-B69F-AC22B42CD6C7}" dt="2025-05-14T02:44:02.767" v="841" actId="27636"/>
        <pc:sldMkLst>
          <pc:docMk/>
          <pc:sldMk cId="3210666677" sldId="510"/>
        </pc:sldMkLst>
        <pc:spChg chg="mod">
          <ac:chgData name="Mohammed Fasha" userId="cc64f42d-a1a6-4f08-b97b-0c37f877119f" providerId="ADAL" clId="{14ACCC35-F7A7-4452-B69F-AC22B42CD6C7}" dt="2025-05-14T02:44:02.767" v="841" actId="27636"/>
          <ac:spMkLst>
            <pc:docMk/>
            <pc:sldMk cId="3210666677" sldId="510"/>
            <ac:spMk id="3" creationId="{6EDD0B1B-7CF7-24F1-1F17-D2E72F19BC91}"/>
          </ac:spMkLst>
        </pc:spChg>
      </pc:sldChg>
      <pc:sldChg chg="modSp del mod">
        <pc:chgData name="Mohammed Fasha" userId="cc64f42d-a1a6-4f08-b97b-0c37f877119f" providerId="ADAL" clId="{14ACCC35-F7A7-4452-B69F-AC22B42CD6C7}" dt="2025-05-14T02:50:03.569" v="966" actId="47"/>
        <pc:sldMkLst>
          <pc:docMk/>
          <pc:sldMk cId="2281221656" sldId="527"/>
        </pc:sldMkLst>
      </pc:sldChg>
      <pc:sldChg chg="del">
        <pc:chgData name="Mohammed Fasha" userId="cc64f42d-a1a6-4f08-b97b-0c37f877119f" providerId="ADAL" clId="{14ACCC35-F7A7-4452-B69F-AC22B42CD6C7}" dt="2025-05-14T02:52:14.808" v="1172" actId="2696"/>
        <pc:sldMkLst>
          <pc:docMk/>
          <pc:sldMk cId="246730148" sldId="619"/>
        </pc:sldMkLst>
      </pc:sldChg>
      <pc:sldChg chg="add">
        <pc:chgData name="Mohammed Fasha" userId="cc64f42d-a1a6-4f08-b97b-0c37f877119f" providerId="ADAL" clId="{14ACCC35-F7A7-4452-B69F-AC22B42CD6C7}" dt="2025-05-14T02:53:02.719" v="1211"/>
        <pc:sldMkLst>
          <pc:docMk/>
          <pc:sldMk cId="2418256299" sldId="619"/>
        </pc:sldMkLst>
      </pc:sldChg>
      <pc:sldChg chg="modSp mod">
        <pc:chgData name="Mohammed Fasha" userId="cc64f42d-a1a6-4f08-b97b-0c37f877119f" providerId="ADAL" clId="{14ACCC35-F7A7-4452-B69F-AC22B42CD6C7}" dt="2025-05-14T02:47:26.826" v="884" actId="404"/>
        <pc:sldMkLst>
          <pc:docMk/>
          <pc:sldMk cId="839834530" sldId="621"/>
        </pc:sldMkLst>
        <pc:spChg chg="mod">
          <ac:chgData name="Mohammed Fasha" userId="cc64f42d-a1a6-4f08-b97b-0c37f877119f" providerId="ADAL" clId="{14ACCC35-F7A7-4452-B69F-AC22B42CD6C7}" dt="2025-05-14T02:47:21.569" v="883" actId="27636"/>
          <ac:spMkLst>
            <pc:docMk/>
            <pc:sldMk cId="839834530" sldId="621"/>
            <ac:spMk id="5" creationId="{B0E4E7FB-FE36-574B-CC96-F23D77146AFF}"/>
          </ac:spMkLst>
        </pc:spChg>
        <pc:spChg chg="mod">
          <ac:chgData name="Mohammed Fasha" userId="cc64f42d-a1a6-4f08-b97b-0c37f877119f" providerId="ADAL" clId="{14ACCC35-F7A7-4452-B69F-AC22B42CD6C7}" dt="2025-05-14T02:47:26.826" v="884" actId="404"/>
          <ac:spMkLst>
            <pc:docMk/>
            <pc:sldMk cId="839834530" sldId="621"/>
            <ac:spMk id="6" creationId="{B5B5FFA3-967E-D8E4-1A11-89C495E60B52}"/>
          </ac:spMkLst>
        </pc:spChg>
      </pc:sldChg>
      <pc:sldChg chg="addSp delSp modSp mod">
        <pc:chgData name="Mohammed Fasha" userId="cc64f42d-a1a6-4f08-b97b-0c37f877119f" providerId="ADAL" clId="{14ACCC35-F7A7-4452-B69F-AC22B42CD6C7}" dt="2025-05-14T04:00:43.614" v="3142" actId="6549"/>
        <pc:sldMkLst>
          <pc:docMk/>
          <pc:sldMk cId="2145145303" sldId="640"/>
        </pc:sldMkLst>
        <pc:spChg chg="mod">
          <ac:chgData name="Mohammed Fasha" userId="cc64f42d-a1a6-4f08-b97b-0c37f877119f" providerId="ADAL" clId="{14ACCC35-F7A7-4452-B69F-AC22B42CD6C7}" dt="2025-05-14T03:48:18.131" v="2767" actId="20577"/>
          <ac:spMkLst>
            <pc:docMk/>
            <pc:sldMk cId="2145145303" sldId="640"/>
            <ac:spMk id="2" creationId="{03337988-1CEF-7433-FC86-399083FA8054}"/>
          </ac:spMkLst>
        </pc:spChg>
        <pc:spChg chg="mod">
          <ac:chgData name="Mohammed Fasha" userId="cc64f42d-a1a6-4f08-b97b-0c37f877119f" providerId="ADAL" clId="{14ACCC35-F7A7-4452-B69F-AC22B42CD6C7}" dt="2025-05-14T04:00:43.614" v="3142" actId="6549"/>
          <ac:spMkLst>
            <pc:docMk/>
            <pc:sldMk cId="2145145303" sldId="640"/>
            <ac:spMk id="3" creationId="{938F5367-50C3-011F-FEFD-E15CCCE9BD76}"/>
          </ac:spMkLst>
        </pc:spChg>
        <pc:picChg chg="add mod">
          <ac:chgData name="Mohammed Fasha" userId="cc64f42d-a1a6-4f08-b97b-0c37f877119f" providerId="ADAL" clId="{14ACCC35-F7A7-4452-B69F-AC22B42CD6C7}" dt="2025-05-14T03:48:15.030" v="2762" actId="1076"/>
          <ac:picMkLst>
            <pc:docMk/>
            <pc:sldMk cId="2145145303" sldId="640"/>
            <ac:picMk id="4" creationId="{BD5A6DB8-4C58-065D-AEDE-40A014290512}"/>
          </ac:picMkLst>
        </pc:picChg>
      </pc:sldChg>
      <pc:sldChg chg="addSp modSp mod">
        <pc:chgData name="Mohammed Fasha" userId="cc64f42d-a1a6-4f08-b97b-0c37f877119f" providerId="ADAL" clId="{14ACCC35-F7A7-4452-B69F-AC22B42CD6C7}" dt="2025-05-12T03:34:10.523" v="74" actId="27636"/>
        <pc:sldMkLst>
          <pc:docMk/>
          <pc:sldMk cId="2168644593" sldId="645"/>
        </pc:sldMkLst>
        <pc:spChg chg="mod">
          <ac:chgData name="Mohammed Fasha" userId="cc64f42d-a1a6-4f08-b97b-0c37f877119f" providerId="ADAL" clId="{14ACCC35-F7A7-4452-B69F-AC22B42CD6C7}" dt="2025-05-12T03:34:10.523" v="74" actId="27636"/>
          <ac:spMkLst>
            <pc:docMk/>
            <pc:sldMk cId="2168644593" sldId="645"/>
            <ac:spMk id="3" creationId="{8D6F1AE2-578A-55A8-ABC5-9D64444A3D98}"/>
          </ac:spMkLst>
        </pc:spChg>
      </pc:sldChg>
      <pc:sldChg chg="modSp add del mod">
        <pc:chgData name="Mohammed Fasha" userId="cc64f42d-a1a6-4f08-b97b-0c37f877119f" providerId="ADAL" clId="{14ACCC35-F7A7-4452-B69F-AC22B42CD6C7}" dt="2025-05-14T03:00:42.111" v="1831" actId="207"/>
        <pc:sldMkLst>
          <pc:docMk/>
          <pc:sldMk cId="2743226386" sldId="646"/>
        </pc:sldMkLst>
        <pc:spChg chg="mod">
          <ac:chgData name="Mohammed Fasha" userId="cc64f42d-a1a6-4f08-b97b-0c37f877119f" providerId="ADAL" clId="{14ACCC35-F7A7-4452-B69F-AC22B42CD6C7}" dt="2025-05-14T02:59:42.655" v="1810" actId="20577"/>
          <ac:spMkLst>
            <pc:docMk/>
            <pc:sldMk cId="2743226386" sldId="646"/>
            <ac:spMk id="2" creationId="{D5367D14-6CB8-1246-DB7E-6CDD674FABFB}"/>
          </ac:spMkLst>
        </pc:spChg>
        <pc:spChg chg="mod">
          <ac:chgData name="Mohammed Fasha" userId="cc64f42d-a1a6-4f08-b97b-0c37f877119f" providerId="ADAL" clId="{14ACCC35-F7A7-4452-B69F-AC22B42CD6C7}" dt="2025-05-14T03:00:42.111" v="1831" actId="207"/>
          <ac:spMkLst>
            <pc:docMk/>
            <pc:sldMk cId="2743226386" sldId="646"/>
            <ac:spMk id="3" creationId="{2B2834A9-8F4D-F5AC-514B-0A5634637DB5}"/>
          </ac:spMkLst>
        </pc:spChg>
      </pc:sldChg>
      <pc:sldChg chg="add del ord">
        <pc:chgData name="Mohammed Fasha" userId="cc64f42d-a1a6-4f08-b97b-0c37f877119f" providerId="ADAL" clId="{14ACCC35-F7A7-4452-B69F-AC22B42CD6C7}" dt="2025-05-14T02:47:00.312" v="881" actId="47"/>
        <pc:sldMkLst>
          <pc:docMk/>
          <pc:sldMk cId="3221213094" sldId="646"/>
        </pc:sldMkLst>
      </pc:sldChg>
      <pc:sldChg chg="modSp mod">
        <pc:chgData name="Mohammed Fasha" userId="cc64f42d-a1a6-4f08-b97b-0c37f877119f" providerId="ADAL" clId="{14ACCC35-F7A7-4452-B69F-AC22B42CD6C7}" dt="2025-05-14T02:53:19.417" v="1221" actId="20577"/>
        <pc:sldMkLst>
          <pc:docMk/>
          <pc:sldMk cId="202107314" sldId="647"/>
        </pc:sldMkLst>
        <pc:spChg chg="mod">
          <ac:chgData name="Mohammed Fasha" userId="cc64f42d-a1a6-4f08-b97b-0c37f877119f" providerId="ADAL" clId="{14ACCC35-F7A7-4452-B69F-AC22B42CD6C7}" dt="2025-05-14T02:53:19.417" v="1221" actId="20577"/>
          <ac:spMkLst>
            <pc:docMk/>
            <pc:sldMk cId="202107314" sldId="647"/>
            <ac:spMk id="4" creationId="{614D3388-9637-C201-21C4-6668D7194B7A}"/>
          </ac:spMkLst>
        </pc:spChg>
      </pc:sldChg>
      <pc:sldChg chg="modSp del mod">
        <pc:chgData name="Mohammed Fasha" userId="cc64f42d-a1a6-4f08-b97b-0c37f877119f" providerId="ADAL" clId="{14ACCC35-F7A7-4452-B69F-AC22B42CD6C7}" dt="2025-05-14T03:29:49.698" v="2350" actId="47"/>
        <pc:sldMkLst>
          <pc:docMk/>
          <pc:sldMk cId="3085160177" sldId="704"/>
        </pc:sldMkLst>
      </pc:sldChg>
      <pc:sldChg chg="del">
        <pc:chgData name="Mohammed Fasha" userId="cc64f42d-a1a6-4f08-b97b-0c37f877119f" providerId="ADAL" clId="{14ACCC35-F7A7-4452-B69F-AC22B42CD6C7}" dt="2025-05-14T03:29:55.258" v="2351" actId="47"/>
        <pc:sldMkLst>
          <pc:docMk/>
          <pc:sldMk cId="1862107672" sldId="705"/>
        </pc:sldMkLst>
      </pc:sldChg>
      <pc:sldChg chg="del">
        <pc:chgData name="Mohammed Fasha" userId="cc64f42d-a1a6-4f08-b97b-0c37f877119f" providerId="ADAL" clId="{14ACCC35-F7A7-4452-B69F-AC22B42CD6C7}" dt="2025-05-14T03:29:58.534" v="2352" actId="47"/>
        <pc:sldMkLst>
          <pc:docMk/>
          <pc:sldMk cId="1142780366" sldId="706"/>
        </pc:sldMkLst>
      </pc:sldChg>
      <pc:sldChg chg="addSp delSp modSp new mod modClrScheme chgLayout">
        <pc:chgData name="Mohammed Fasha" userId="cc64f42d-a1a6-4f08-b97b-0c37f877119f" providerId="ADAL" clId="{14ACCC35-F7A7-4452-B69F-AC22B42CD6C7}" dt="2025-05-14T02:41:41.009" v="709" actId="207"/>
        <pc:sldMkLst>
          <pc:docMk/>
          <pc:sldMk cId="1832683320" sldId="729"/>
        </pc:sldMkLst>
        <pc:spChg chg="add mod ord">
          <ac:chgData name="Mohammed Fasha" userId="cc64f42d-a1a6-4f08-b97b-0c37f877119f" providerId="ADAL" clId="{14ACCC35-F7A7-4452-B69F-AC22B42CD6C7}" dt="2025-05-14T02:40:28.228" v="700" actId="20577"/>
          <ac:spMkLst>
            <pc:docMk/>
            <pc:sldMk cId="1832683320" sldId="729"/>
            <ac:spMk id="5" creationId="{B2C92D6B-91A3-188B-6644-8BF6C41A6419}"/>
          </ac:spMkLst>
        </pc:spChg>
        <pc:graphicFrameChg chg="add mod ord modGraphic">
          <ac:chgData name="Mohammed Fasha" userId="cc64f42d-a1a6-4f08-b97b-0c37f877119f" providerId="ADAL" clId="{14ACCC35-F7A7-4452-B69F-AC22B42CD6C7}" dt="2025-05-14T02:41:41.009" v="709" actId="207"/>
          <ac:graphicFrameMkLst>
            <pc:docMk/>
            <pc:sldMk cId="1832683320" sldId="729"/>
            <ac:graphicFrameMk id="4" creationId="{A0821584-FD2E-349F-CE91-66ED52AD8AB1}"/>
          </ac:graphicFrameMkLst>
        </pc:graphicFrameChg>
      </pc:sldChg>
      <pc:sldChg chg="addSp modSp add mod modClrScheme chgLayout">
        <pc:chgData name="Mohammed Fasha" userId="cc64f42d-a1a6-4f08-b97b-0c37f877119f" providerId="ADAL" clId="{14ACCC35-F7A7-4452-B69F-AC22B42CD6C7}" dt="2025-05-14T02:41:28.564" v="706" actId="207"/>
        <pc:sldMkLst>
          <pc:docMk/>
          <pc:sldMk cId="1491057620" sldId="730"/>
        </pc:sldMkLst>
        <pc:spChg chg="add mod ord">
          <ac:chgData name="Mohammed Fasha" userId="cc64f42d-a1a6-4f08-b97b-0c37f877119f" providerId="ADAL" clId="{14ACCC35-F7A7-4452-B69F-AC22B42CD6C7}" dt="2025-05-12T03:37:48.510" v="115" actId="700"/>
          <ac:spMkLst>
            <pc:docMk/>
            <pc:sldMk cId="1491057620" sldId="730"/>
            <ac:spMk id="2" creationId="{4BD1D562-E273-18DE-1DA1-E4048EEFA8D7}"/>
          </ac:spMkLst>
        </pc:spChg>
        <pc:graphicFrameChg chg="mod ord modGraphic">
          <ac:chgData name="Mohammed Fasha" userId="cc64f42d-a1a6-4f08-b97b-0c37f877119f" providerId="ADAL" clId="{14ACCC35-F7A7-4452-B69F-AC22B42CD6C7}" dt="2025-05-14T02:41:28.564" v="706" actId="207"/>
          <ac:graphicFrameMkLst>
            <pc:docMk/>
            <pc:sldMk cId="1491057620" sldId="730"/>
            <ac:graphicFrameMk id="4" creationId="{68BF3D5E-B53A-A024-F190-02F12EC6DF2D}"/>
          </ac:graphicFrameMkLst>
        </pc:graphicFrameChg>
      </pc:sldChg>
      <pc:sldChg chg="modSp new mod">
        <pc:chgData name="Mohammed Fasha" userId="cc64f42d-a1a6-4f08-b97b-0c37f877119f" providerId="ADAL" clId="{14ACCC35-F7A7-4452-B69F-AC22B42CD6C7}" dt="2025-05-14T02:43:05.431" v="813" actId="33524"/>
        <pc:sldMkLst>
          <pc:docMk/>
          <pc:sldMk cId="2580821937" sldId="731"/>
        </pc:sldMkLst>
        <pc:spChg chg="mod">
          <ac:chgData name="Mohammed Fasha" userId="cc64f42d-a1a6-4f08-b97b-0c37f877119f" providerId="ADAL" clId="{14ACCC35-F7A7-4452-B69F-AC22B42CD6C7}" dt="2025-05-12T03:42:20.380" v="155" actId="113"/>
          <ac:spMkLst>
            <pc:docMk/>
            <pc:sldMk cId="2580821937" sldId="731"/>
            <ac:spMk id="2" creationId="{A86B0B3D-603B-083B-DDE3-3128A6EB540A}"/>
          </ac:spMkLst>
        </pc:spChg>
        <pc:spChg chg="mod">
          <ac:chgData name="Mohammed Fasha" userId="cc64f42d-a1a6-4f08-b97b-0c37f877119f" providerId="ADAL" clId="{14ACCC35-F7A7-4452-B69F-AC22B42CD6C7}" dt="2025-05-14T02:43:05.431" v="813" actId="33524"/>
          <ac:spMkLst>
            <pc:docMk/>
            <pc:sldMk cId="2580821937" sldId="731"/>
            <ac:spMk id="3" creationId="{0000BF45-F03F-9DA7-1D2D-DA7AAE61742B}"/>
          </ac:spMkLst>
        </pc:spChg>
      </pc:sldChg>
      <pc:sldChg chg="modSp new mod ord">
        <pc:chgData name="Mohammed Fasha" userId="cc64f42d-a1a6-4f08-b97b-0c37f877119f" providerId="ADAL" clId="{14ACCC35-F7A7-4452-B69F-AC22B42CD6C7}" dt="2025-05-14T02:58:30.774" v="1725" actId="20577"/>
        <pc:sldMkLst>
          <pc:docMk/>
          <pc:sldMk cId="925319726" sldId="732"/>
        </pc:sldMkLst>
        <pc:spChg chg="mod">
          <ac:chgData name="Mohammed Fasha" userId="cc64f42d-a1a6-4f08-b97b-0c37f877119f" providerId="ADAL" clId="{14ACCC35-F7A7-4452-B69F-AC22B42CD6C7}" dt="2025-05-12T03:47:23.436" v="177" actId="113"/>
          <ac:spMkLst>
            <pc:docMk/>
            <pc:sldMk cId="925319726" sldId="732"/>
            <ac:spMk id="2" creationId="{A5484865-1F16-13E0-9E1E-5A3270CD9A12}"/>
          </ac:spMkLst>
        </pc:spChg>
        <pc:spChg chg="mod">
          <ac:chgData name="Mohammed Fasha" userId="cc64f42d-a1a6-4f08-b97b-0c37f877119f" providerId="ADAL" clId="{14ACCC35-F7A7-4452-B69F-AC22B42CD6C7}" dt="2025-05-14T02:58:30.774" v="1725" actId="20577"/>
          <ac:spMkLst>
            <pc:docMk/>
            <pc:sldMk cId="925319726" sldId="732"/>
            <ac:spMk id="3" creationId="{824BB7CB-062A-9641-CFB7-FD4BA5E16D55}"/>
          </ac:spMkLst>
        </pc:spChg>
      </pc:sldChg>
      <pc:sldChg chg="addSp modSp new mod">
        <pc:chgData name="Mohammed Fasha" userId="cc64f42d-a1a6-4f08-b97b-0c37f877119f" providerId="ADAL" clId="{14ACCC35-F7A7-4452-B69F-AC22B42CD6C7}" dt="2025-05-14T02:51:13.561" v="1042" actId="20577"/>
        <pc:sldMkLst>
          <pc:docMk/>
          <pc:sldMk cId="1031230170" sldId="733"/>
        </pc:sldMkLst>
        <pc:spChg chg="mod">
          <ac:chgData name="Mohammed Fasha" userId="cc64f42d-a1a6-4f08-b97b-0c37f877119f" providerId="ADAL" clId="{14ACCC35-F7A7-4452-B69F-AC22B42CD6C7}" dt="2025-05-12T03:48:32.779" v="185" actId="113"/>
          <ac:spMkLst>
            <pc:docMk/>
            <pc:sldMk cId="1031230170" sldId="733"/>
            <ac:spMk id="2" creationId="{9F9FCBE1-5973-D531-61D6-ED5DC3BF9290}"/>
          </ac:spMkLst>
        </pc:spChg>
        <pc:spChg chg="mod">
          <ac:chgData name="Mohammed Fasha" userId="cc64f42d-a1a6-4f08-b97b-0c37f877119f" providerId="ADAL" clId="{14ACCC35-F7A7-4452-B69F-AC22B42CD6C7}" dt="2025-05-14T02:44:43.013" v="853" actId="113"/>
          <ac:spMkLst>
            <pc:docMk/>
            <pc:sldMk cId="1031230170" sldId="733"/>
            <ac:spMk id="3" creationId="{EA8F50AE-67A3-4DA6-636F-307131D9883A}"/>
          </ac:spMkLst>
        </pc:spChg>
        <pc:spChg chg="add mod">
          <ac:chgData name="Mohammed Fasha" userId="cc64f42d-a1a6-4f08-b97b-0c37f877119f" providerId="ADAL" clId="{14ACCC35-F7A7-4452-B69F-AC22B42CD6C7}" dt="2025-05-14T02:51:13.561" v="1042" actId="20577"/>
          <ac:spMkLst>
            <pc:docMk/>
            <pc:sldMk cId="1031230170" sldId="733"/>
            <ac:spMk id="5" creationId="{7FA96860-97C8-BED7-3F67-76A89E8DD9DD}"/>
          </ac:spMkLst>
        </pc:spChg>
      </pc:sldChg>
      <pc:sldChg chg="addSp delSp modSp new del mod">
        <pc:chgData name="Mohammed Fasha" userId="cc64f42d-a1a6-4f08-b97b-0c37f877119f" providerId="ADAL" clId="{14ACCC35-F7A7-4452-B69F-AC22B42CD6C7}" dt="2025-05-14T02:45:57.349" v="873" actId="2696"/>
        <pc:sldMkLst>
          <pc:docMk/>
          <pc:sldMk cId="2190123891" sldId="734"/>
        </pc:sldMkLst>
      </pc:sldChg>
      <pc:sldChg chg="addSp delSp modSp add mod">
        <pc:chgData name="Mohammed Fasha" userId="cc64f42d-a1a6-4f08-b97b-0c37f877119f" providerId="ADAL" clId="{14ACCC35-F7A7-4452-B69F-AC22B42CD6C7}" dt="2025-05-14T03:41:34.069" v="2680" actId="6549"/>
        <pc:sldMkLst>
          <pc:docMk/>
          <pc:sldMk cId="4156722170" sldId="734"/>
        </pc:sldMkLst>
        <pc:spChg chg="mod">
          <ac:chgData name="Mohammed Fasha" userId="cc64f42d-a1a6-4f08-b97b-0c37f877119f" providerId="ADAL" clId="{14ACCC35-F7A7-4452-B69F-AC22B42CD6C7}" dt="2025-05-14T02:53:35.218" v="1248" actId="20577"/>
          <ac:spMkLst>
            <pc:docMk/>
            <pc:sldMk cId="4156722170" sldId="734"/>
            <ac:spMk id="2" creationId="{5FA21066-5E1F-D590-1DD5-281CA7392180}"/>
          </ac:spMkLst>
        </pc:spChg>
        <pc:spChg chg="mod">
          <ac:chgData name="Mohammed Fasha" userId="cc64f42d-a1a6-4f08-b97b-0c37f877119f" providerId="ADAL" clId="{14ACCC35-F7A7-4452-B69F-AC22B42CD6C7}" dt="2025-05-14T03:41:34.069" v="2680" actId="6549"/>
          <ac:spMkLst>
            <pc:docMk/>
            <pc:sldMk cId="4156722170" sldId="734"/>
            <ac:spMk id="3" creationId="{9EEBD037-F2F6-F6F8-7D39-D7CB11DF5590}"/>
          </ac:spMkLst>
        </pc:spChg>
        <pc:picChg chg="mod">
          <ac:chgData name="Mohammed Fasha" userId="cc64f42d-a1a6-4f08-b97b-0c37f877119f" providerId="ADAL" clId="{14ACCC35-F7A7-4452-B69F-AC22B42CD6C7}" dt="2025-05-14T03:34:04.477" v="2499" actId="1076"/>
          <ac:picMkLst>
            <pc:docMk/>
            <pc:sldMk cId="4156722170" sldId="734"/>
            <ac:picMk id="4" creationId="{71455631-8EF4-33F7-4366-5B1E5917DFB6}"/>
          </ac:picMkLst>
        </pc:picChg>
        <pc:picChg chg="add mod">
          <ac:chgData name="Mohammed Fasha" userId="cc64f42d-a1a6-4f08-b97b-0c37f877119f" providerId="ADAL" clId="{14ACCC35-F7A7-4452-B69F-AC22B42CD6C7}" dt="2025-05-14T03:34:52.958" v="2569" actId="1076"/>
          <ac:picMkLst>
            <pc:docMk/>
            <pc:sldMk cId="4156722170" sldId="734"/>
            <ac:picMk id="8" creationId="{4BA077B4-C5EF-4AD0-1470-1D186FFA39C8}"/>
          </ac:picMkLst>
        </pc:picChg>
      </pc:sldChg>
      <pc:sldChg chg="addSp delSp modSp new del mod">
        <pc:chgData name="Mohammed Fasha" userId="cc64f42d-a1a6-4f08-b97b-0c37f877119f" providerId="ADAL" clId="{14ACCC35-F7A7-4452-B69F-AC22B42CD6C7}" dt="2025-05-14T02:45:57.349" v="873" actId="2696"/>
        <pc:sldMkLst>
          <pc:docMk/>
          <pc:sldMk cId="668424697" sldId="735"/>
        </pc:sldMkLst>
      </pc:sldChg>
      <pc:sldChg chg="modSp add del mod">
        <pc:chgData name="Mohammed Fasha" userId="cc64f42d-a1a6-4f08-b97b-0c37f877119f" providerId="ADAL" clId="{14ACCC35-F7A7-4452-B69F-AC22B42CD6C7}" dt="2025-05-14T03:28:47.284" v="2295" actId="47"/>
        <pc:sldMkLst>
          <pc:docMk/>
          <pc:sldMk cId="1674188304" sldId="735"/>
        </pc:sldMkLst>
      </pc:sldChg>
      <pc:sldChg chg="add del">
        <pc:chgData name="Mohammed Fasha" userId="cc64f42d-a1a6-4f08-b97b-0c37f877119f" providerId="ADAL" clId="{14ACCC35-F7A7-4452-B69F-AC22B42CD6C7}" dt="2025-05-12T04:06:44.679" v="300"/>
        <pc:sldMkLst>
          <pc:docMk/>
          <pc:sldMk cId="820945054" sldId="736"/>
        </pc:sldMkLst>
      </pc:sldChg>
      <pc:sldChg chg="add del">
        <pc:chgData name="Mohammed Fasha" userId="cc64f42d-a1a6-4f08-b97b-0c37f877119f" providerId="ADAL" clId="{14ACCC35-F7A7-4452-B69F-AC22B42CD6C7}" dt="2025-05-12T04:07:05.957" v="323"/>
        <pc:sldMkLst>
          <pc:docMk/>
          <pc:sldMk cId="1357317930" sldId="736"/>
        </pc:sldMkLst>
      </pc:sldChg>
      <pc:sldChg chg="addSp delSp modSp new del mod">
        <pc:chgData name="Mohammed Fasha" userId="cc64f42d-a1a6-4f08-b97b-0c37f877119f" providerId="ADAL" clId="{14ACCC35-F7A7-4452-B69F-AC22B42CD6C7}" dt="2025-05-13T19:34:39.130" v="647" actId="47"/>
        <pc:sldMkLst>
          <pc:docMk/>
          <pc:sldMk cId="1528466207" sldId="736"/>
        </pc:sldMkLst>
      </pc:sldChg>
      <pc:sldChg chg="add del">
        <pc:chgData name="Mohammed Fasha" userId="cc64f42d-a1a6-4f08-b97b-0c37f877119f" providerId="ADAL" clId="{14ACCC35-F7A7-4452-B69F-AC22B42CD6C7}" dt="2025-05-12T04:06:36.375" v="284"/>
        <pc:sldMkLst>
          <pc:docMk/>
          <pc:sldMk cId="3969638788" sldId="736"/>
        </pc:sldMkLst>
      </pc:sldChg>
      <pc:sldChg chg="addSp delSp modSp add mod">
        <pc:chgData name="Mohammed Fasha" userId="cc64f42d-a1a6-4f08-b97b-0c37f877119f" providerId="ADAL" clId="{14ACCC35-F7A7-4452-B69F-AC22B42CD6C7}" dt="2025-05-14T03:51:16.468" v="2915" actId="20577"/>
        <pc:sldMkLst>
          <pc:docMk/>
          <pc:sldMk cId="648783378" sldId="737"/>
        </pc:sldMkLst>
        <pc:spChg chg="mod">
          <ac:chgData name="Mohammed Fasha" userId="cc64f42d-a1a6-4f08-b97b-0c37f877119f" providerId="ADAL" clId="{14ACCC35-F7A7-4452-B69F-AC22B42CD6C7}" dt="2025-05-14T03:08:10.849" v="1940" actId="20577"/>
          <ac:spMkLst>
            <pc:docMk/>
            <pc:sldMk cId="648783378" sldId="737"/>
            <ac:spMk id="2" creationId="{39A6C842-CEF3-295F-73F8-395A55C54678}"/>
          </ac:spMkLst>
        </pc:spChg>
        <pc:spChg chg="add mod topLvl">
          <ac:chgData name="Mohammed Fasha" userId="cc64f42d-a1a6-4f08-b97b-0c37f877119f" providerId="ADAL" clId="{14ACCC35-F7A7-4452-B69F-AC22B42CD6C7}" dt="2025-05-14T03:17:01.627" v="2067" actId="164"/>
          <ac:spMkLst>
            <pc:docMk/>
            <pc:sldMk cId="648783378" sldId="737"/>
            <ac:spMk id="3" creationId="{75C23307-CA91-098C-D5F9-8933E22DCF1D}"/>
          </ac:spMkLst>
        </pc:spChg>
        <pc:spChg chg="add mod topLvl">
          <ac:chgData name="Mohammed Fasha" userId="cc64f42d-a1a6-4f08-b97b-0c37f877119f" providerId="ADAL" clId="{14ACCC35-F7A7-4452-B69F-AC22B42CD6C7}" dt="2025-05-14T03:17:01.627" v="2067" actId="164"/>
          <ac:spMkLst>
            <pc:docMk/>
            <pc:sldMk cId="648783378" sldId="737"/>
            <ac:spMk id="5" creationId="{11821B90-5966-04E3-DC43-07DFC6E21955}"/>
          </ac:spMkLst>
        </pc:spChg>
        <pc:spChg chg="add mod">
          <ac:chgData name="Mohammed Fasha" userId="cc64f42d-a1a6-4f08-b97b-0c37f877119f" providerId="ADAL" clId="{14ACCC35-F7A7-4452-B69F-AC22B42CD6C7}" dt="2025-05-14T03:51:16.468" v="2915" actId="20577"/>
          <ac:spMkLst>
            <pc:docMk/>
            <pc:sldMk cId="648783378" sldId="737"/>
            <ac:spMk id="9" creationId="{1E87B0E8-372B-D99B-A5C2-1AE3EF70CDA4}"/>
          </ac:spMkLst>
        </pc:spChg>
        <pc:grpChg chg="add mod">
          <ac:chgData name="Mohammed Fasha" userId="cc64f42d-a1a6-4f08-b97b-0c37f877119f" providerId="ADAL" clId="{14ACCC35-F7A7-4452-B69F-AC22B42CD6C7}" dt="2025-05-14T03:26:29.779" v="2210" actId="14100"/>
          <ac:grpSpMkLst>
            <pc:docMk/>
            <pc:sldMk cId="648783378" sldId="737"/>
            <ac:grpSpMk id="13" creationId="{72C7410F-33BA-AABF-7902-2E4639B9A93D}"/>
          </ac:grpSpMkLst>
        </pc:grpChg>
        <pc:graphicFrameChg chg="mod modGraphic">
          <ac:chgData name="Mohammed Fasha" userId="cc64f42d-a1a6-4f08-b97b-0c37f877119f" providerId="ADAL" clId="{14ACCC35-F7A7-4452-B69F-AC22B42CD6C7}" dt="2025-05-14T03:33:47.272" v="2495" actId="1076"/>
          <ac:graphicFrameMkLst>
            <pc:docMk/>
            <pc:sldMk cId="648783378" sldId="737"/>
            <ac:graphicFrameMk id="4" creationId="{086C2520-EBA7-E03F-B30E-32D2B7759012}"/>
          </ac:graphicFrameMkLst>
        </pc:graphicFrameChg>
        <pc:graphicFrameChg chg="add mod">
          <ac:chgData name="Mohammed Fasha" userId="cc64f42d-a1a6-4f08-b97b-0c37f877119f" providerId="ADAL" clId="{14ACCC35-F7A7-4452-B69F-AC22B42CD6C7}" dt="2025-05-14T03:33:56.820" v="2497" actId="1076"/>
          <ac:graphicFrameMkLst>
            <pc:docMk/>
            <pc:sldMk cId="648783378" sldId="737"/>
            <ac:graphicFrameMk id="19" creationId="{BC2FF4AD-2AE4-43F5-1DDD-E51064F914E9}"/>
          </ac:graphicFrameMkLst>
        </pc:graphicFrameChg>
        <pc:picChg chg="add mod ord">
          <ac:chgData name="Mohammed Fasha" userId="cc64f42d-a1a6-4f08-b97b-0c37f877119f" providerId="ADAL" clId="{14ACCC35-F7A7-4452-B69F-AC22B42CD6C7}" dt="2025-05-14T03:17:01.627" v="2067" actId="164"/>
          <ac:picMkLst>
            <pc:docMk/>
            <pc:sldMk cId="648783378" sldId="737"/>
            <ac:picMk id="12" creationId="{EE51A42D-B5E2-896D-AFA8-37D7EBE6BF50}"/>
          </ac:picMkLst>
        </pc:picChg>
      </pc:sldChg>
      <pc:sldChg chg="addSp delSp modSp new del mod">
        <pc:chgData name="Mohammed Fasha" userId="cc64f42d-a1a6-4f08-b97b-0c37f877119f" providerId="ADAL" clId="{14ACCC35-F7A7-4452-B69F-AC22B42CD6C7}" dt="2025-05-14T02:45:57.349" v="873" actId="2696"/>
        <pc:sldMkLst>
          <pc:docMk/>
          <pc:sldMk cId="656330896" sldId="737"/>
        </pc:sldMkLst>
      </pc:sldChg>
      <pc:sldChg chg="add del">
        <pc:chgData name="Mohammed Fasha" userId="cc64f42d-a1a6-4f08-b97b-0c37f877119f" providerId="ADAL" clId="{14ACCC35-F7A7-4452-B69F-AC22B42CD6C7}" dt="2025-05-14T03:23:14.867" v="2095" actId="47"/>
        <pc:sldMkLst>
          <pc:docMk/>
          <pc:sldMk cId="1195926383" sldId="738"/>
        </pc:sldMkLst>
      </pc:sldChg>
      <pc:sldChg chg="add del">
        <pc:chgData name="Mohammed Fasha" userId="cc64f42d-a1a6-4f08-b97b-0c37f877119f" providerId="ADAL" clId="{14ACCC35-F7A7-4452-B69F-AC22B42CD6C7}" dt="2025-05-14T02:45:57.349" v="873" actId="2696"/>
        <pc:sldMkLst>
          <pc:docMk/>
          <pc:sldMk cId="4141680910" sldId="738"/>
        </pc:sldMkLst>
      </pc:sldChg>
      <pc:sldChg chg="add del">
        <pc:chgData name="Mohammed Fasha" userId="cc64f42d-a1a6-4f08-b97b-0c37f877119f" providerId="ADAL" clId="{14ACCC35-F7A7-4452-B69F-AC22B42CD6C7}" dt="2025-05-14T03:23:16.702" v="2096" actId="47"/>
        <pc:sldMkLst>
          <pc:docMk/>
          <pc:sldMk cId="308342725" sldId="739"/>
        </pc:sldMkLst>
      </pc:sldChg>
      <pc:sldChg chg="add del">
        <pc:chgData name="Mohammed Fasha" userId="cc64f42d-a1a6-4f08-b97b-0c37f877119f" providerId="ADAL" clId="{14ACCC35-F7A7-4452-B69F-AC22B42CD6C7}" dt="2025-05-14T02:45:57.349" v="873" actId="2696"/>
        <pc:sldMkLst>
          <pc:docMk/>
          <pc:sldMk cId="3470038616" sldId="739"/>
        </pc:sldMkLst>
      </pc:sldChg>
      <pc:sldChg chg="addSp delSp modSp new mod modClrScheme chgLayout">
        <pc:chgData name="Mohammed Fasha" userId="cc64f42d-a1a6-4f08-b97b-0c37f877119f" providerId="ADAL" clId="{14ACCC35-F7A7-4452-B69F-AC22B42CD6C7}" dt="2025-05-14T02:52:45.789" v="1210" actId="20577"/>
        <pc:sldMkLst>
          <pc:docMk/>
          <pc:sldMk cId="71253327" sldId="740"/>
        </pc:sldMkLst>
        <pc:spChg chg="add mod ord">
          <ac:chgData name="Mohammed Fasha" userId="cc64f42d-a1a6-4f08-b97b-0c37f877119f" providerId="ADAL" clId="{14ACCC35-F7A7-4452-B69F-AC22B42CD6C7}" dt="2025-05-14T02:52:11.571" v="1171" actId="404"/>
          <ac:spMkLst>
            <pc:docMk/>
            <pc:sldMk cId="71253327" sldId="740"/>
            <ac:spMk id="4" creationId="{AEDA0647-7AF5-DD7C-1B41-78F17A7E63A1}"/>
          </ac:spMkLst>
        </pc:spChg>
        <pc:spChg chg="add mod ord">
          <ac:chgData name="Mohammed Fasha" userId="cc64f42d-a1a6-4f08-b97b-0c37f877119f" providerId="ADAL" clId="{14ACCC35-F7A7-4452-B69F-AC22B42CD6C7}" dt="2025-05-14T02:52:45.789" v="1210" actId="20577"/>
          <ac:spMkLst>
            <pc:docMk/>
            <pc:sldMk cId="71253327" sldId="740"/>
            <ac:spMk id="5" creationId="{413AEE11-B789-35FF-7213-F4A2550B3A5B}"/>
          </ac:spMkLst>
        </pc:spChg>
      </pc:sldChg>
      <pc:sldChg chg="add del">
        <pc:chgData name="Mohammed Fasha" userId="cc64f42d-a1a6-4f08-b97b-0c37f877119f" providerId="ADAL" clId="{14ACCC35-F7A7-4452-B69F-AC22B42CD6C7}" dt="2025-05-14T03:38:06.330" v="2609" actId="47"/>
        <pc:sldMkLst>
          <pc:docMk/>
          <pc:sldMk cId="539878532" sldId="741"/>
        </pc:sldMkLst>
      </pc:sldChg>
      <pc:sldChg chg="add del">
        <pc:chgData name="Mohammed Fasha" userId="cc64f42d-a1a6-4f08-b97b-0c37f877119f" providerId="ADAL" clId="{14ACCC35-F7A7-4452-B69F-AC22B42CD6C7}" dt="2025-05-14T03:23:10.857" v="2094" actId="47"/>
        <pc:sldMkLst>
          <pc:docMk/>
          <pc:sldMk cId="1940152730" sldId="741"/>
        </pc:sldMkLst>
      </pc:sldChg>
      <pc:sldChg chg="modSp add mod">
        <pc:chgData name="Mohammed Fasha" userId="cc64f42d-a1a6-4f08-b97b-0c37f877119f" providerId="ADAL" clId="{14ACCC35-F7A7-4452-B69F-AC22B42CD6C7}" dt="2025-05-14T04:05:24.135" v="3186" actId="404"/>
        <pc:sldMkLst>
          <pc:docMk/>
          <pc:sldMk cId="1938754579" sldId="742"/>
        </pc:sldMkLst>
        <pc:spChg chg="mod">
          <ac:chgData name="Mohammed Fasha" userId="cc64f42d-a1a6-4f08-b97b-0c37f877119f" providerId="ADAL" clId="{14ACCC35-F7A7-4452-B69F-AC22B42CD6C7}" dt="2025-05-14T04:05:24.135" v="3186" actId="404"/>
          <ac:spMkLst>
            <pc:docMk/>
            <pc:sldMk cId="1938754579" sldId="742"/>
            <ac:spMk id="9" creationId="{B4444216-235E-0A80-7480-36B731C0720C}"/>
          </ac:spMkLst>
        </pc:spChg>
        <pc:graphicFrameChg chg="modGraphic">
          <ac:chgData name="Mohammed Fasha" userId="cc64f42d-a1a6-4f08-b97b-0c37f877119f" providerId="ADAL" clId="{14ACCC35-F7A7-4452-B69F-AC22B42CD6C7}" dt="2025-05-14T03:52:36.543" v="2996" actId="207"/>
          <ac:graphicFrameMkLst>
            <pc:docMk/>
            <pc:sldMk cId="1938754579" sldId="742"/>
            <ac:graphicFrameMk id="4" creationId="{43A95C23-2FD0-785D-9E35-91CCD61BC7AA}"/>
          </ac:graphicFrameMkLst>
        </pc:graphicFrameChg>
      </pc:sldChg>
      <pc:sldChg chg="new">
        <pc:chgData name="Mohammed Fasha" userId="cc64f42d-a1a6-4f08-b97b-0c37f877119f" providerId="ADAL" clId="{14ACCC35-F7A7-4452-B69F-AC22B42CD6C7}" dt="2025-05-14T03:38:09.347" v="2610" actId="680"/>
        <pc:sldMkLst>
          <pc:docMk/>
          <pc:sldMk cId="760235717" sldId="743"/>
        </pc:sldMkLst>
      </pc:sldChg>
      <pc:sldChg chg="modSp add del mod">
        <pc:chgData name="Mohammed Fasha" userId="cc64f42d-a1a6-4f08-b97b-0c37f877119f" providerId="ADAL" clId="{14ACCC35-F7A7-4452-B69F-AC22B42CD6C7}" dt="2025-05-14T03:44:10.971" v="2712"/>
        <pc:sldMkLst>
          <pc:docMk/>
          <pc:sldMk cId="3038458435" sldId="744"/>
        </pc:sldMkLst>
      </pc:sldChg>
      <pc:sldChg chg="addSp delSp modSp add mod">
        <pc:chgData name="Mohammed Fasha" userId="cc64f42d-a1a6-4f08-b97b-0c37f877119f" providerId="ADAL" clId="{14ACCC35-F7A7-4452-B69F-AC22B42CD6C7}" dt="2025-05-14T03:54:52.320" v="3038" actId="20577"/>
        <pc:sldMkLst>
          <pc:docMk/>
          <pc:sldMk cId="3696711520" sldId="744"/>
        </pc:sldMkLst>
        <pc:spChg chg="mod">
          <ac:chgData name="Mohammed Fasha" userId="cc64f42d-a1a6-4f08-b97b-0c37f877119f" providerId="ADAL" clId="{14ACCC35-F7A7-4452-B69F-AC22B42CD6C7}" dt="2025-05-14T03:53:17.524" v="3013" actId="20577"/>
          <ac:spMkLst>
            <pc:docMk/>
            <pc:sldMk cId="3696711520" sldId="744"/>
            <ac:spMk id="2" creationId="{67B21E0E-0D5B-6E0E-46AE-BBCCD37EB479}"/>
          </ac:spMkLst>
        </pc:spChg>
        <pc:spChg chg="mod">
          <ac:chgData name="Mohammed Fasha" userId="cc64f42d-a1a6-4f08-b97b-0c37f877119f" providerId="ADAL" clId="{14ACCC35-F7A7-4452-B69F-AC22B42CD6C7}" dt="2025-05-14T03:54:52.320" v="3038" actId="20577"/>
          <ac:spMkLst>
            <pc:docMk/>
            <pc:sldMk cId="3696711520" sldId="744"/>
            <ac:spMk id="3" creationId="{DDD56900-B1AF-A5D0-8D8F-A65B6E5A47DB}"/>
          </ac:spMkLst>
        </pc:spChg>
        <pc:picChg chg="add mod">
          <ac:chgData name="Mohammed Fasha" userId="cc64f42d-a1a6-4f08-b97b-0c37f877119f" providerId="ADAL" clId="{14ACCC35-F7A7-4452-B69F-AC22B42CD6C7}" dt="2025-05-14T03:54:24.437" v="3028" actId="1076"/>
          <ac:picMkLst>
            <pc:docMk/>
            <pc:sldMk cId="3696711520" sldId="744"/>
            <ac:picMk id="5" creationId="{E3467B6E-AAFC-7479-F9D0-18AE2A65888F}"/>
          </ac:picMkLst>
        </pc:picChg>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FEC9C214-E726-4192-8176-A8C9AACEB478}"/>
    <pc:docChg chg="addSld delSld modSld">
      <pc:chgData name="Mohammed Fasha" userId="cc64f42d-a1a6-4f08-b97b-0c37f877119f" providerId="ADAL" clId="{FEC9C214-E726-4192-8176-A8C9AACEB478}" dt="2025-05-12T03:11:40.927" v="51" actId="47"/>
      <pc:docMkLst>
        <pc:docMk/>
      </pc:docMkLst>
      <pc:sldChg chg="modSp mod">
        <pc:chgData name="Mohammed Fasha" userId="cc64f42d-a1a6-4f08-b97b-0c37f877119f" providerId="ADAL" clId="{FEC9C214-E726-4192-8176-A8C9AACEB478}" dt="2025-04-28T03:49:07.346" v="1" actId="113"/>
        <pc:sldMkLst>
          <pc:docMk/>
          <pc:sldMk cId="1096386322" sldId="715"/>
        </pc:sldMkLst>
      </pc:sldChg>
      <pc:sldChg chg="modSp mod">
        <pc:chgData name="Mohammed Fasha" userId="cc64f42d-a1a6-4f08-b97b-0c37f877119f" providerId="ADAL" clId="{FEC9C214-E726-4192-8176-A8C9AACEB478}" dt="2025-04-28T03:48:56.430" v="0" actId="113"/>
        <pc:sldMkLst>
          <pc:docMk/>
          <pc:sldMk cId="1784058309" sldId="716"/>
        </pc:sldMkLst>
      </pc:sldChg>
      <pc:sldChg chg="modSp mod">
        <pc:chgData name="Mohammed Fasha" userId="cc64f42d-a1a6-4f08-b97b-0c37f877119f" providerId="ADAL" clId="{FEC9C214-E726-4192-8176-A8C9AACEB478}" dt="2025-04-28T03:49:27.586" v="2" actId="113"/>
        <pc:sldMkLst>
          <pc:docMk/>
          <pc:sldMk cId="3139017106" sldId="717"/>
        </pc:sldMkLst>
      </pc:sldChg>
      <pc:sldChg chg="modSp del mod">
        <pc:chgData name="Mohammed Fasha" userId="cc64f42d-a1a6-4f08-b97b-0c37f877119f" providerId="ADAL" clId="{FEC9C214-E726-4192-8176-A8C9AACEB478}" dt="2025-05-12T03:04:56.963" v="45" actId="2696"/>
        <pc:sldMkLst>
          <pc:docMk/>
          <pc:sldMk cId="666527140" sldId="725"/>
        </pc:sldMkLst>
      </pc:sldChg>
      <pc:sldChg chg="add">
        <pc:chgData name="Mohammed Fasha" userId="cc64f42d-a1a6-4f08-b97b-0c37f877119f" providerId="ADAL" clId="{FEC9C214-E726-4192-8176-A8C9AACEB478}" dt="2025-05-12T03:05:03.915" v="46"/>
        <pc:sldMkLst>
          <pc:docMk/>
          <pc:sldMk cId="2280465272" sldId="725"/>
        </pc:sldMkLst>
      </pc:sldChg>
      <pc:sldChg chg="modSp new del mod">
        <pc:chgData name="Mohammed Fasha" userId="cc64f42d-a1a6-4f08-b97b-0c37f877119f" providerId="ADAL" clId="{FEC9C214-E726-4192-8176-A8C9AACEB478}" dt="2025-05-12T03:11:40.927" v="51" actId="47"/>
        <pc:sldMkLst>
          <pc:docMk/>
          <pc:sldMk cId="1223704259" sldId="729"/>
        </pc:sldMkLst>
      </pc:sldChg>
      <pc:sldChg chg="add del">
        <pc:chgData name="Mohammed Fasha" userId="cc64f42d-a1a6-4f08-b97b-0c37f877119f" providerId="ADAL" clId="{FEC9C214-E726-4192-8176-A8C9AACEB478}" dt="2025-05-12T03:06:57.298" v="49"/>
        <pc:sldMkLst>
          <pc:docMk/>
          <pc:sldMk cId="3927078588" sldId="7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2</a:t>
            </a:fld>
            <a:endParaRPr lang="en-US"/>
          </a:p>
        </p:txBody>
      </p:sp>
    </p:spTree>
    <p:extLst>
      <p:ext uri="{BB962C8B-B14F-4D97-AF65-F5344CB8AC3E}">
        <p14:creationId xmlns:p14="http://schemas.microsoft.com/office/powerpoint/2010/main" val="21586229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o.fu-berlin.de/en/v/soga-r/Basics-of-statistics/Hypothesis-Tests/Introduction-to-Hypothesis-Testing/Critical-Value-and-the-p-Value-Approach/index.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7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www.geo.fu-berlin.de/en/v/soga-r/Basics-of-statistics/Hypothesis-Tests/Introduction-to-Hypothesis-Testing/Critical-Value-and-the-p-Value-Approach/index.htm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Introduction-to-Hypothesis-Testing/Critical-Value-and-the-p-Value-Approach/index.html" TargetMode="Externa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hyperlink" Target="https://www.geo.fu-berlin.de/en/v/soga-py/Basics-of-statistics/Hypothesis-Tests/Introduction-to-Hypothesis-Testing/Critical-Value-and-the-p-Value-Approach/index.html"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www.geo.fu-berlin.de/en/v/soga-py/Basics-of-statistics/Hypothesis-Tests/Introduction-to-Hypothesis-Testing/Critical-Value-and-the-p-Value-Approach/index.html" TargetMode="Externa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850.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datatab.net/tutorial/paired-t-test"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atatab.net/tutorial/paired-t-test" TargetMode="External"/><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33.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Paired-Samples/index.html" TargetMode="Externa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o.fu-berlin.de/en/v/soga-r/Basics-of-statistics/Hypothesis-Tests/Hypothesis-Tests-for-Two-Population-Means/Standard-Deviations-Assumed-Equal/index.html" TargetMode="External"/><Relationship Id="rId1" Type="http://schemas.openxmlformats.org/officeDocument/2006/relationships/slideLayout" Target="../slideLayouts/slideLayout2.xml"/><Relationship Id="rId5" Type="http://schemas.openxmlformats.org/officeDocument/2006/relationships/image" Target="../media/image910.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Assumed-Equal/index.html" TargetMode="Externa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950.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p:txBody>
          <a:bodyPr>
            <a:normAutofit/>
          </a:bodyPr>
          <a:lstStyle/>
          <a:p>
            <a:r>
              <a:rPr lang="en-US" sz="4800" b="0" dirty="0"/>
              <a:t>307102</a:t>
            </a:r>
            <a:br>
              <a:rPr lang="en-US" sz="4800" b="0" dirty="0"/>
            </a:br>
            <a:r>
              <a:rPr lang="en-US" sz="4800" b="0" dirty="0"/>
              <a:t>Descriptive Statistics for Business</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p:txBody>
          <a:bodyPr>
            <a:normAutofit/>
          </a:bodyPr>
          <a:lstStyle/>
          <a:p>
            <a:r>
              <a:rPr lang="en-US" sz="3200" b="0" dirty="0"/>
              <a:t>Introduction to Hypothesis Testing</a:t>
            </a:r>
          </a:p>
          <a:p>
            <a:r>
              <a:rPr lang="en-US" sz="3200" dirty="0"/>
              <a:t>2024-2</a:t>
            </a:r>
          </a:p>
        </p:txBody>
      </p:sp>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Tree>
    <p:extLst>
      <p:ext uri="{BB962C8B-B14F-4D97-AF65-F5344CB8AC3E}">
        <p14:creationId xmlns:p14="http://schemas.microsoft.com/office/powerpoint/2010/main" val="2297456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5847-8AA4-1F16-2BAA-3BA29D946366}"/>
              </a:ext>
            </a:extLst>
          </p:cNvPr>
          <p:cNvSpPr>
            <a:spLocks noGrp="1"/>
          </p:cNvSpPr>
          <p:nvPr>
            <p:ph type="title"/>
          </p:nvPr>
        </p:nvSpPr>
        <p:spPr/>
        <p:txBody>
          <a:bodyPr>
            <a:normAutofit/>
          </a:bodyPr>
          <a:lstStyle/>
          <a:p>
            <a:r>
              <a:rPr lang="en-US" dirty="0"/>
              <a:t>Content</a:t>
            </a:r>
          </a:p>
        </p:txBody>
      </p:sp>
      <p:sp>
        <p:nvSpPr>
          <p:cNvPr id="3" name="Content Placeholder 2">
            <a:extLst>
              <a:ext uri="{FF2B5EF4-FFF2-40B4-BE49-F238E27FC236}">
                <a16:creationId xmlns:a16="http://schemas.microsoft.com/office/drawing/2014/main" id="{33DCE5F9-E85C-BE5A-115B-5073F877C0A4}"/>
              </a:ext>
            </a:extLst>
          </p:cNvPr>
          <p:cNvSpPr>
            <a:spLocks noGrp="1"/>
          </p:cNvSpPr>
          <p:nvPr>
            <p:ph idx="1"/>
          </p:nvPr>
        </p:nvSpPr>
        <p:spPr/>
        <p:txBody>
          <a:bodyPr>
            <a:normAutofit/>
          </a:bodyPr>
          <a:lstStyle/>
          <a:p>
            <a:r>
              <a:rPr lang="en-US" sz="2200" dirty="0"/>
              <a:t>One Sample T Test</a:t>
            </a:r>
          </a:p>
          <a:p>
            <a:r>
              <a:rPr lang="en-US" sz="2200" dirty="0"/>
              <a:t>Two Samples Un-Paired T Test</a:t>
            </a:r>
          </a:p>
          <a:p>
            <a:r>
              <a:rPr lang="en-US" sz="2200" dirty="0"/>
              <a:t>Two Samples Paired T Test</a:t>
            </a:r>
          </a:p>
          <a:p>
            <a:r>
              <a:rPr lang="en-US" sz="2200" dirty="0"/>
              <a:t>One-Way ANOVA Test</a:t>
            </a:r>
          </a:p>
          <a:p>
            <a:r>
              <a:rPr lang="en-US" sz="2200" dirty="0"/>
              <a:t>Two-Way ANOVA Test</a:t>
            </a:r>
          </a:p>
          <a:p>
            <a:r>
              <a:rPr lang="en-US" sz="2200" dirty="0"/>
              <a:t>Test for Proportions</a:t>
            </a:r>
          </a:p>
          <a:p>
            <a:r>
              <a:rPr lang="en-US" sz="2200" dirty="0"/>
              <a:t>Chi-Square Test</a:t>
            </a:r>
          </a:p>
          <a:p>
            <a:endParaRPr lang="en-US" sz="2200" dirty="0"/>
          </a:p>
          <a:p>
            <a:endParaRPr lang="en-US" sz="2200" dirty="0"/>
          </a:p>
          <a:p>
            <a:pPr lvl="1"/>
            <a:endParaRPr lang="en-US" sz="2200" dirty="0"/>
          </a:p>
          <a:p>
            <a:pPr lvl="1"/>
            <a:endParaRPr lang="en-US" sz="2200" dirty="0"/>
          </a:p>
          <a:p>
            <a:endParaRPr lang="en-US" sz="2200" dirty="0"/>
          </a:p>
        </p:txBody>
      </p:sp>
    </p:spTree>
    <p:extLst>
      <p:ext uri="{BB962C8B-B14F-4D97-AF65-F5344CB8AC3E}">
        <p14:creationId xmlns:p14="http://schemas.microsoft.com/office/powerpoint/2010/main" val="420846103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C40D-4BB6-E612-4788-ABF128E59AC6}"/>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8D6F1AE2-578A-55A8-ABC5-9D64444A3D98}"/>
              </a:ext>
            </a:extLst>
          </p:cNvPr>
          <p:cNvSpPr>
            <a:spLocks noGrp="1"/>
          </p:cNvSpPr>
          <p:nvPr>
            <p:ph idx="1"/>
          </p:nvPr>
        </p:nvSpPr>
        <p:spPr/>
        <p:txBody>
          <a:bodyPr>
            <a:normAutofit fontScale="85000" lnSpcReduction="20000"/>
          </a:bodyPr>
          <a:lstStyle/>
          <a:p>
            <a:r>
              <a:rPr lang="en-US" b="1" dirty="0"/>
              <a:t>Hypothesis Testing </a:t>
            </a:r>
            <a:r>
              <a:rPr lang="en-US" dirty="0"/>
              <a:t>is a statistical method that uses sample data to evaluate a hypothesis about a population parameter.</a:t>
            </a:r>
          </a:p>
          <a:p>
            <a:r>
              <a:rPr lang="en-US" b="0" i="0" dirty="0">
                <a:solidFill>
                  <a:srgbClr val="000000"/>
                </a:solidFill>
                <a:effectLst/>
                <a:ea typeface="Verdana" panose="020B0604030504040204" pitchFamily="34" charset="0"/>
              </a:rPr>
              <a:t>A </a:t>
            </a:r>
            <a:r>
              <a:rPr lang="en-US" b="1" i="0" dirty="0">
                <a:solidFill>
                  <a:srgbClr val="000000"/>
                </a:solidFill>
                <a:effectLst/>
                <a:ea typeface="Verdana" panose="020B0604030504040204" pitchFamily="34" charset="0"/>
              </a:rPr>
              <a:t>hypothesis</a:t>
            </a:r>
            <a:r>
              <a:rPr lang="en-US" b="0" i="0" dirty="0">
                <a:solidFill>
                  <a:srgbClr val="000000"/>
                </a:solidFill>
                <a:effectLst/>
                <a:ea typeface="Verdana" panose="020B0604030504040204" pitchFamily="34" charset="0"/>
              </a:rPr>
              <a:t> is a claim about a population parameter that can be examined.</a:t>
            </a:r>
          </a:p>
          <a:p>
            <a:r>
              <a:rPr lang="en-US" dirty="0"/>
              <a:t>The purpose of hypothesis testing is to determine whether there is enough evidence in a sample of data to support a particular belief about a population.</a:t>
            </a:r>
          </a:p>
          <a:p>
            <a:r>
              <a:rPr lang="en-US" dirty="0"/>
              <a:t>Examples of claims that can be checked:</a:t>
            </a:r>
            <a:endParaRPr lang="en-US" sz="2000" dirty="0"/>
          </a:p>
          <a:p>
            <a:pPr marL="858838" lvl="1" indent="-401638">
              <a:lnSpc>
                <a:spcPct val="120000"/>
              </a:lnSpc>
              <a:buFont typeface="+mj-lt"/>
              <a:buAutoNum type="arabicPeriod"/>
            </a:pPr>
            <a:r>
              <a:rPr lang="en-US" dirty="0"/>
              <a:t>Testing if a new marketing campaign increases customer engagement.</a:t>
            </a:r>
          </a:p>
          <a:p>
            <a:pPr marL="858838" lvl="1" indent="-401638">
              <a:lnSpc>
                <a:spcPct val="120000"/>
              </a:lnSpc>
              <a:buFont typeface="+mj-lt"/>
              <a:buAutoNum type="arabicPeriod"/>
            </a:pPr>
            <a:r>
              <a:rPr lang="en-US" dirty="0"/>
              <a:t>Checking whether a redesigned website improves conversion rates.</a:t>
            </a:r>
          </a:p>
          <a:p>
            <a:pPr marL="858838" lvl="1" indent="-401638">
              <a:lnSpc>
                <a:spcPct val="120000"/>
              </a:lnSpc>
              <a:buFont typeface="+mj-lt"/>
              <a:buAutoNum type="arabicPeriod"/>
            </a:pPr>
            <a:r>
              <a:rPr lang="en-US" dirty="0"/>
              <a:t>Evaluating if a new product packaging affects sales volume.</a:t>
            </a:r>
          </a:p>
          <a:p>
            <a:pPr marL="858838" lvl="1" indent="-401638">
              <a:lnSpc>
                <a:spcPct val="120000"/>
              </a:lnSpc>
              <a:buFont typeface="+mj-lt"/>
              <a:buAutoNum type="arabicPeriod"/>
            </a:pPr>
            <a:r>
              <a:rPr lang="en-US" dirty="0"/>
              <a:t>Determining if weekend promotions boost in-store foot traffic.</a:t>
            </a:r>
          </a:p>
          <a:p>
            <a:pPr marL="858838" lvl="1" indent="-401638">
              <a:lnSpc>
                <a:spcPct val="120000"/>
              </a:lnSpc>
              <a:buFont typeface="+mj-lt"/>
              <a:buAutoNum type="arabicPeriod"/>
            </a:pPr>
            <a:r>
              <a:rPr lang="en-US" dirty="0"/>
              <a:t>Assessing whether remote work impacts employee productivity.</a:t>
            </a:r>
          </a:p>
          <a:p>
            <a:pPr marL="858838" lvl="1" indent="-401638">
              <a:lnSpc>
                <a:spcPct val="120000"/>
              </a:lnSpc>
              <a:buFont typeface="+mj-lt"/>
              <a:buAutoNum type="arabicPeriod"/>
            </a:pPr>
            <a:r>
              <a:rPr lang="en-US" dirty="0"/>
              <a:t>Comparing customer satisfaction between two service locations.</a:t>
            </a:r>
          </a:p>
          <a:p>
            <a:pPr marL="858838" lvl="1" indent="-401638">
              <a:lnSpc>
                <a:spcPct val="120000"/>
              </a:lnSpc>
              <a:buFont typeface="+mj-lt"/>
              <a:buAutoNum type="arabicPeriod"/>
            </a:pPr>
            <a:r>
              <a:rPr lang="en-US" dirty="0"/>
              <a:t>Testing if a loyalty program increases repeat purchase rates.</a:t>
            </a:r>
          </a:p>
          <a:p>
            <a:pPr marL="858838" lvl="1" indent="-401638">
              <a:lnSpc>
                <a:spcPct val="120000"/>
              </a:lnSpc>
              <a:buFont typeface="+mj-lt"/>
              <a:buAutoNum type="arabicPeriod"/>
            </a:pPr>
            <a:r>
              <a:rPr lang="en-US" dirty="0"/>
              <a:t>Seeing if a price change affects total revenue.</a:t>
            </a:r>
          </a:p>
          <a:p>
            <a:pPr marL="858838" lvl="1" indent="-401638">
              <a:lnSpc>
                <a:spcPct val="120000"/>
              </a:lnSpc>
              <a:buFont typeface="+mj-lt"/>
              <a:buAutoNum type="arabicPeriod"/>
            </a:pPr>
            <a:r>
              <a:rPr lang="en-US" dirty="0"/>
              <a:t>Checking whether a new supplier leads to fewer product defects.</a:t>
            </a:r>
          </a:p>
          <a:p>
            <a:pPr marL="858838" lvl="1" indent="-401638">
              <a:lnSpc>
                <a:spcPct val="120000"/>
              </a:lnSpc>
              <a:buFont typeface="+mj-lt"/>
              <a:buAutoNum type="arabicPeriod"/>
            </a:pPr>
            <a:r>
              <a:rPr lang="en-US" dirty="0"/>
              <a:t>Measuring if training improves sales team performance.</a:t>
            </a:r>
          </a:p>
          <a:p>
            <a:endParaRPr lang="en-US" dirty="0"/>
          </a:p>
        </p:txBody>
      </p:sp>
    </p:spTree>
    <p:extLst>
      <p:ext uri="{BB962C8B-B14F-4D97-AF65-F5344CB8AC3E}">
        <p14:creationId xmlns:p14="http://schemas.microsoft.com/office/powerpoint/2010/main" val="216864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C92D6B-91A3-188B-6644-8BF6C41A6419}"/>
              </a:ext>
            </a:extLst>
          </p:cNvPr>
          <p:cNvSpPr>
            <a:spLocks noGrp="1"/>
          </p:cNvSpPr>
          <p:nvPr>
            <p:ph type="title"/>
          </p:nvPr>
        </p:nvSpPr>
        <p:spPr/>
        <p:txBody>
          <a:bodyPr/>
          <a:lstStyle/>
          <a:p>
            <a:r>
              <a:rPr lang="en-US" dirty="0"/>
              <a:t>Business Related Examples in Hypothesis Testing</a:t>
            </a:r>
          </a:p>
        </p:txBody>
      </p:sp>
      <p:graphicFrame>
        <p:nvGraphicFramePr>
          <p:cNvPr id="4" name="Content Placeholder 3">
            <a:extLst>
              <a:ext uri="{FF2B5EF4-FFF2-40B4-BE49-F238E27FC236}">
                <a16:creationId xmlns:a16="http://schemas.microsoft.com/office/drawing/2014/main" id="{A0821584-FD2E-349F-CE91-66ED52AD8AB1}"/>
              </a:ext>
            </a:extLst>
          </p:cNvPr>
          <p:cNvGraphicFramePr>
            <a:graphicFrameLocks noGrp="1"/>
          </p:cNvGraphicFramePr>
          <p:nvPr>
            <p:ph idx="1"/>
            <p:extLst>
              <p:ext uri="{D42A27DB-BD31-4B8C-83A1-F6EECF244321}">
                <p14:modId xmlns:p14="http://schemas.microsoft.com/office/powerpoint/2010/main" val="1597476244"/>
              </p:ext>
            </p:extLst>
          </p:nvPr>
        </p:nvGraphicFramePr>
        <p:xfrm>
          <a:off x="838199" y="1706563"/>
          <a:ext cx="10838936" cy="4269526"/>
        </p:xfrm>
        <a:graphic>
          <a:graphicData uri="http://schemas.openxmlformats.org/drawingml/2006/table">
            <a:tbl>
              <a:tblPr>
                <a:tableStyleId>{5940675A-B579-460E-94D1-54222C63F5DA}</a:tableStyleId>
              </a:tblPr>
              <a:tblGrid>
                <a:gridCol w="982375">
                  <a:extLst>
                    <a:ext uri="{9D8B030D-6E8A-4147-A177-3AD203B41FA5}">
                      <a16:colId xmlns:a16="http://schemas.microsoft.com/office/drawing/2014/main" val="2333020860"/>
                    </a:ext>
                  </a:extLst>
                </a:gridCol>
                <a:gridCol w="2509707">
                  <a:extLst>
                    <a:ext uri="{9D8B030D-6E8A-4147-A177-3AD203B41FA5}">
                      <a16:colId xmlns:a16="http://schemas.microsoft.com/office/drawing/2014/main" val="1603746228"/>
                    </a:ext>
                  </a:extLst>
                </a:gridCol>
                <a:gridCol w="766881">
                  <a:extLst>
                    <a:ext uri="{9D8B030D-6E8A-4147-A177-3AD203B41FA5}">
                      <a16:colId xmlns:a16="http://schemas.microsoft.com/office/drawing/2014/main" val="2477239706"/>
                    </a:ext>
                  </a:extLst>
                </a:gridCol>
                <a:gridCol w="6579973">
                  <a:extLst>
                    <a:ext uri="{9D8B030D-6E8A-4147-A177-3AD203B41FA5}">
                      <a16:colId xmlns:a16="http://schemas.microsoft.com/office/drawing/2014/main" val="1625551808"/>
                    </a:ext>
                  </a:extLst>
                </a:gridCol>
              </a:tblGrid>
              <a:tr h="197264">
                <a:tc>
                  <a:txBody>
                    <a:bodyPr/>
                    <a:lstStyle/>
                    <a:p>
                      <a:pPr algn="ctr" fontAlgn="ctr"/>
                      <a:r>
                        <a:rPr lang="en-US" sz="1200" u="none" strike="noStrike" dirty="0">
                          <a:effectLst/>
                        </a:rPr>
                        <a:t>Category</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Scenario</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Type of Test</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Detailed Experiment Design</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04415712"/>
                  </a:ext>
                </a:extLst>
              </a:tr>
              <a:tr h="530641">
                <a:tc rowSpan="4">
                  <a:txBody>
                    <a:bodyPr/>
                    <a:lstStyle/>
                    <a:p>
                      <a:pPr algn="ctr" fontAlgn="b"/>
                      <a:r>
                        <a:rPr lang="en-US" sz="1200" u="none" strike="noStrike" dirty="0">
                          <a:effectLst/>
                        </a:rPr>
                        <a:t>Marketing</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Testing if a new marketing campaign increases customer engagement.</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engagement rates (clicks, opens) between users exposed to the new vs. old campaign. </a:t>
                      </a:r>
                    </a:p>
                    <a:p>
                      <a:pPr marL="171450" indent="-115888" algn="l" fontAlgn="b">
                        <a:buFont typeface="Arial" panose="020B0604020202020204" pitchFamily="34" charset="0"/>
                        <a:buChar char="•"/>
                      </a:pPr>
                      <a:r>
                        <a:rPr lang="en-US" sz="1200" u="none" strike="noStrike" dirty="0">
                          <a:effectLst/>
                        </a:rPr>
                        <a:t>Randomly assign at least 500 customers to two groups: one receiving the new campaign, one the old. </a:t>
                      </a:r>
                    </a:p>
                    <a:p>
                      <a:pPr marL="171450" indent="-115888" algn="l" fontAlgn="b">
                        <a:buFont typeface="Arial" panose="020B0604020202020204" pitchFamily="34" charset="0"/>
                        <a:buChar char="•"/>
                      </a:pPr>
                      <a:r>
                        <a:rPr lang="en-US" sz="1200" u="none" strike="noStrike" dirty="0">
                          <a:effectLst/>
                        </a:rPr>
                        <a:t>Track engagement (clicks/opens) over a week.</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527085299"/>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Seeing if a promotional email improves open or click-through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open/click-through rates between two versions of an email. </a:t>
                      </a:r>
                    </a:p>
                    <a:p>
                      <a:pPr marL="171450" indent="-115888" algn="l" fontAlgn="b">
                        <a:buFont typeface="Arial" panose="020B0604020202020204" pitchFamily="34" charset="0"/>
                        <a:buChar char="•"/>
                      </a:pPr>
                      <a:r>
                        <a:rPr lang="en-US" sz="1200" u="none" strike="noStrike" dirty="0">
                          <a:effectLst/>
                        </a:rPr>
                        <a:t>Send Version A to 1,000 customers and Version B to another 1,000. </a:t>
                      </a:r>
                    </a:p>
                    <a:p>
                      <a:pPr marL="171450" indent="-115888" algn="l" fontAlgn="b">
                        <a:buFont typeface="Arial" panose="020B0604020202020204" pitchFamily="34" charset="0"/>
                        <a:buChar char="•"/>
                      </a:pPr>
                      <a:r>
                        <a:rPr lang="en-US" sz="1200" u="none" strike="noStrike" dirty="0">
                          <a:effectLst/>
                        </a:rPr>
                        <a:t>Ensure equal demographic spread. </a:t>
                      </a:r>
                    </a:p>
                    <a:p>
                      <a:pPr marL="171450" indent="-115888" algn="l" fontAlgn="b">
                        <a:buFont typeface="Arial" panose="020B0604020202020204" pitchFamily="34" charset="0"/>
                        <a:buChar char="•"/>
                      </a:pPr>
                      <a:r>
                        <a:rPr lang="en-US" sz="1200" u="none" strike="noStrike" dirty="0">
                          <a:effectLst/>
                        </a:rPr>
                        <a:t>Compare open and click-through rates.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346313"/>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Measuring whether influencer partnerships drive more traffic to the site.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daily website visits with and without influencer campaigns. </a:t>
                      </a:r>
                    </a:p>
                    <a:p>
                      <a:pPr marL="171450" indent="-115888" algn="l" fontAlgn="b">
                        <a:buFont typeface="Arial" panose="020B0604020202020204" pitchFamily="34" charset="0"/>
                        <a:buChar char="•"/>
                      </a:pPr>
                      <a:r>
                        <a:rPr lang="en-US" sz="1200" u="none" strike="noStrike" dirty="0">
                          <a:effectLst/>
                        </a:rPr>
                        <a:t>Track daily website traffic for 30 days before and after the influencer campaign. </a:t>
                      </a:r>
                    </a:p>
                    <a:p>
                      <a:pPr marL="171450" indent="-115888" algn="l" fontAlgn="b">
                        <a:buFont typeface="Arial" panose="020B0604020202020204" pitchFamily="34" charset="0"/>
                        <a:buChar char="•"/>
                      </a:pPr>
                      <a:r>
                        <a:rPr lang="en-US" sz="1200" u="none" strike="noStrike" dirty="0">
                          <a:effectLst/>
                        </a:rPr>
                        <a:t>Use rolling averages to minimize noise.</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57659770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Evaluating if social media ads result in more conversions.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conversion rates for users who saw the ads vs. those who did not. </a:t>
                      </a:r>
                    </a:p>
                    <a:p>
                      <a:pPr marL="171450" indent="-115888" algn="l" fontAlgn="b">
                        <a:buFont typeface="Arial" panose="020B0604020202020204" pitchFamily="34" charset="0"/>
                        <a:buChar char="•"/>
                      </a:pPr>
                      <a:r>
                        <a:rPr lang="en-US" sz="1200" u="none" strike="noStrike" dirty="0">
                          <a:effectLst/>
                        </a:rPr>
                        <a:t>Randomly expose 5,000 users to social media ads while keeping a matched control group unexposed. </a:t>
                      </a:r>
                    </a:p>
                    <a:p>
                      <a:pPr marL="171450" indent="-115888" algn="l" fontAlgn="b">
                        <a:buFont typeface="Arial" panose="020B0604020202020204" pitchFamily="34" charset="0"/>
                        <a:buChar char="•"/>
                      </a:pPr>
                      <a:r>
                        <a:rPr lang="en-US" sz="1200" u="none" strike="noStrike" dirty="0">
                          <a:effectLst/>
                        </a:rPr>
                        <a:t>Track conversion behavior over 7 days.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84170163"/>
                  </a:ext>
                </a:extLst>
              </a:tr>
              <a:tr h="394528">
                <a:tc rowSpan="3">
                  <a:txBody>
                    <a:bodyPr/>
                    <a:lstStyle/>
                    <a:p>
                      <a:pPr algn="ctr" fontAlgn="b"/>
                      <a:r>
                        <a:rPr lang="en-US" sz="1200" u="none" strike="noStrike" dirty="0">
                          <a:effectLst/>
                        </a:rPr>
                        <a:t>Sales &amp; Revenue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55563" indent="0" algn="l" fontAlgn="b"/>
                      <a:r>
                        <a:rPr lang="en-US" sz="1200" u="none" strike="noStrike" dirty="0">
                          <a:effectLst/>
                        </a:rPr>
                        <a:t>Determining if a price change affects total revenue.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revenue per user before and after price change. </a:t>
                      </a:r>
                    </a:p>
                    <a:p>
                      <a:pPr marL="171450" indent="-115888" algn="l" fontAlgn="b">
                        <a:buFont typeface="Arial" panose="020B0604020202020204" pitchFamily="34" charset="0"/>
                        <a:buChar char="•"/>
                      </a:pPr>
                      <a:r>
                        <a:rPr lang="en-US" sz="1200" u="none" strike="noStrike" dirty="0">
                          <a:effectLst/>
                        </a:rPr>
                        <a:t>Collect revenue data for 4 weeks before and after price change. </a:t>
                      </a:r>
                    </a:p>
                    <a:p>
                      <a:pPr marL="171450" indent="-115888" algn="l" fontAlgn="b">
                        <a:buFont typeface="Arial" panose="020B0604020202020204" pitchFamily="34" charset="0"/>
                        <a:buChar char="•"/>
                      </a:pPr>
                      <a:r>
                        <a:rPr lang="en-US" sz="1200" u="none" strike="noStrike" dirty="0">
                          <a:effectLst/>
                        </a:rPr>
                        <a:t>Use at least 1,000 transactions in each period to ensure reliability.</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56325891"/>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Testing whether bundling products increases average order value.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order value for bundled vs. unbundled products. </a:t>
                      </a:r>
                    </a:p>
                    <a:p>
                      <a:pPr marL="171450" indent="-115888" algn="l" fontAlgn="b">
                        <a:buFont typeface="Arial" panose="020B0604020202020204" pitchFamily="34" charset="0"/>
                        <a:buChar char="•"/>
                      </a:pPr>
                      <a:r>
                        <a:rPr lang="en-US" sz="1200" u="none" strike="noStrike" dirty="0">
                          <a:effectLst/>
                        </a:rPr>
                        <a:t>Assign 500 customers to view bundled product pricing and 500 to unbundled. </a:t>
                      </a:r>
                    </a:p>
                    <a:p>
                      <a:pPr marL="171450" indent="-115888" algn="l" fontAlgn="b">
                        <a:buFont typeface="Arial" panose="020B0604020202020204" pitchFamily="34" charset="0"/>
                        <a:buChar char="•"/>
                      </a:pPr>
                      <a:r>
                        <a:rPr lang="en-US" sz="1200" u="none" strike="noStrike" dirty="0">
                          <a:effectLst/>
                        </a:rPr>
                        <a:t>Track order values across one sales cycle.</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56640877"/>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Assessing if offering free shipping improves purchase completion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checkout completion rates with and without free shipping. </a:t>
                      </a:r>
                    </a:p>
                    <a:p>
                      <a:pPr marL="171450" indent="-115888" algn="l" fontAlgn="b">
                        <a:buFont typeface="Arial" panose="020B0604020202020204" pitchFamily="34" charset="0"/>
                        <a:buChar char="•"/>
                      </a:pPr>
                      <a:r>
                        <a:rPr lang="en-US" sz="1200" u="none" strike="noStrike" dirty="0">
                          <a:effectLst/>
                        </a:rPr>
                        <a:t>Split 2,000 checkout users evenly into groups with and without free shipping. </a:t>
                      </a:r>
                    </a:p>
                    <a:p>
                      <a:pPr marL="171450" indent="-115888" algn="l" fontAlgn="b">
                        <a:buFont typeface="Arial" panose="020B0604020202020204" pitchFamily="34" charset="0"/>
                        <a:buChar char="•"/>
                      </a:pPr>
                      <a:r>
                        <a:rPr lang="en-US" sz="1200" u="none" strike="noStrike" dirty="0">
                          <a:effectLst/>
                        </a:rPr>
                        <a:t>Track completion rate within 24 hours.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30945519"/>
                  </a:ext>
                </a:extLst>
              </a:tr>
            </a:tbl>
          </a:graphicData>
        </a:graphic>
      </p:graphicFrame>
    </p:spTree>
    <p:extLst>
      <p:ext uri="{BB962C8B-B14F-4D97-AF65-F5344CB8AC3E}">
        <p14:creationId xmlns:p14="http://schemas.microsoft.com/office/powerpoint/2010/main" val="183268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46FD-A028-8C3F-DF3F-63325A84C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1D562-E273-18DE-1DA1-E4048EEFA8D7}"/>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68BF3D5E-B53A-A024-F190-02F12EC6DF2D}"/>
              </a:ext>
            </a:extLst>
          </p:cNvPr>
          <p:cNvGraphicFramePr>
            <a:graphicFrameLocks noGrp="1"/>
          </p:cNvGraphicFramePr>
          <p:nvPr>
            <p:ph idx="1"/>
            <p:extLst>
              <p:ext uri="{D42A27DB-BD31-4B8C-83A1-F6EECF244321}">
                <p14:modId xmlns:p14="http://schemas.microsoft.com/office/powerpoint/2010/main" val="1795607042"/>
              </p:ext>
            </p:extLst>
          </p:nvPr>
        </p:nvGraphicFramePr>
        <p:xfrm>
          <a:off x="838200" y="1706563"/>
          <a:ext cx="10628871" cy="5036800"/>
        </p:xfrm>
        <a:graphic>
          <a:graphicData uri="http://schemas.openxmlformats.org/drawingml/2006/table">
            <a:tbl>
              <a:tblPr>
                <a:tableStyleId>{5940675A-B579-460E-94D1-54222C63F5DA}</a:tableStyleId>
              </a:tblPr>
              <a:tblGrid>
                <a:gridCol w="981234">
                  <a:extLst>
                    <a:ext uri="{9D8B030D-6E8A-4147-A177-3AD203B41FA5}">
                      <a16:colId xmlns:a16="http://schemas.microsoft.com/office/drawing/2014/main" val="2333020860"/>
                    </a:ext>
                  </a:extLst>
                </a:gridCol>
                <a:gridCol w="2506793">
                  <a:extLst>
                    <a:ext uri="{9D8B030D-6E8A-4147-A177-3AD203B41FA5}">
                      <a16:colId xmlns:a16="http://schemas.microsoft.com/office/drawing/2014/main" val="1603746228"/>
                    </a:ext>
                  </a:extLst>
                </a:gridCol>
                <a:gridCol w="752400">
                  <a:extLst>
                    <a:ext uri="{9D8B030D-6E8A-4147-A177-3AD203B41FA5}">
                      <a16:colId xmlns:a16="http://schemas.microsoft.com/office/drawing/2014/main" val="2477239706"/>
                    </a:ext>
                  </a:extLst>
                </a:gridCol>
                <a:gridCol w="6388444">
                  <a:extLst>
                    <a:ext uri="{9D8B030D-6E8A-4147-A177-3AD203B41FA5}">
                      <a16:colId xmlns:a16="http://schemas.microsoft.com/office/drawing/2014/main" val="1625551808"/>
                    </a:ext>
                  </a:extLst>
                </a:gridCol>
              </a:tblGrid>
              <a:tr h="197264">
                <a:tc>
                  <a:txBody>
                    <a:bodyPr/>
                    <a:lstStyle/>
                    <a:p>
                      <a:pPr algn="ctr" fontAlgn="ctr"/>
                      <a:r>
                        <a:rPr lang="en-US" sz="1200" u="none" strike="noStrike" dirty="0">
                          <a:effectLst/>
                        </a:rPr>
                        <a:t>Category</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Scenario</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Type of Test</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Detailed Experiment Design</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04415712"/>
                  </a:ext>
                </a:extLst>
              </a:tr>
              <a:tr h="394528">
                <a:tc rowSpan="3">
                  <a:txBody>
                    <a:bodyPr/>
                    <a:lstStyle/>
                    <a:p>
                      <a:pPr algn="ctr" fontAlgn="b"/>
                      <a:r>
                        <a:rPr lang="en-US" sz="1200" u="none" strike="noStrike" dirty="0">
                          <a:effectLst/>
                        </a:rPr>
                        <a:t>Operations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Checking whether a new supplier leads to fewer product defects.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defect rates between products from the old vs. new supplier. </a:t>
                      </a:r>
                    </a:p>
                    <a:p>
                      <a:pPr marL="171450" indent="-115888" algn="l" fontAlgn="b">
                        <a:buFont typeface="Arial" panose="020B0604020202020204" pitchFamily="34" charset="0"/>
                        <a:buChar char="•"/>
                      </a:pPr>
                      <a:r>
                        <a:rPr lang="en-US" sz="1200" u="none" strike="noStrike" dirty="0">
                          <a:effectLst/>
                        </a:rPr>
                        <a:t>Collect defect data from 1,000 units produced using the old supplier and 1,000 from the new. </a:t>
                      </a:r>
                    </a:p>
                    <a:p>
                      <a:pPr marL="171450" indent="-115888" algn="l" fontAlgn="b">
                        <a:buFont typeface="Arial" panose="020B0604020202020204" pitchFamily="34" charset="0"/>
                        <a:buChar char="•"/>
                      </a:pPr>
                      <a:r>
                        <a:rPr lang="en-US" sz="1200" u="none" strike="noStrike" dirty="0">
                          <a:effectLst/>
                        </a:rPr>
                        <a:t>Monitor under similar production conditions.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973540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Evaluating if a new production method reduces waste or error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a:effectLst/>
                        </a:rPr>
                        <a:t>Mean</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mean waste/error amounts using old vs. new methods. </a:t>
                      </a:r>
                    </a:p>
                    <a:p>
                      <a:pPr marL="171450" indent="-115888" algn="l" fontAlgn="b">
                        <a:buFont typeface="Arial" panose="020B0604020202020204" pitchFamily="34" charset="0"/>
                        <a:buChar char="•"/>
                      </a:pPr>
                      <a:r>
                        <a:rPr lang="en-US" sz="1200" u="none" strike="noStrike" dirty="0">
                          <a:effectLst/>
                        </a:rPr>
                        <a:t>Run the production process using each method for a week, generating at least 500 measurements of waste or errors per method.</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2272123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Determining if delivery time decreases with a new logistics provider.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a:effectLst/>
                        </a:rPr>
                        <a:t>Mean</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delivery times between the two providers. </a:t>
                      </a:r>
                    </a:p>
                    <a:p>
                      <a:pPr marL="171450" indent="-115888" algn="l" fontAlgn="b">
                        <a:buFont typeface="Arial" panose="020B0604020202020204" pitchFamily="34" charset="0"/>
                        <a:buChar char="•"/>
                      </a:pPr>
                      <a:r>
                        <a:rPr lang="en-US" sz="1200" u="none" strike="noStrike" dirty="0">
                          <a:effectLst/>
                        </a:rPr>
                        <a:t>Record 1,000 delivery times for each provider across the same set of shipping regions and similar order types.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067310294"/>
                  </a:ext>
                </a:extLst>
              </a:tr>
              <a:tr h="394528">
                <a:tc rowSpan="3">
                  <a:txBody>
                    <a:bodyPr/>
                    <a:lstStyle/>
                    <a:p>
                      <a:pPr algn="ctr" fontAlgn="b"/>
                      <a:r>
                        <a:rPr lang="en-US" sz="1200" u="none" strike="noStrike" dirty="0">
                          <a:effectLst/>
                        </a:rPr>
                        <a:t>Customer Behavior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55563" indent="0" algn="l" fontAlgn="b"/>
                      <a:r>
                        <a:rPr lang="en-US" sz="1200" u="none" strike="noStrike" dirty="0">
                          <a:effectLst/>
                        </a:rPr>
                        <a:t>Testing if a loyalty program increases repeat purchase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proportion of returning customers with and without loyalty program. </a:t>
                      </a:r>
                    </a:p>
                    <a:p>
                      <a:pPr marL="171450" indent="-115888" algn="l" fontAlgn="b">
                        <a:buFont typeface="Arial" panose="020B0604020202020204" pitchFamily="34" charset="0"/>
                        <a:buChar char="•"/>
                      </a:pPr>
                      <a:r>
                        <a:rPr lang="en-US" sz="1200" u="none" strike="noStrike" dirty="0">
                          <a:effectLst/>
                        </a:rPr>
                        <a:t>Track purchase frequency over 3 months for 1,000 loyalty program users and 1,000 non-users, matched by purchase history.</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35179213"/>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Seeing if a new mobile app design boosts daily active users.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daily users before and after redesign. </a:t>
                      </a:r>
                    </a:p>
                    <a:p>
                      <a:pPr marL="171450" indent="-115888" algn="l" fontAlgn="b">
                        <a:buFont typeface="Arial" panose="020B0604020202020204" pitchFamily="34" charset="0"/>
                        <a:buChar char="•"/>
                      </a:pPr>
                      <a:r>
                        <a:rPr lang="en-US" sz="1200" u="none" strike="noStrike" dirty="0">
                          <a:effectLst/>
                        </a:rPr>
                        <a:t>Monitor app usage data for 30 days before and after the redesign, using data from at least 5,000 active users.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9848200"/>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a:effectLst/>
                        </a:rPr>
                        <a:t>Measuring if customer satisfaction differs after a policy change.</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satisfaction ratings before and after the policy change. </a:t>
                      </a:r>
                    </a:p>
                    <a:p>
                      <a:pPr marL="171450" indent="-115888" algn="l" fontAlgn="b">
                        <a:buFont typeface="Arial" panose="020B0604020202020204" pitchFamily="34" charset="0"/>
                        <a:buChar char="•"/>
                      </a:pPr>
                      <a:r>
                        <a:rPr lang="en-US" sz="1200" u="none" strike="noStrike" dirty="0">
                          <a:effectLst/>
                        </a:rPr>
                        <a:t>Survey at least 500 customers before and after the policy change or use NPS ratings from two equivalent time periods.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36175784"/>
                  </a:ext>
                </a:extLst>
              </a:tr>
              <a:tr h="394528">
                <a:tc rowSpan="3">
                  <a:txBody>
                    <a:bodyPr/>
                    <a:lstStyle/>
                    <a:p>
                      <a:pPr algn="ctr" fontAlgn="b"/>
                      <a:r>
                        <a:rPr lang="en-US" sz="1200" u="none" strike="noStrike" dirty="0">
                          <a:effectLst/>
                        </a:rPr>
                        <a:t>Human Resources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Assessing whether remote work impacts employee productivity.</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productivity scores of remote vs. in-office workers. </a:t>
                      </a:r>
                    </a:p>
                    <a:p>
                      <a:pPr marL="171450" indent="-115888" algn="l" fontAlgn="b">
                        <a:buFont typeface="Arial" panose="020B0604020202020204" pitchFamily="34" charset="0"/>
                        <a:buChar char="•"/>
                      </a:pPr>
                      <a:r>
                        <a:rPr lang="en-US" sz="1200" u="none" strike="noStrike" dirty="0">
                          <a:effectLst/>
                        </a:rPr>
                        <a:t>Randomly select 200 remote and 200 in-office employees with similar roles. Track weekly productivity for 1 month.</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79735955"/>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Measuring if training improves sales team performance.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sales figures before and after training. </a:t>
                      </a:r>
                    </a:p>
                    <a:p>
                      <a:pPr marL="171450" indent="-115888" algn="l" fontAlgn="b">
                        <a:buFont typeface="Arial" panose="020B0604020202020204" pitchFamily="34" charset="0"/>
                        <a:buChar char="•"/>
                      </a:pPr>
                      <a:r>
                        <a:rPr lang="en-US" sz="1200" u="none" strike="noStrike" dirty="0">
                          <a:effectLst/>
                        </a:rPr>
                        <a:t>Analyze sales data from 100 employees for the 3 months before and after training. Normalize for seasonal trends.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557963868"/>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Testing if flexible hours reduce employee turnover.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turnover rates between employees with and without flexible hours. Track turnover across 1,000 employees with flexible hours and 1,000 without, matched on role and tenure, over a year.</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191415133"/>
                  </a:ext>
                </a:extLst>
              </a:tr>
            </a:tbl>
          </a:graphicData>
        </a:graphic>
      </p:graphicFrame>
    </p:spTree>
    <p:extLst>
      <p:ext uri="{BB962C8B-B14F-4D97-AF65-F5344CB8AC3E}">
        <p14:creationId xmlns:p14="http://schemas.microsoft.com/office/powerpoint/2010/main" val="1491057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B0B3D-603B-083B-DDE3-3128A6EB540A}"/>
              </a:ext>
            </a:extLst>
          </p:cNvPr>
          <p:cNvSpPr>
            <a:spLocks noGrp="1"/>
          </p:cNvSpPr>
          <p:nvPr>
            <p:ph type="title"/>
          </p:nvPr>
        </p:nvSpPr>
        <p:spPr/>
        <p:txBody>
          <a:bodyPr>
            <a:normAutofit/>
          </a:bodyPr>
          <a:lstStyle/>
          <a:p>
            <a:r>
              <a:rPr lang="en-US" dirty="0"/>
              <a:t>Key Concepts</a:t>
            </a:r>
          </a:p>
        </p:txBody>
      </p:sp>
      <p:sp>
        <p:nvSpPr>
          <p:cNvPr id="3" name="Content Placeholder 2">
            <a:extLst>
              <a:ext uri="{FF2B5EF4-FFF2-40B4-BE49-F238E27FC236}">
                <a16:creationId xmlns:a16="http://schemas.microsoft.com/office/drawing/2014/main" id="{0000BF45-F03F-9DA7-1D2D-DA7AAE61742B}"/>
              </a:ext>
            </a:extLst>
          </p:cNvPr>
          <p:cNvSpPr>
            <a:spLocks noGrp="1"/>
          </p:cNvSpPr>
          <p:nvPr>
            <p:ph idx="1"/>
          </p:nvPr>
        </p:nvSpPr>
        <p:spPr/>
        <p:txBody>
          <a:bodyPr>
            <a:normAutofit/>
          </a:bodyPr>
          <a:lstStyle/>
          <a:p>
            <a:pPr>
              <a:buFont typeface="Arial" panose="020B0604020202020204" pitchFamily="34" charset="0"/>
              <a:buChar char="•"/>
            </a:pPr>
            <a:r>
              <a:rPr lang="en-US" sz="1800" b="1" dirty="0"/>
              <a:t>Null Hypothesis (H₀):</a:t>
            </a:r>
            <a:r>
              <a:rPr lang="en-US" sz="1800" dirty="0"/>
              <a:t> A statement of no effect or no difference (usually we want to test this null state against a difference made by an intervention)</a:t>
            </a:r>
          </a:p>
          <a:p>
            <a:pPr>
              <a:buFont typeface="Arial" panose="020B0604020202020204" pitchFamily="34" charset="0"/>
              <a:buChar char="•"/>
            </a:pPr>
            <a:r>
              <a:rPr lang="en-US" sz="1800" b="1" dirty="0"/>
              <a:t>Alternative Hypothesis (H₁ or Ha):</a:t>
            </a:r>
            <a:r>
              <a:rPr lang="en-US" sz="1800" dirty="0"/>
              <a:t> What you want to prove – a statement of effect or difference.</a:t>
            </a:r>
          </a:p>
          <a:p>
            <a:pPr>
              <a:buFont typeface="Arial" panose="020B0604020202020204" pitchFamily="34" charset="0"/>
              <a:buChar char="•"/>
            </a:pPr>
            <a:r>
              <a:rPr lang="en-US" sz="1800" b="1" dirty="0"/>
              <a:t>Significance Level (α):</a:t>
            </a:r>
            <a:r>
              <a:rPr lang="en-US" sz="1800" dirty="0"/>
              <a:t> Probability of rejecting H₀ when it is actually true. Common choices: 0.05, 0.01.</a:t>
            </a:r>
          </a:p>
          <a:p>
            <a:pPr>
              <a:buFont typeface="Arial" panose="020B0604020202020204" pitchFamily="34" charset="0"/>
              <a:buChar char="•"/>
            </a:pPr>
            <a:r>
              <a:rPr lang="en-US" sz="1800" b="1" dirty="0"/>
              <a:t>p-value:</a:t>
            </a:r>
            <a:r>
              <a:rPr lang="en-US" sz="1800" dirty="0"/>
              <a:t> Probability of observing a result at least as extreme as the one obtained, assuming H₀ is true.</a:t>
            </a:r>
          </a:p>
          <a:p>
            <a:pPr>
              <a:buFont typeface="Arial" panose="020B0604020202020204" pitchFamily="34" charset="0"/>
              <a:buChar char="•"/>
            </a:pPr>
            <a:r>
              <a:rPr lang="en-US" sz="1800" b="1" dirty="0"/>
              <a:t>Test Statistic:</a:t>
            </a:r>
            <a:r>
              <a:rPr lang="en-US" sz="1800" dirty="0"/>
              <a:t> A value calculated from the sample to decide whether to reject H₀.</a:t>
            </a:r>
          </a:p>
          <a:p>
            <a:endParaRPr lang="en-US" sz="1800" dirty="0"/>
          </a:p>
        </p:txBody>
      </p:sp>
    </p:spTree>
    <p:extLst>
      <p:ext uri="{BB962C8B-B14F-4D97-AF65-F5344CB8AC3E}">
        <p14:creationId xmlns:p14="http://schemas.microsoft.com/office/powerpoint/2010/main" val="2580821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3074-4D12-D1C6-5F61-448A4B52C0E4}"/>
              </a:ext>
            </a:extLst>
          </p:cNvPr>
          <p:cNvSpPr>
            <a:spLocks noGrp="1"/>
          </p:cNvSpPr>
          <p:nvPr>
            <p:ph type="title"/>
          </p:nvPr>
        </p:nvSpPr>
        <p:spPr/>
        <p:txBody>
          <a:bodyPr>
            <a:normAutofit/>
          </a:bodyPr>
          <a:lstStyle/>
          <a:p>
            <a:r>
              <a:rPr lang="en-US"/>
              <a:t>The Null and The Alternative Hypothesis</a:t>
            </a:r>
            <a:endParaRPr lang="en-US" dirty="0"/>
          </a:p>
        </p:txBody>
      </p:sp>
      <p:sp>
        <p:nvSpPr>
          <p:cNvPr id="3" name="Content Placeholder 2">
            <a:extLst>
              <a:ext uri="{FF2B5EF4-FFF2-40B4-BE49-F238E27FC236}">
                <a16:creationId xmlns:a16="http://schemas.microsoft.com/office/drawing/2014/main" id="{6EDD0B1B-7CF7-24F1-1F17-D2E72F19BC91}"/>
              </a:ext>
            </a:extLst>
          </p:cNvPr>
          <p:cNvSpPr>
            <a:spLocks noGrp="1"/>
          </p:cNvSpPr>
          <p:nvPr>
            <p:ph idx="1"/>
          </p:nvPr>
        </p:nvSpPr>
        <p:spPr/>
        <p:txBody>
          <a:bodyPr>
            <a:normAutofit/>
          </a:bodyPr>
          <a:lstStyle/>
          <a:p>
            <a:r>
              <a:rPr lang="en-US" sz="2000" dirty="0"/>
              <a:t>When formulating a hypothesis test, we define two hypotheses: the null hypothesis (𝐻₀) and the alternative hypothesis (𝐻₁ or 𝐻ₐ).</a:t>
            </a:r>
          </a:p>
          <a:p>
            <a:r>
              <a:rPr lang="en-US" sz="2000" dirty="0"/>
              <a:t>These two hypotheses complement each other—only one of them can be valid.</a:t>
            </a:r>
          </a:p>
          <a:p>
            <a:r>
              <a:rPr lang="en-US" sz="2000" dirty="0">
                <a:solidFill>
                  <a:srgbClr val="00B050"/>
                </a:solidFill>
              </a:rPr>
              <a:t>For example, suppose a company claims that the average delivery time of its orders is 3 days. </a:t>
            </a:r>
          </a:p>
          <a:p>
            <a:r>
              <a:rPr lang="en-US" sz="2000" dirty="0">
                <a:solidFill>
                  <a:srgbClr val="00B050"/>
                </a:solidFill>
              </a:rPr>
              <a:t>To test this claim, the company defines the hypotheses as following:</a:t>
            </a:r>
          </a:p>
          <a:p>
            <a:pPr lvl="1"/>
            <a:r>
              <a:rPr lang="en-US" sz="1600" b="1" dirty="0"/>
              <a:t>The Null hypothesis 𝐻₀:</a:t>
            </a:r>
            <a:r>
              <a:rPr lang="en-US" sz="1600" dirty="0"/>
              <a:t> The average delivery time </a:t>
            </a:r>
            <a:r>
              <a:rPr lang="en-US" sz="1600" b="1" dirty="0"/>
              <a:t>IS EQUAL TO 3 days.</a:t>
            </a:r>
            <a:endParaRPr lang="en-US" sz="1600" dirty="0"/>
          </a:p>
          <a:p>
            <a:pPr lvl="1"/>
            <a:r>
              <a:rPr lang="en-US" sz="1600" b="1" dirty="0"/>
              <a:t>The Alternative hypothesis 𝐻ₐ:</a:t>
            </a:r>
            <a:r>
              <a:rPr lang="en-US" sz="1600" dirty="0"/>
              <a:t> The average delivery time </a:t>
            </a:r>
            <a:r>
              <a:rPr lang="en-US" sz="1600" b="1" dirty="0"/>
              <a:t>IS NOT 3 days.</a:t>
            </a:r>
            <a:endParaRPr lang="en-US" sz="1600" dirty="0"/>
          </a:p>
          <a:p>
            <a:r>
              <a:rPr lang="en-US" sz="2000" dirty="0"/>
              <a:t>Hypotheses are often expressed with symbols like this:</a:t>
            </a:r>
          </a:p>
          <a:p>
            <a:pPr indent="0">
              <a:buNone/>
            </a:pPr>
            <a:r>
              <a:rPr lang="en-US" sz="2000" dirty="0"/>
              <a:t>𝐻₀: μ = 3 days</a:t>
            </a:r>
          </a:p>
          <a:p>
            <a:pPr indent="0">
              <a:buNone/>
            </a:pPr>
            <a:r>
              <a:rPr lang="en-US" sz="2000" dirty="0"/>
              <a:t>𝐻ₐ: μ ≠ 3 days</a:t>
            </a:r>
          </a:p>
          <a:p>
            <a:r>
              <a:rPr lang="en-US" sz="2000" dirty="0"/>
              <a:t>Notice that the null hypothesis sets a </a:t>
            </a:r>
            <a:r>
              <a:rPr lang="en-US" sz="2000" b="1" dirty="0"/>
              <a:t>baseline</a:t>
            </a:r>
            <a:r>
              <a:rPr lang="en-US" sz="2000" dirty="0"/>
              <a:t> assuming no difference or effect—in this context, that the mean delivery time is not different from 3 days.</a:t>
            </a:r>
          </a:p>
          <a:p>
            <a:r>
              <a:rPr lang="en-US" sz="2000" dirty="0"/>
              <a:t>The burden of proof lies with the alternative hypothesis, which must show sufficient evidence that the average delivery time is different from 3 days.</a:t>
            </a:r>
          </a:p>
        </p:txBody>
      </p:sp>
    </p:spTree>
    <p:extLst>
      <p:ext uri="{BB962C8B-B14F-4D97-AF65-F5344CB8AC3E}">
        <p14:creationId xmlns:p14="http://schemas.microsoft.com/office/powerpoint/2010/main" val="321066667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84865-1F16-13E0-9E1E-5A3270CD9A12}"/>
              </a:ext>
            </a:extLst>
          </p:cNvPr>
          <p:cNvSpPr>
            <a:spLocks noGrp="1"/>
          </p:cNvSpPr>
          <p:nvPr>
            <p:ph type="title"/>
          </p:nvPr>
        </p:nvSpPr>
        <p:spPr/>
        <p:txBody>
          <a:bodyPr>
            <a:normAutofit/>
          </a:bodyPr>
          <a:lstStyle/>
          <a:p>
            <a:r>
              <a:rPr lang="en-US" dirty="0"/>
              <a:t>Choosing the Right Test</a:t>
            </a:r>
          </a:p>
        </p:txBody>
      </p:sp>
      <p:sp>
        <p:nvSpPr>
          <p:cNvPr id="3" name="Content Placeholder 2">
            <a:extLst>
              <a:ext uri="{FF2B5EF4-FFF2-40B4-BE49-F238E27FC236}">
                <a16:creationId xmlns:a16="http://schemas.microsoft.com/office/drawing/2014/main" id="{824BB7CB-062A-9641-CFB7-FD4BA5E16D55}"/>
              </a:ext>
            </a:extLst>
          </p:cNvPr>
          <p:cNvSpPr>
            <a:spLocks noGrp="1"/>
          </p:cNvSpPr>
          <p:nvPr>
            <p:ph idx="1"/>
          </p:nvPr>
        </p:nvSpPr>
        <p:spPr/>
        <p:txBody>
          <a:bodyPr>
            <a:normAutofit/>
          </a:bodyPr>
          <a:lstStyle/>
          <a:p>
            <a:pPr>
              <a:buFont typeface="Arial" panose="020B0604020202020204" pitchFamily="34" charset="0"/>
              <a:buChar char="•"/>
            </a:pPr>
            <a:r>
              <a:rPr lang="en-US" sz="2000" b="1" dirty="0"/>
              <a:t>One-sample z-test or t-test</a:t>
            </a:r>
            <a:r>
              <a:rPr lang="en-US" sz="2000" dirty="0"/>
              <a:t>: Compare sample mean to a known value.</a:t>
            </a:r>
          </a:p>
          <a:p>
            <a:r>
              <a:rPr lang="en-US" sz="2000" b="1" dirty="0"/>
              <a:t>Proportion test</a:t>
            </a:r>
            <a:r>
              <a:rPr lang="en-US" sz="2000" dirty="0"/>
              <a:t>: Compare sample proportion to a benchmark (e.g., open rate, conversion rate).</a:t>
            </a:r>
          </a:p>
          <a:p>
            <a:pPr>
              <a:buFont typeface="Arial" panose="020B0604020202020204" pitchFamily="34" charset="0"/>
              <a:buChar char="•"/>
            </a:pPr>
            <a:r>
              <a:rPr lang="en-US" sz="2000" b="1" dirty="0"/>
              <a:t>Two-sample t-test</a:t>
            </a:r>
            <a:r>
              <a:rPr lang="en-US" sz="2000" dirty="0"/>
              <a:t>: Compare means between two groups (e.g., control vs test).</a:t>
            </a:r>
          </a:p>
          <a:p>
            <a:pPr>
              <a:buFont typeface="Arial" panose="020B0604020202020204" pitchFamily="34" charset="0"/>
              <a:buChar char="•"/>
            </a:pPr>
            <a:r>
              <a:rPr lang="en-US" sz="2000" b="1" dirty="0"/>
              <a:t>Chi-square test</a:t>
            </a:r>
            <a:r>
              <a:rPr lang="en-US" sz="2000" dirty="0"/>
              <a:t>: Compare categorical variables (e.g., customer satisfaction vs region).</a:t>
            </a:r>
          </a:p>
          <a:p>
            <a:pPr>
              <a:buFont typeface="Arial" panose="020B0604020202020204" pitchFamily="34" charset="0"/>
              <a:buChar char="•"/>
            </a:pPr>
            <a:r>
              <a:rPr lang="en-US" sz="2000" b="1" dirty="0"/>
              <a:t>ANOVA Test: </a:t>
            </a:r>
            <a:r>
              <a:rPr lang="en-US" sz="2000" dirty="0"/>
              <a:t>Compare means between three or more groups.</a:t>
            </a:r>
          </a:p>
          <a:p>
            <a:endParaRPr lang="en-US" sz="2000" dirty="0"/>
          </a:p>
        </p:txBody>
      </p:sp>
    </p:spTree>
    <p:extLst>
      <p:ext uri="{BB962C8B-B14F-4D97-AF65-F5344CB8AC3E}">
        <p14:creationId xmlns:p14="http://schemas.microsoft.com/office/powerpoint/2010/main" val="92531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FCBE1-5973-D531-61D6-ED5DC3BF9290}"/>
              </a:ext>
            </a:extLst>
          </p:cNvPr>
          <p:cNvSpPr>
            <a:spLocks noGrp="1"/>
          </p:cNvSpPr>
          <p:nvPr>
            <p:ph type="title"/>
          </p:nvPr>
        </p:nvSpPr>
        <p:spPr/>
        <p:txBody>
          <a:bodyPr>
            <a:normAutofit/>
          </a:bodyPr>
          <a:lstStyle/>
          <a:p>
            <a:r>
              <a:rPr lang="en-US" dirty="0"/>
              <a:t>The Process</a:t>
            </a:r>
          </a:p>
        </p:txBody>
      </p:sp>
      <p:sp>
        <p:nvSpPr>
          <p:cNvPr id="3" name="Content Placeholder 2">
            <a:extLst>
              <a:ext uri="{FF2B5EF4-FFF2-40B4-BE49-F238E27FC236}">
                <a16:creationId xmlns:a16="http://schemas.microsoft.com/office/drawing/2014/main" id="{EA8F50AE-67A3-4DA6-636F-307131D9883A}"/>
              </a:ext>
            </a:extLst>
          </p:cNvPr>
          <p:cNvSpPr>
            <a:spLocks noGrp="1"/>
          </p:cNvSpPr>
          <p:nvPr>
            <p:ph idx="1"/>
          </p:nvPr>
        </p:nvSpPr>
        <p:spPr/>
        <p:txBody>
          <a:bodyPr>
            <a:normAutofit/>
          </a:bodyPr>
          <a:lstStyle/>
          <a:p>
            <a:pPr marL="401638" indent="-401638">
              <a:buFont typeface="+mj-lt"/>
              <a:buAutoNum type="arabicPeriod"/>
            </a:pPr>
            <a:r>
              <a:rPr lang="en-US" sz="2000" b="1" dirty="0"/>
              <a:t>State</a:t>
            </a:r>
            <a:r>
              <a:rPr lang="en-US" sz="2000" dirty="0"/>
              <a:t> H₀ and Ha.</a:t>
            </a:r>
          </a:p>
          <a:p>
            <a:pPr marL="401638" indent="-401638">
              <a:buFont typeface="+mj-lt"/>
              <a:buAutoNum type="arabicPeriod"/>
            </a:pPr>
            <a:r>
              <a:rPr lang="en-US" sz="2000" b="1" dirty="0"/>
              <a:t>Choose</a:t>
            </a:r>
            <a:r>
              <a:rPr lang="en-US" sz="2000" dirty="0"/>
              <a:t> α (e.g., 0.05).</a:t>
            </a:r>
          </a:p>
          <a:p>
            <a:pPr marL="401638" indent="-401638">
              <a:buFont typeface="+mj-lt"/>
              <a:buAutoNum type="arabicPeriod"/>
            </a:pPr>
            <a:r>
              <a:rPr lang="en-US" sz="2000" b="1" dirty="0"/>
              <a:t>Collect data </a:t>
            </a:r>
            <a:r>
              <a:rPr lang="en-US" sz="2000" dirty="0"/>
              <a:t>and compute a test statistic.</a:t>
            </a:r>
          </a:p>
          <a:p>
            <a:pPr marL="401638" indent="-401638">
              <a:buFont typeface="+mj-lt"/>
              <a:buAutoNum type="arabicPeriod"/>
            </a:pPr>
            <a:r>
              <a:rPr lang="en-US" sz="2000" b="1" dirty="0"/>
              <a:t>Compute</a:t>
            </a:r>
            <a:r>
              <a:rPr lang="en-US" sz="2000" dirty="0"/>
              <a:t> the p-value.</a:t>
            </a:r>
          </a:p>
          <a:p>
            <a:pPr marL="401638" indent="-401638">
              <a:buFont typeface="+mj-lt"/>
              <a:buAutoNum type="arabicPeriod"/>
            </a:pPr>
            <a:r>
              <a:rPr lang="en-US" sz="2000" b="1" dirty="0"/>
              <a:t>Compare</a:t>
            </a:r>
            <a:r>
              <a:rPr lang="en-US" sz="2000" dirty="0"/>
              <a:t> p-value to α.</a:t>
            </a:r>
          </a:p>
          <a:p>
            <a:pPr marL="401638" indent="-401638">
              <a:buFont typeface="+mj-lt"/>
              <a:buAutoNum type="arabicPeriod"/>
            </a:pPr>
            <a:r>
              <a:rPr lang="en-US" sz="2000" b="1" dirty="0"/>
              <a:t>Decision:</a:t>
            </a:r>
            <a:r>
              <a:rPr lang="en-US" sz="2000" dirty="0"/>
              <a:t> Reject or fail to reject H₀.</a:t>
            </a:r>
          </a:p>
          <a:p>
            <a:endParaRPr lang="en-US" sz="2000" dirty="0"/>
          </a:p>
        </p:txBody>
      </p:sp>
      <p:sp>
        <p:nvSpPr>
          <p:cNvPr id="5" name="TextBox 4">
            <a:extLst>
              <a:ext uri="{FF2B5EF4-FFF2-40B4-BE49-F238E27FC236}">
                <a16:creationId xmlns:a16="http://schemas.microsoft.com/office/drawing/2014/main" id="{7FA96860-97C8-BED7-3F67-76A89E8DD9DD}"/>
              </a:ext>
            </a:extLst>
          </p:cNvPr>
          <p:cNvSpPr txBox="1"/>
          <p:nvPr/>
        </p:nvSpPr>
        <p:spPr>
          <a:xfrm>
            <a:off x="897408" y="4332238"/>
            <a:ext cx="10402845" cy="2031325"/>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002060"/>
                </a:solidFill>
              </a:rPr>
              <a:t>Note: We cannot we accept the null hypothesis, we can only reject it or fail to reject it. </a:t>
            </a:r>
          </a:p>
          <a:p>
            <a:pPr marL="285750" indent="-285750">
              <a:buFont typeface="Arial" panose="020B0604020202020204" pitchFamily="34" charset="0"/>
              <a:buChar char="•"/>
            </a:pPr>
            <a:r>
              <a:rPr lang="en-US" sz="1800" dirty="0">
                <a:solidFill>
                  <a:srgbClr val="002060"/>
                </a:solidFill>
              </a:rPr>
              <a:t>The basis for this testing process comes from logic. </a:t>
            </a:r>
          </a:p>
          <a:p>
            <a:pPr marL="285750" indent="-285750">
              <a:buFont typeface="Arial" panose="020B0604020202020204" pitchFamily="34" charset="0"/>
              <a:buChar char="•"/>
            </a:pPr>
            <a:r>
              <a:rPr lang="en-US" sz="1800" dirty="0">
                <a:solidFill>
                  <a:srgbClr val="002060"/>
                </a:solidFill>
              </a:rPr>
              <a:t>For example, if our null hypothesis = All students live in Amman, it will be challenging to check if all students live in Amman. </a:t>
            </a:r>
          </a:p>
          <a:p>
            <a:pPr marL="285750" indent="-285750">
              <a:buFont typeface="Arial" panose="020B0604020202020204" pitchFamily="34" charset="0"/>
              <a:buChar char="•"/>
            </a:pPr>
            <a:r>
              <a:rPr lang="en-US" sz="1800" dirty="0">
                <a:solidFill>
                  <a:srgbClr val="002060"/>
                </a:solidFill>
              </a:rPr>
              <a:t>On the other hand, it will be much easier to find just one student who does not live in Amman and therefore reject the null hypothesis.</a:t>
            </a:r>
          </a:p>
          <a:p>
            <a:pPr marL="285750" indent="-285750">
              <a:buFont typeface="Arial" panose="020B0604020202020204" pitchFamily="34" charset="0"/>
              <a:buChar char="•"/>
            </a:pPr>
            <a:r>
              <a:rPr lang="en-US" dirty="0">
                <a:solidFill>
                  <a:srgbClr val="002060"/>
                </a:solidFill>
                <a:sym typeface="Wingdings" panose="05000000000000000000" pitchFamily="2" charset="2"/>
              </a:rPr>
              <a:t>Rejecting is much easier that proving or accepting the hypothesis.</a:t>
            </a:r>
            <a:endParaRPr lang="en-US" sz="1800" dirty="0">
              <a:solidFill>
                <a:srgbClr val="002060"/>
              </a:solidFill>
            </a:endParaRPr>
          </a:p>
        </p:txBody>
      </p:sp>
    </p:spTree>
    <p:extLst>
      <p:ext uri="{BB962C8B-B14F-4D97-AF65-F5344CB8AC3E}">
        <p14:creationId xmlns:p14="http://schemas.microsoft.com/office/powerpoint/2010/main" val="1031230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DA0647-7AF5-DD7C-1B41-78F17A7E63A1}"/>
              </a:ext>
            </a:extLst>
          </p:cNvPr>
          <p:cNvSpPr>
            <a:spLocks noGrp="1"/>
          </p:cNvSpPr>
          <p:nvPr>
            <p:ph type="title"/>
          </p:nvPr>
        </p:nvSpPr>
        <p:spPr/>
        <p:txBody>
          <a:bodyPr>
            <a:noAutofit/>
          </a:bodyPr>
          <a:lstStyle/>
          <a:p>
            <a:r>
              <a:rPr lang="en-US" sz="3600" dirty="0"/>
              <a:t>More about Hypothesis Testing Core Concepts</a:t>
            </a:r>
          </a:p>
        </p:txBody>
      </p:sp>
      <p:sp>
        <p:nvSpPr>
          <p:cNvPr id="5" name="Text Placeholder 4">
            <a:extLst>
              <a:ext uri="{FF2B5EF4-FFF2-40B4-BE49-F238E27FC236}">
                <a16:creationId xmlns:a16="http://schemas.microsoft.com/office/drawing/2014/main" id="{413AEE11-B789-35FF-7213-F4A2550B3A5B}"/>
              </a:ext>
            </a:extLst>
          </p:cNvPr>
          <p:cNvSpPr>
            <a:spLocks noGrp="1"/>
          </p:cNvSpPr>
          <p:nvPr>
            <p:ph type="body" idx="1"/>
          </p:nvPr>
        </p:nvSpPr>
        <p:spPr/>
        <p:txBody>
          <a:bodyPr/>
          <a:lstStyle/>
          <a:p>
            <a:r>
              <a:rPr lang="en-US" dirty="0"/>
              <a:t>Alpha value, The Test Statistic and Critical Values, P-Value, Type I and Type II Errors</a:t>
            </a:r>
          </a:p>
        </p:txBody>
      </p:sp>
    </p:spTree>
    <p:extLst>
      <p:ext uri="{BB962C8B-B14F-4D97-AF65-F5344CB8AC3E}">
        <p14:creationId xmlns:p14="http://schemas.microsoft.com/office/powerpoint/2010/main" val="71253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487A-E34A-BD2F-3353-00B40D7031BE}"/>
              </a:ext>
            </a:extLst>
          </p:cNvPr>
          <p:cNvSpPr>
            <a:spLocks noGrp="1"/>
          </p:cNvSpPr>
          <p:nvPr>
            <p:ph type="title"/>
          </p:nvPr>
        </p:nvSpPr>
        <p:spPr/>
        <p:txBody>
          <a:bodyPr>
            <a:normAutofit/>
          </a:bodyPr>
          <a:lstStyle/>
          <a:p>
            <a:r>
              <a:rPr lang="en-US" dirty="0"/>
              <a:t>The Significance Level α</a:t>
            </a:r>
          </a:p>
        </p:txBody>
      </p:sp>
      <p:sp>
        <p:nvSpPr>
          <p:cNvPr id="5" name="Content Placeholder 4">
            <a:extLst>
              <a:ext uri="{FF2B5EF4-FFF2-40B4-BE49-F238E27FC236}">
                <a16:creationId xmlns:a16="http://schemas.microsoft.com/office/drawing/2014/main" id="{B0E4E7FB-FE36-574B-CC96-F23D77146AFF}"/>
              </a:ext>
            </a:extLst>
          </p:cNvPr>
          <p:cNvSpPr>
            <a:spLocks noGrp="1"/>
          </p:cNvSpPr>
          <p:nvPr>
            <p:ph idx="1"/>
          </p:nvPr>
        </p:nvSpPr>
        <p:spPr>
          <a:xfrm>
            <a:off x="838200" y="1706007"/>
            <a:ext cx="6767086" cy="3692105"/>
          </a:xfrm>
        </p:spPr>
        <p:txBody>
          <a:bodyPr>
            <a:normAutofit/>
          </a:bodyPr>
          <a:lstStyle/>
          <a:p>
            <a:r>
              <a:rPr lang="en-US" sz="2000" dirty="0"/>
              <a:t>Before conducting the test, we need to set the significance level α.</a:t>
            </a:r>
          </a:p>
          <a:p>
            <a:r>
              <a:rPr lang="en-US" sz="2000" dirty="0"/>
              <a:t>The significance level is a measure of the strength of the evidence that must be present in our sample to reject the null hypothesis and conclude that the effect is statistically significant.</a:t>
            </a:r>
          </a:p>
          <a:p>
            <a:r>
              <a:rPr lang="en-US" sz="2000" dirty="0"/>
              <a:t>Typical significance levels are: α=0.1 (10%), α=0.05 (5%), α=0.01 (1%)</a:t>
            </a:r>
          </a:p>
          <a:p>
            <a:r>
              <a:rPr lang="en-US" sz="2000" dirty="0"/>
              <a:t>A lower significance level means that the evidence in the data needs to be stronger to reject the null hypothesis.</a:t>
            </a:r>
          </a:p>
          <a:p>
            <a:endParaRPr lang="en-US" sz="2000" dirty="0"/>
          </a:p>
          <a:p>
            <a:endParaRPr lang="en-US" sz="2000" dirty="0"/>
          </a:p>
          <a:p>
            <a:endParaRPr lang="en-US" sz="2000" dirty="0"/>
          </a:p>
        </p:txBody>
      </p:sp>
      <p:sp>
        <p:nvSpPr>
          <p:cNvPr id="6" name="TextBox 5">
            <a:extLst>
              <a:ext uri="{FF2B5EF4-FFF2-40B4-BE49-F238E27FC236}">
                <a16:creationId xmlns:a16="http://schemas.microsoft.com/office/drawing/2014/main" id="{B5B5FFA3-967E-D8E4-1A11-89C495E60B52}"/>
              </a:ext>
            </a:extLst>
          </p:cNvPr>
          <p:cNvSpPr txBox="1"/>
          <p:nvPr/>
        </p:nvSpPr>
        <p:spPr>
          <a:xfrm>
            <a:off x="838200" y="5398112"/>
            <a:ext cx="11566109" cy="646331"/>
          </a:xfrm>
          <a:prstGeom prst="rect">
            <a:avLst/>
          </a:prstGeom>
          <a:noFill/>
        </p:spPr>
        <p:txBody>
          <a:bodyPr wrap="square">
            <a:spAutoFit/>
          </a:bodyPr>
          <a:lstStyle/>
          <a:p>
            <a:r>
              <a:rPr lang="en-US" dirty="0">
                <a:solidFill>
                  <a:schemeClr val="tx1"/>
                </a:solidFill>
              </a:rPr>
              <a:t>There is no "correct" significance level - it only states the amount of uncertainty of the conclusion.</a:t>
            </a:r>
          </a:p>
          <a:p>
            <a:r>
              <a:rPr lang="en-US" dirty="0">
                <a:solidFill>
                  <a:schemeClr val="tx1"/>
                </a:solidFill>
              </a:rPr>
              <a:t>A 5% significance level means that we expect to reject a true null hypothesis 5 out of 100 times (Type I Error).</a:t>
            </a:r>
          </a:p>
        </p:txBody>
      </p:sp>
      <p:pic>
        <p:nvPicPr>
          <p:cNvPr id="1026" name="Picture 2">
            <a:extLst>
              <a:ext uri="{FF2B5EF4-FFF2-40B4-BE49-F238E27FC236}">
                <a16:creationId xmlns:a16="http://schemas.microsoft.com/office/drawing/2014/main" id="{7FD0E909-D888-5380-3D95-DD3531D1A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344" y="1823512"/>
            <a:ext cx="4471957" cy="2798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83453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8AF4-0307-FD53-A745-7E2B161A2319}"/>
              </a:ext>
            </a:extLst>
          </p:cNvPr>
          <p:cNvSpPr>
            <a:spLocks noGrp="1"/>
          </p:cNvSpPr>
          <p:nvPr>
            <p:ph type="title"/>
          </p:nvPr>
        </p:nvSpPr>
        <p:spPr/>
        <p:txBody>
          <a:bodyPr>
            <a:normAutofit/>
          </a:bodyPr>
          <a:lstStyle/>
          <a:p>
            <a:r>
              <a:rPr lang="en-US" dirty="0"/>
              <a:t>The Test Statistic</a:t>
            </a:r>
          </a:p>
        </p:txBody>
      </p:sp>
      <p:sp>
        <p:nvSpPr>
          <p:cNvPr id="3" name="Content Placeholder 2">
            <a:extLst>
              <a:ext uri="{FF2B5EF4-FFF2-40B4-BE49-F238E27FC236}">
                <a16:creationId xmlns:a16="http://schemas.microsoft.com/office/drawing/2014/main" id="{9C63430E-FDB7-CB7F-BEA3-572BBA88365E}"/>
              </a:ext>
            </a:extLst>
          </p:cNvPr>
          <p:cNvSpPr>
            <a:spLocks noGrp="1"/>
          </p:cNvSpPr>
          <p:nvPr>
            <p:ph idx="1"/>
          </p:nvPr>
        </p:nvSpPr>
        <p:spPr>
          <a:xfrm>
            <a:off x="838200" y="1706006"/>
            <a:ext cx="10515600" cy="4656693"/>
          </a:xfrm>
        </p:spPr>
        <p:txBody>
          <a:bodyPr>
            <a:normAutofit/>
          </a:bodyPr>
          <a:lstStyle/>
          <a:p>
            <a:r>
              <a:rPr lang="en-US" sz="2800" dirty="0"/>
              <a:t>The test statistic is the value we compute based on the sample data that we collect.</a:t>
            </a:r>
          </a:p>
          <a:p>
            <a:r>
              <a:rPr lang="en-US" sz="2800" dirty="0"/>
              <a:t>The test statistic is used to decide the outcome of the hypothesis test.</a:t>
            </a:r>
          </a:p>
          <a:p>
            <a:r>
              <a:rPr lang="en-US" sz="2800" dirty="0"/>
              <a:t>We standardize test statistic using:</a:t>
            </a:r>
          </a:p>
          <a:p>
            <a:pPr lvl="1"/>
            <a:r>
              <a:rPr lang="en-US" sz="2400" dirty="0"/>
              <a:t>Z Standard Normal Distribution for large samples or when the variance is known.</a:t>
            </a:r>
          </a:p>
          <a:p>
            <a:pPr lvl="1"/>
            <a:r>
              <a:rPr lang="en-US" sz="2400" dirty="0"/>
              <a:t>The Student's T-Distribution (T) for small samples and the population variance is unknown.</a:t>
            </a:r>
          </a:p>
          <a:p>
            <a:endParaRPr lang="en-US" sz="2800" dirty="0"/>
          </a:p>
          <a:p>
            <a:endParaRPr lang="en-US" sz="2800" dirty="0"/>
          </a:p>
        </p:txBody>
      </p:sp>
    </p:spTree>
    <p:extLst>
      <p:ext uri="{BB962C8B-B14F-4D97-AF65-F5344CB8AC3E}">
        <p14:creationId xmlns:p14="http://schemas.microsoft.com/office/powerpoint/2010/main" val="12719567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330C-E858-8B64-06EF-02A52F678D67}"/>
              </a:ext>
            </a:extLst>
          </p:cNvPr>
          <p:cNvSpPr>
            <a:spLocks noGrp="1"/>
          </p:cNvSpPr>
          <p:nvPr>
            <p:ph type="title"/>
          </p:nvPr>
        </p:nvSpPr>
        <p:spPr/>
        <p:txBody>
          <a:bodyPr/>
          <a:lstStyle/>
          <a:p>
            <a:r>
              <a:rPr lang="en-US" dirty="0"/>
              <a:t>Computing the </a:t>
            </a:r>
            <a:r>
              <a:rPr lang="en-US"/>
              <a:t>Test Statistic</a:t>
            </a:r>
          </a:p>
        </p:txBody>
      </p:sp>
      <p:pic>
        <p:nvPicPr>
          <p:cNvPr id="5" name="Content Placeholder 4">
            <a:extLst>
              <a:ext uri="{FF2B5EF4-FFF2-40B4-BE49-F238E27FC236}">
                <a16:creationId xmlns:a16="http://schemas.microsoft.com/office/drawing/2014/main" id="{AD5F3CA8-5D05-4ADB-A9D8-338689C221C2}"/>
              </a:ext>
            </a:extLst>
          </p:cNvPr>
          <p:cNvPicPr>
            <a:picLocks noGrp="1" noChangeAspect="1"/>
          </p:cNvPicPr>
          <p:nvPr>
            <p:ph idx="1"/>
          </p:nvPr>
        </p:nvPicPr>
        <p:blipFill>
          <a:blip r:embed="rId2"/>
          <a:stretch>
            <a:fillRect/>
          </a:stretch>
        </p:blipFill>
        <p:spPr>
          <a:xfrm>
            <a:off x="838200" y="1545731"/>
            <a:ext cx="10515600" cy="5197970"/>
          </a:xfrm>
        </p:spPr>
      </p:pic>
    </p:spTree>
    <p:extLst>
      <p:ext uri="{BB962C8B-B14F-4D97-AF65-F5344CB8AC3E}">
        <p14:creationId xmlns:p14="http://schemas.microsoft.com/office/powerpoint/2010/main" val="1317643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A Word about The Types of Populations Hypothesis Tests</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199" y="1706007"/>
            <a:ext cx="11458903" cy="4991039"/>
          </a:xfrm>
        </p:spPr>
        <p:txBody>
          <a:bodyPr>
            <a:normAutofit/>
          </a:bodyPr>
          <a:lstStyle/>
          <a:p>
            <a:pPr marL="0" indent="0">
              <a:buNone/>
            </a:pPr>
            <a:r>
              <a:rPr lang="en-US" sz="2000" dirty="0">
                <a:solidFill>
                  <a:srgbClr val="002060"/>
                </a:solidFill>
              </a:rPr>
              <a:t>Basically, there are many types of tests that are available. </a:t>
            </a:r>
          </a:p>
          <a:p>
            <a:pPr marL="0" indent="0">
              <a:buNone/>
            </a:pPr>
            <a:r>
              <a:rPr lang="en-US" sz="2000" dirty="0">
                <a:solidFill>
                  <a:srgbClr val="002060"/>
                </a:solidFill>
              </a:rPr>
              <a:t>The type of test depends on the number of populations involved in the test, the value being tested(numerical or categorical), the knowing of the variance and the sample size.</a:t>
            </a:r>
          </a:p>
          <a:p>
            <a:pPr marL="342900" indent="-342900">
              <a:buFont typeface="+mj-lt"/>
              <a:buAutoNum type="arabicPeriod"/>
            </a:pPr>
            <a:r>
              <a:rPr lang="en-US" sz="1600" dirty="0">
                <a:solidFill>
                  <a:schemeClr val="bg1">
                    <a:lumMod val="65000"/>
                  </a:schemeClr>
                </a:solidFill>
              </a:rPr>
              <a:t>Z-test: Used for normally distributed data when the variance is known.</a:t>
            </a:r>
          </a:p>
          <a:p>
            <a:pPr marL="460375" lvl="1"/>
            <a:r>
              <a:rPr lang="en-US" sz="1400" dirty="0">
                <a:solidFill>
                  <a:schemeClr val="bg1">
                    <a:lumMod val="65000"/>
                  </a:schemeClr>
                </a:solidFill>
              </a:rPr>
              <a:t>One-sample z-test: Tests the mean of a single group against a known mean.</a:t>
            </a:r>
          </a:p>
          <a:p>
            <a:pPr marL="460375" lvl="1"/>
            <a:r>
              <a:rPr lang="en-US" sz="1400" dirty="0">
                <a:solidFill>
                  <a:schemeClr val="bg1">
                    <a:lumMod val="65000"/>
                  </a:schemeClr>
                </a:solidFill>
              </a:rPr>
              <a:t>Two-sample z-test: Compares the means of two dependent groups (paired test).</a:t>
            </a:r>
          </a:p>
          <a:p>
            <a:pPr marL="460375" lvl="1"/>
            <a:r>
              <a:rPr lang="en-US" sz="1400" dirty="0">
                <a:solidFill>
                  <a:schemeClr val="bg1">
                    <a:lumMod val="65000"/>
                  </a:schemeClr>
                </a:solidFill>
              </a:rPr>
              <a:t>Two-sample z-test: Compares the means of two independent groups.</a:t>
            </a:r>
          </a:p>
          <a:p>
            <a:pPr marL="342900" indent="-342900">
              <a:buFont typeface="+mj-lt"/>
              <a:buAutoNum type="arabicPeriod"/>
            </a:pPr>
            <a:r>
              <a:rPr lang="en-US" sz="1600" dirty="0"/>
              <a:t>T-test: Used for normally distributed data when the variance is unknown.</a:t>
            </a:r>
          </a:p>
          <a:p>
            <a:pPr marL="460375" lvl="1"/>
            <a:r>
              <a:rPr lang="en-US" sz="1400" dirty="0"/>
              <a:t>One-sample t-test: Tests the mean of a single group against a known mean.</a:t>
            </a:r>
          </a:p>
          <a:p>
            <a:pPr marL="460375" lvl="1"/>
            <a:r>
              <a:rPr lang="en-US" sz="1400" dirty="0"/>
              <a:t>Two-sample t-test: Compares the means of two dependent groups (paired test).</a:t>
            </a:r>
          </a:p>
          <a:p>
            <a:pPr marL="460375" lvl="1"/>
            <a:r>
              <a:rPr lang="en-US" sz="1400" dirty="0"/>
              <a:t>Two-sample t-test: Compares the means of two independent groups (variance assumed to be equal).</a:t>
            </a:r>
          </a:p>
          <a:p>
            <a:pPr marL="460375" lvl="1"/>
            <a:r>
              <a:rPr lang="en-US" sz="1400" dirty="0"/>
              <a:t>Two-sample t-test: Compares the means of two independent groups (variance assumed to be not equal).</a:t>
            </a:r>
          </a:p>
          <a:p>
            <a:pPr marL="342900" indent="-342900">
              <a:buFont typeface="+mj-lt"/>
              <a:buAutoNum type="arabicPeriod"/>
            </a:pPr>
            <a:r>
              <a:rPr lang="en-US" sz="1600" dirty="0"/>
              <a:t>Proportion Test: Compare sample proportion to a benchmark (e.g., open rate, conversion rate).</a:t>
            </a:r>
          </a:p>
          <a:p>
            <a:pPr marL="342900" indent="-342900">
              <a:buFont typeface="+mj-lt"/>
              <a:buAutoNum type="arabicPeriod"/>
            </a:pPr>
            <a:r>
              <a:rPr lang="en-US" sz="1600" dirty="0"/>
              <a:t>ANOVA (Analysis of Variance): Used to compare the means of three or more samples.</a:t>
            </a:r>
          </a:p>
          <a:p>
            <a:pPr marL="342900" indent="-342900">
              <a:buFont typeface="+mj-lt"/>
              <a:buAutoNum type="arabicPeriod"/>
            </a:pPr>
            <a:r>
              <a:rPr lang="en-US" sz="1600" dirty="0"/>
              <a:t>Chi-square test: Tests for relationships between categorical variables.</a:t>
            </a:r>
          </a:p>
        </p:txBody>
      </p:sp>
    </p:spTree>
    <p:extLst>
      <p:ext uri="{BB962C8B-B14F-4D97-AF65-F5344CB8AC3E}">
        <p14:creationId xmlns:p14="http://schemas.microsoft.com/office/powerpoint/2010/main" val="274322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and the p-Value Approach to Hypothesis Testing</a:t>
            </a:r>
          </a:p>
        </p:txBody>
      </p:sp>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p:txBody>
          <a:bodyPr>
            <a:normAutofit fontScale="85000" lnSpcReduction="10000"/>
          </a:bodyPr>
          <a:lstStyle/>
          <a:p>
            <a:r>
              <a:rPr lang="en-US" dirty="0"/>
              <a:t>To decide whether to reject the null hypothesis, a test statistic is calculated. </a:t>
            </a:r>
          </a:p>
          <a:p>
            <a:r>
              <a:rPr lang="en-US" dirty="0"/>
              <a:t>The decision is made based on the numerical value of that test statistic. </a:t>
            </a:r>
          </a:p>
          <a:p>
            <a:r>
              <a:rPr lang="en-US" dirty="0"/>
              <a:t>There are two approaches how to arrive at that decision: The critical value approach and the p-value approach.</a:t>
            </a:r>
          </a:p>
          <a:p>
            <a:pPr marL="0" indent="0">
              <a:buNone/>
            </a:pPr>
            <a:r>
              <a:rPr lang="en-US" b="1" dirty="0"/>
              <a:t>The critical value approach</a:t>
            </a:r>
          </a:p>
          <a:p>
            <a:r>
              <a:rPr lang="en-US" dirty="0"/>
              <a:t>By applying the critical value approach, it is determined, whether the observed test statistic is more extreme than a defined critical value. </a:t>
            </a:r>
          </a:p>
          <a:p>
            <a:r>
              <a:rPr lang="en-US" dirty="0"/>
              <a:t>Therefore, the observed test statistic (calculated based on sample data) is compared to the critical value (a kind of cutoff value). </a:t>
            </a:r>
          </a:p>
          <a:p>
            <a:r>
              <a:rPr lang="en-US" dirty="0"/>
              <a:t>If the test statistic is more extreme than the critical value, the null hypothesis is rejected. </a:t>
            </a:r>
          </a:p>
          <a:p>
            <a:r>
              <a:rPr lang="en-US" dirty="0"/>
              <a:t>If the test statistic is not as extreme as the critical value, the null hypothesis is not rejected. </a:t>
            </a:r>
          </a:p>
          <a:p>
            <a:r>
              <a:rPr lang="en-US" dirty="0"/>
              <a:t>The critical value is computed based on the given significance level α  and the type of probability distribution of the idealized model. </a:t>
            </a:r>
          </a:p>
          <a:p>
            <a:r>
              <a:rPr lang="en-US" dirty="0"/>
              <a:t>The critical value divides the area under the probability distribution curve in rejection region(s) and non-rejection region.</a:t>
            </a:r>
          </a:p>
        </p:txBody>
      </p:sp>
      <p:pic>
        <p:nvPicPr>
          <p:cNvPr id="4" name="Picture 6" descr="References">
            <a:hlinkClick r:id="rId2"/>
            <a:extLst>
              <a:ext uri="{FF2B5EF4-FFF2-40B4-BE49-F238E27FC236}">
                <a16:creationId xmlns:a16="http://schemas.microsoft.com/office/drawing/2014/main" id="{E2AC14FF-C77E-AD19-DC4F-868271BE2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060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Approach to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a:xfrm>
                <a:off x="838200" y="1706008"/>
                <a:ext cx="10515600" cy="1722992"/>
              </a:xfrm>
            </p:spPr>
            <p:txBody>
              <a:bodyPr>
                <a:normAutofit fontScale="55000" lnSpcReduction="20000"/>
              </a:bodyPr>
              <a:lstStyle/>
              <a:p>
                <a:r>
                  <a:rPr lang="en-US" dirty="0"/>
                  <a:t>The following three figures show a two tailed test, a left tailed test and a right sided test.</a:t>
                </a:r>
              </a:p>
              <a:p>
                <a:r>
                  <a:rPr lang="en-US" dirty="0"/>
                  <a:t>In a two-sided test the null hypothesis is rejected if the test statistic is either too small or too large. Thus, the rejection region for such a test consists of two parts: one on the left and one on the right.</a:t>
                </a:r>
              </a:p>
              <a:p>
                <a:r>
                  <a:rPr lang="en-US" dirty="0"/>
                  <a:t>For a left-tailed test the null hypothesis is rejected, if the test statistic is too small. Thus, the rejection region for such a test consists of one part, which is left from the center.</a:t>
                </a:r>
              </a:p>
              <a:p>
                <a:r>
                  <a:rPr lang="en-US" dirty="0"/>
                  <a:t>For a right-tailed test the null hypothesis is rejected, if the test statistic is too large. Thus, the rejection region for such a test consists of one part, which is right from the center.</a:t>
                </a:r>
              </a:p>
              <a:p>
                <a:r>
                  <a:rPr lang="en-US" dirty="0"/>
                  <a:t>Note: if p≤α , reject </a:t>
                </a:r>
                <a14:m>
                  <m:oMath xmlns:m="http://schemas.openxmlformats.org/officeDocument/2006/math">
                    <m:sSub>
                      <m:sSubPr>
                        <m:ctrlPr>
                          <a:rPr lang="pt-BR" sz="2400" i="1" smtClean="0">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𝐻</m:t>
                        </m:r>
                      </m:e>
                      <m:sub>
                        <m:r>
                          <a:rPr lang="en-US" sz="2400" b="0" i="1" smtClean="0">
                            <a:solidFill>
                              <a:srgbClr val="002060"/>
                            </a:solidFill>
                            <a:latin typeface="Cambria Math" panose="02040503050406030204" pitchFamily="18" charset="0"/>
                          </a:rPr>
                          <m:t>0</m:t>
                        </m:r>
                      </m:sub>
                    </m:sSub>
                  </m:oMath>
                </a14:m>
                <a:r>
                  <a:rPr lang="en-US" dirty="0"/>
                  <a:t> ; otherwise, if p&gt;α , do not reject </a:t>
                </a:r>
                <a14:m>
                  <m:oMath xmlns:m="http://schemas.openxmlformats.org/officeDocument/2006/math">
                    <m:sSub>
                      <m:sSubPr>
                        <m:ctrlPr>
                          <a:rPr lang="pt-BR"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𝐻</m:t>
                        </m:r>
                      </m:e>
                      <m:sub>
                        <m:r>
                          <a:rPr lang="en-US" i="1">
                            <a:solidFill>
                              <a:srgbClr val="002060"/>
                            </a:solidFill>
                            <a:latin typeface="Cambria Math" panose="02040503050406030204" pitchFamily="18" charset="0"/>
                          </a:rPr>
                          <m:t>0</m:t>
                        </m:r>
                      </m:sub>
                    </m:sSub>
                  </m:oMath>
                </a14:m>
                <a:r>
                  <a:rPr lang="en-US" dirty="0"/>
                  <a:t> </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DF87DE55-B814-CE89-F334-43E01245F2F3}"/>
                  </a:ext>
                </a:extLst>
              </p:cNvPr>
              <p:cNvSpPr>
                <a:spLocks noGrp="1" noRot="1" noChangeAspect="1" noMove="1" noResize="1" noEditPoints="1" noAdjustHandles="1" noChangeArrowheads="1" noChangeShapeType="1" noTextEdit="1"/>
              </p:cNvSpPr>
              <p:nvPr>
                <p:ph idx="1"/>
              </p:nvPr>
            </p:nvSpPr>
            <p:spPr>
              <a:xfrm>
                <a:off x="838200" y="1706008"/>
                <a:ext cx="10515600" cy="1722992"/>
              </a:xfrm>
              <a:blipFill>
                <a:blip r:embed="rId2"/>
                <a:stretch>
                  <a:fillRect l="-58" t="-3180" b="-2827"/>
                </a:stretch>
              </a:blipFill>
            </p:spPr>
            <p:txBody>
              <a:bodyPr/>
              <a:lstStyle/>
              <a:p>
                <a:r>
                  <a:rPr lang="en-US">
                    <a:noFill/>
                  </a:rPr>
                  <a:t> </a:t>
                </a:r>
              </a:p>
            </p:txBody>
          </p:sp>
        </mc:Fallback>
      </mc:AlternateContent>
      <p:pic>
        <p:nvPicPr>
          <p:cNvPr id="4" name="Content Placeholder 19">
            <a:extLst>
              <a:ext uri="{FF2B5EF4-FFF2-40B4-BE49-F238E27FC236}">
                <a16:creationId xmlns:a16="http://schemas.microsoft.com/office/drawing/2014/main" id="{6D339C92-E6BD-089E-37A5-449F37557F6E}"/>
              </a:ext>
            </a:extLst>
          </p:cNvPr>
          <p:cNvPicPr>
            <a:picLocks noChangeAspect="1"/>
          </p:cNvPicPr>
          <p:nvPr/>
        </p:nvPicPr>
        <p:blipFill>
          <a:blip r:embed="rId3"/>
          <a:stretch>
            <a:fillRect/>
          </a:stretch>
        </p:blipFill>
        <p:spPr>
          <a:xfrm>
            <a:off x="1941692" y="3798608"/>
            <a:ext cx="7909185" cy="3012351"/>
          </a:xfrm>
          <a:prstGeom prst="rect">
            <a:avLst/>
          </a:prstGeom>
        </p:spPr>
      </p:pic>
      <p:pic>
        <p:nvPicPr>
          <p:cNvPr id="5" name="Picture 6" descr="References">
            <a:hlinkClick r:id="rId4"/>
            <a:extLst>
              <a:ext uri="{FF2B5EF4-FFF2-40B4-BE49-F238E27FC236}">
                <a16:creationId xmlns:a16="http://schemas.microsoft.com/office/drawing/2014/main" id="{8B72D4EF-FD2B-CABB-8DB2-7EC7197074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689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67BF3A6-7F1B-A426-CBBE-B3026AD360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381" y="3558803"/>
            <a:ext cx="6623138" cy="329919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E23A9E-CFA6-8DB8-8A86-326FDC984276}"/>
              </a:ext>
            </a:extLst>
          </p:cNvPr>
          <p:cNvSpPr>
            <a:spLocks noGrp="1"/>
          </p:cNvSpPr>
          <p:nvPr>
            <p:ph type="title"/>
          </p:nvPr>
        </p:nvSpPr>
        <p:spPr>
          <a:xfrm>
            <a:off x="377371" y="797523"/>
            <a:ext cx="11422743" cy="748208"/>
          </a:xfrm>
        </p:spPr>
        <p:txBody>
          <a:bodyPr/>
          <a:lstStyle/>
          <a:p>
            <a:r>
              <a:rPr lang="en-US" dirty="0"/>
              <a:t>The p-Value Approach to Hypothesis Testing</a:t>
            </a:r>
          </a:p>
        </p:txBody>
      </p:sp>
      <p:sp>
        <p:nvSpPr>
          <p:cNvPr id="3" name="Content Placeholder 2">
            <a:extLst>
              <a:ext uri="{FF2B5EF4-FFF2-40B4-BE49-F238E27FC236}">
                <a16:creationId xmlns:a16="http://schemas.microsoft.com/office/drawing/2014/main" id="{4A45A649-6990-06EF-697E-90241C4765BF}"/>
              </a:ext>
            </a:extLst>
          </p:cNvPr>
          <p:cNvSpPr>
            <a:spLocks noGrp="1"/>
          </p:cNvSpPr>
          <p:nvPr>
            <p:ph idx="1"/>
          </p:nvPr>
        </p:nvSpPr>
        <p:spPr>
          <a:xfrm>
            <a:off x="377371" y="1706007"/>
            <a:ext cx="11655901" cy="2146146"/>
          </a:xfrm>
        </p:spPr>
        <p:txBody>
          <a:bodyPr>
            <a:normAutofit fontScale="92500"/>
          </a:bodyPr>
          <a:lstStyle/>
          <a:p>
            <a:r>
              <a:rPr lang="en-US" dirty="0"/>
              <a:t>The p-value represents:</a:t>
            </a:r>
          </a:p>
          <a:p>
            <a:pPr lvl="1"/>
            <a:r>
              <a:rPr lang="en-US" dirty="0"/>
              <a:t>The probability of observing the sample data or more extreme values, given that the null hypothesis is true. </a:t>
            </a:r>
          </a:p>
          <a:p>
            <a:pPr lvl="1"/>
            <a:r>
              <a:rPr lang="en-US" dirty="0"/>
              <a:t>The amount of evidence against the null hypothesis, the smaller (closer to 0) the p-value, the stronger is the evidence against the null hypothesis.</a:t>
            </a:r>
          </a:p>
          <a:p>
            <a:r>
              <a:rPr lang="en-US" dirty="0"/>
              <a:t>If the p-value (</a:t>
            </a:r>
            <a:r>
              <a:rPr lang="en-US" b="1" dirty="0">
                <a:solidFill>
                  <a:srgbClr val="00B050"/>
                </a:solidFill>
                <a:highlight>
                  <a:srgbClr val="000000"/>
                </a:highlight>
              </a:rPr>
              <a:t>Green Area</a:t>
            </a:r>
            <a:r>
              <a:rPr lang="en-US" dirty="0"/>
              <a:t>) is less than or equal to the specified significance level α (</a:t>
            </a:r>
            <a:r>
              <a:rPr lang="en-US" b="1" dirty="0">
                <a:solidFill>
                  <a:srgbClr val="FFFF00"/>
                </a:solidFill>
                <a:highlight>
                  <a:srgbClr val="000000"/>
                </a:highlight>
              </a:rPr>
              <a:t>Yellow Area</a:t>
            </a:r>
            <a:r>
              <a:rPr lang="en-US" dirty="0"/>
              <a:t>) , the null hypothesis is rejected. Otherwise, we fail to reject the null hypothesis.</a:t>
            </a:r>
          </a:p>
        </p:txBody>
      </p:sp>
      <p:pic>
        <p:nvPicPr>
          <p:cNvPr id="4" name="Picture 6" descr="References">
            <a:hlinkClick r:id="rId3"/>
            <a:extLst>
              <a:ext uri="{FF2B5EF4-FFF2-40B4-BE49-F238E27FC236}">
                <a16:creationId xmlns:a16="http://schemas.microsoft.com/office/drawing/2014/main" id="{6D7F5D72-2FE2-DE7D-0BAA-23A70B989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2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D486D5-F9EB-1E31-5A72-CFF06B022A1C}"/>
              </a:ext>
            </a:extLst>
          </p:cNvPr>
          <p:cNvPicPr>
            <a:picLocks noChangeAspect="1"/>
          </p:cNvPicPr>
          <p:nvPr/>
        </p:nvPicPr>
        <p:blipFill>
          <a:blip r:embed="rId2"/>
          <a:stretch>
            <a:fillRect/>
          </a:stretch>
        </p:blipFill>
        <p:spPr>
          <a:xfrm>
            <a:off x="6904207" y="1489946"/>
            <a:ext cx="5097293" cy="2712397"/>
          </a:xfrm>
          <a:prstGeom prst="rect">
            <a:avLst/>
          </a:prstGeom>
        </p:spPr>
      </p:pic>
      <p:sp>
        <p:nvSpPr>
          <p:cNvPr id="2" name="Title 1">
            <a:extLst>
              <a:ext uri="{FF2B5EF4-FFF2-40B4-BE49-F238E27FC236}">
                <a16:creationId xmlns:a16="http://schemas.microsoft.com/office/drawing/2014/main" id="{EDA4EA0A-656C-AB04-5933-DAF3669A1E5D}"/>
              </a:ext>
            </a:extLst>
          </p:cNvPr>
          <p:cNvSpPr>
            <a:spLocks noGrp="1"/>
          </p:cNvSpPr>
          <p:nvPr>
            <p:ph type="title"/>
          </p:nvPr>
        </p:nvSpPr>
        <p:spPr/>
        <p:txBody>
          <a:bodyPr>
            <a:normAutofit/>
          </a:bodyPr>
          <a:lstStyle/>
          <a:p>
            <a:r>
              <a:rPr lang="en-US" dirty="0"/>
              <a:t>Type I and Type II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39E73-E4B1-B270-38F4-561DBDF4B3FE}"/>
                  </a:ext>
                </a:extLst>
              </p:cNvPr>
              <p:cNvSpPr>
                <a:spLocks noGrp="1"/>
              </p:cNvSpPr>
              <p:nvPr>
                <p:ph idx="1"/>
              </p:nvPr>
            </p:nvSpPr>
            <p:spPr>
              <a:xfrm>
                <a:off x="838200" y="1706008"/>
                <a:ext cx="5821680" cy="2743200"/>
              </a:xfrm>
            </p:spPr>
            <p:txBody>
              <a:bodyPr>
                <a:normAutofit fontScale="92500" lnSpcReduction="10000"/>
              </a:bodyPr>
              <a:lstStyle/>
              <a:p>
                <a:pPr marL="0" indent="0">
                  <a:buNone/>
                </a:pPr>
                <a:r>
                  <a:rPr lang="en-US" sz="2000" dirty="0"/>
                  <a:t>Type I and Type II errors are two potential forms of incorrect conclusions in hypothesis testing. </a:t>
                </a:r>
              </a:p>
              <a:p>
                <a:r>
                  <a:rPr lang="en-US" sz="2000" dirty="0"/>
                  <a:t>Type I Error (False Positive): Rejecting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actually true.</a:t>
                </a:r>
              </a:p>
              <a:p>
                <a:r>
                  <a:rPr lang="en-US" sz="2000" dirty="0"/>
                  <a:t>Type II Error (False Negative): Failing to reject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false.</a:t>
                </a:r>
              </a:p>
              <a:p>
                <a:r>
                  <a:rPr lang="en-US" sz="2000" dirty="0"/>
                  <a:t>The acceptable level of Type I error is designated by alpha (α), while the acceptable level of Type II error is designated beta (β).</a:t>
                </a:r>
              </a:p>
            </p:txBody>
          </p:sp>
        </mc:Choice>
        <mc:Fallback xmlns="">
          <p:sp>
            <p:nvSpPr>
              <p:cNvPr id="3" name="Content Placeholder 2">
                <a:extLst>
                  <a:ext uri="{FF2B5EF4-FFF2-40B4-BE49-F238E27FC236}">
                    <a16:creationId xmlns:a16="http://schemas.microsoft.com/office/drawing/2014/main" id="{D0D39E73-E4B1-B270-38F4-561DBDF4B3FE}"/>
                  </a:ext>
                </a:extLst>
              </p:cNvPr>
              <p:cNvSpPr>
                <a:spLocks noGrp="1" noRot="1" noChangeAspect="1" noMove="1" noResize="1" noEditPoints="1" noAdjustHandles="1" noChangeArrowheads="1" noChangeShapeType="1" noTextEdit="1"/>
              </p:cNvSpPr>
              <p:nvPr>
                <p:ph idx="1"/>
              </p:nvPr>
            </p:nvSpPr>
            <p:spPr>
              <a:xfrm>
                <a:off x="838200" y="1706008"/>
                <a:ext cx="5821680" cy="2743200"/>
              </a:xfrm>
              <a:blipFill>
                <a:blip r:embed="rId3"/>
                <a:stretch>
                  <a:fillRect l="-1047" t="-2889" r="-157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A66BE83-5C94-2B66-0F14-846707F8741F}"/>
              </a:ext>
            </a:extLst>
          </p:cNvPr>
          <p:cNvSpPr txBox="1">
            <a:spLocks/>
          </p:cNvSpPr>
          <p:nvPr/>
        </p:nvSpPr>
        <p:spPr>
          <a:xfrm>
            <a:off x="838200" y="4449207"/>
            <a:ext cx="11163300" cy="240879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Type I error occurs when the null hypothesis is incorrectly rejected when it is actually true. </a:t>
            </a:r>
          </a:p>
          <a:p>
            <a:r>
              <a:rPr lang="en-US" dirty="0"/>
              <a:t>Conversely, a Type II error happens when the null hypothesis is not rejected when it is in fact false, akin to a false negative, where we fail to detect a true effect or difference.</a:t>
            </a:r>
          </a:p>
          <a:p>
            <a:r>
              <a:rPr lang="en-US" dirty="0"/>
              <a:t>Consider a pharmaceutical company deciding whether a new drug is effective. A Type I error would occur if the company concludes the drug works when it does not, potentially leading to a costly recall and reputation damage when the truth emerges. </a:t>
            </a:r>
          </a:p>
          <a:p>
            <a:r>
              <a:rPr lang="en-US" dirty="0"/>
              <a:t>On the other hand, a Type II error would be failing to recognize the drug's efficacy, missing out on the opportunity to bring a beneficial product to market, which can result in lost revenue and competitive disadvantage. The company must balance these risks, often prioritizing the avoidance of one type of error over the other based on the potential costs and impacts associated with each.</a:t>
            </a:r>
          </a:p>
        </p:txBody>
      </p:sp>
    </p:spTree>
    <p:extLst>
      <p:ext uri="{BB962C8B-B14F-4D97-AF65-F5344CB8AC3E}">
        <p14:creationId xmlns:p14="http://schemas.microsoft.com/office/powerpoint/2010/main" val="24182562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4000" dirty="0"/>
              <a:t>Hypothesis Testing Examples</a:t>
            </a:r>
          </a:p>
        </p:txBody>
      </p:sp>
    </p:spTree>
    <p:extLst>
      <p:ext uri="{BB962C8B-B14F-4D97-AF65-F5344CB8AC3E}">
        <p14:creationId xmlns:p14="http://schemas.microsoft.com/office/powerpoint/2010/main" val="202107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1066-5E1F-D590-1DD5-281CA7392180}"/>
              </a:ext>
            </a:extLst>
          </p:cNvPr>
          <p:cNvSpPr>
            <a:spLocks noGrp="1"/>
          </p:cNvSpPr>
          <p:nvPr>
            <p:ph type="title"/>
          </p:nvPr>
        </p:nvSpPr>
        <p:spPr/>
        <p:txBody>
          <a:bodyPr/>
          <a:lstStyle/>
          <a:p>
            <a:r>
              <a:rPr lang="en-US" dirty="0"/>
              <a:t>One Sample Test – Testing for Two Tails</a:t>
            </a:r>
          </a:p>
        </p:txBody>
      </p:sp>
      <p:sp>
        <p:nvSpPr>
          <p:cNvPr id="3" name="Content Placeholder 2">
            <a:extLst>
              <a:ext uri="{FF2B5EF4-FFF2-40B4-BE49-F238E27FC236}">
                <a16:creationId xmlns:a16="http://schemas.microsoft.com/office/drawing/2014/main" id="{9EEBD037-F2F6-F6F8-7D39-D7CB11DF5590}"/>
              </a:ext>
            </a:extLst>
          </p:cNvPr>
          <p:cNvSpPr>
            <a:spLocks noGrp="1"/>
          </p:cNvSpPr>
          <p:nvPr>
            <p:ph idx="1"/>
          </p:nvPr>
        </p:nvSpPr>
        <p:spPr>
          <a:xfrm>
            <a:off x="838198" y="1706007"/>
            <a:ext cx="6975802" cy="5151993"/>
          </a:xfrm>
        </p:spPr>
        <p:txBody>
          <a:bodyPr>
            <a:noAutofit/>
          </a:bodyPr>
          <a:lstStyle/>
          <a:p>
            <a:pPr>
              <a:buFont typeface="Arial" panose="020B0604020202020204" pitchFamily="34" charset="0"/>
              <a:buChar char="•"/>
            </a:pPr>
            <a:r>
              <a:rPr lang="en-US" sz="1800" b="1" dirty="0"/>
              <a:t>Scenario:</a:t>
            </a:r>
            <a:r>
              <a:rPr lang="en-US" sz="1800" dirty="0"/>
              <a:t> A logistics company believe that its average delivery time is equal to 3 days.</a:t>
            </a:r>
          </a:p>
          <a:p>
            <a:pPr>
              <a:buFont typeface="Arial" panose="020B0604020202020204" pitchFamily="34" charset="0"/>
              <a:buChar char="•"/>
            </a:pPr>
            <a:r>
              <a:rPr lang="en-US" sz="1800" dirty="0"/>
              <a:t>The company wants to test this belief.</a:t>
            </a:r>
          </a:p>
          <a:p>
            <a:pPr>
              <a:buFont typeface="Arial" panose="020B0604020202020204" pitchFamily="34" charset="0"/>
              <a:buChar char="•"/>
            </a:pPr>
            <a:r>
              <a:rPr lang="en-US" sz="1800" dirty="0"/>
              <a:t>Therefore, the company sets the test hypothesis as follows:</a:t>
            </a:r>
          </a:p>
          <a:p>
            <a:pPr indent="0">
              <a:buNone/>
            </a:pPr>
            <a:r>
              <a:rPr lang="en-US" sz="1800" dirty="0">
                <a:solidFill>
                  <a:srgbClr val="0070C0"/>
                </a:solidFill>
              </a:rPr>
              <a:t>Is there enough evidence (at α = .05) to conclude that the population mean delivery time for the company is equal to 3 days?</a:t>
            </a:r>
          </a:p>
          <a:p>
            <a:pPr marL="457200" indent="-55563">
              <a:buNone/>
            </a:pPr>
            <a:r>
              <a:rPr lang="en-US" sz="1800" dirty="0">
                <a:solidFill>
                  <a:srgbClr val="0070C0"/>
                </a:solidFill>
              </a:rPr>
              <a:t>H₀: μ </a:t>
            </a:r>
            <a:r>
              <a:rPr lang="en-US" sz="1400" dirty="0">
                <a:solidFill>
                  <a:srgbClr val="0070C0"/>
                </a:solidFill>
              </a:rPr>
              <a:t>=</a:t>
            </a:r>
            <a:r>
              <a:rPr lang="en-US" sz="1800" dirty="0">
                <a:solidFill>
                  <a:srgbClr val="0070C0"/>
                </a:solidFill>
              </a:rPr>
              <a:t> 3</a:t>
            </a:r>
          </a:p>
          <a:p>
            <a:pPr marL="457200" indent="-55563">
              <a:buNone/>
            </a:pPr>
            <a:r>
              <a:rPr lang="en-US" sz="1800" dirty="0">
                <a:solidFill>
                  <a:srgbClr val="0070C0"/>
                </a:solidFill>
              </a:rPr>
              <a:t>Ha: μ </a:t>
            </a:r>
            <a:r>
              <a:rPr lang="en-US" sz="1400" dirty="0">
                <a:solidFill>
                  <a:srgbClr val="0070C0"/>
                </a:solidFill>
              </a:rPr>
              <a:t>≠</a:t>
            </a:r>
            <a:r>
              <a:rPr lang="en-US" sz="1800" dirty="0">
                <a:solidFill>
                  <a:srgbClr val="0070C0"/>
                </a:solidFill>
              </a:rPr>
              <a:t> 3</a:t>
            </a:r>
          </a:p>
          <a:p>
            <a:pPr>
              <a:buFont typeface="Arial" panose="020B0604020202020204" pitchFamily="34" charset="0"/>
              <a:buChar char="•"/>
            </a:pPr>
            <a:r>
              <a:rPr lang="en-US" sz="1800" dirty="0"/>
              <a:t>The company then collected a sample data of 40 deliveries times.</a:t>
            </a:r>
          </a:p>
          <a:p>
            <a:pPr>
              <a:buFont typeface="Arial" panose="020B0604020202020204" pitchFamily="34" charset="0"/>
              <a:buChar char="•"/>
            </a:pPr>
            <a:r>
              <a:rPr lang="en-US" sz="1800" dirty="0"/>
              <a:t>Using the collected data, the t-statistic will be computed.</a:t>
            </a:r>
          </a:p>
          <a:p>
            <a:endParaRPr lang="en-US" sz="1800" dirty="0"/>
          </a:p>
          <a:p>
            <a:endParaRPr lang="en-US" sz="1800" dirty="0"/>
          </a:p>
          <a:p>
            <a:r>
              <a:rPr lang="en-US" sz="1800" dirty="0"/>
              <a:t>If the test statistic is within the rejection region, we reject the null hypothesis, otherwise we fail to reject the null hypothesis.</a:t>
            </a:r>
          </a:p>
        </p:txBody>
      </p:sp>
      <p:pic>
        <p:nvPicPr>
          <p:cNvPr id="4" name="Picture 2" descr="Generalized illustration of the rejection and non-rejection areas of a two-sided test">
            <a:extLst>
              <a:ext uri="{FF2B5EF4-FFF2-40B4-BE49-F238E27FC236}">
                <a16:creationId xmlns:a16="http://schemas.microsoft.com/office/drawing/2014/main" id="{71455631-8EF4-33F7-4366-5B1E5917D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1207" y="1995615"/>
            <a:ext cx="3442593" cy="24589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BA077B4-C5EF-4AD0-1470-1D186FFA39C8}"/>
              </a:ext>
            </a:extLst>
          </p:cNvPr>
          <p:cNvPicPr>
            <a:picLocks noChangeAspect="1"/>
          </p:cNvPicPr>
          <p:nvPr/>
        </p:nvPicPr>
        <p:blipFill>
          <a:blip r:embed="rId3"/>
          <a:stretch>
            <a:fillRect/>
          </a:stretch>
        </p:blipFill>
        <p:spPr>
          <a:xfrm>
            <a:off x="1144049" y="5237350"/>
            <a:ext cx="1120734" cy="632110"/>
          </a:xfrm>
          <a:prstGeom prst="rect">
            <a:avLst/>
          </a:prstGeom>
        </p:spPr>
      </p:pic>
    </p:spTree>
    <p:extLst>
      <p:ext uri="{BB962C8B-B14F-4D97-AF65-F5344CB8AC3E}">
        <p14:creationId xmlns:p14="http://schemas.microsoft.com/office/powerpoint/2010/main" val="4156722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6C842-CEF3-295F-73F8-395A55C54678}"/>
              </a:ext>
            </a:extLst>
          </p:cNvPr>
          <p:cNvSpPr>
            <a:spLocks noGrp="1"/>
          </p:cNvSpPr>
          <p:nvPr>
            <p:ph type="title"/>
          </p:nvPr>
        </p:nvSpPr>
        <p:spPr/>
        <p:txBody>
          <a:bodyPr/>
          <a:lstStyle/>
          <a:p>
            <a:r>
              <a:rPr lang="en-US" dirty="0"/>
              <a:t>Implement the Test in Excel</a:t>
            </a:r>
          </a:p>
        </p:txBody>
      </p:sp>
      <p:graphicFrame>
        <p:nvGraphicFramePr>
          <p:cNvPr id="4" name="Content Placeholder 3">
            <a:extLst>
              <a:ext uri="{FF2B5EF4-FFF2-40B4-BE49-F238E27FC236}">
                <a16:creationId xmlns:a16="http://schemas.microsoft.com/office/drawing/2014/main" id="{086C2520-EBA7-E03F-B30E-32D2B7759012}"/>
              </a:ext>
            </a:extLst>
          </p:cNvPr>
          <p:cNvGraphicFramePr>
            <a:graphicFrameLocks noGrp="1"/>
          </p:cNvGraphicFramePr>
          <p:nvPr>
            <p:ph idx="1"/>
            <p:extLst>
              <p:ext uri="{D42A27DB-BD31-4B8C-83A1-F6EECF244321}">
                <p14:modId xmlns:p14="http://schemas.microsoft.com/office/powerpoint/2010/main" val="3205769273"/>
              </p:ext>
            </p:extLst>
          </p:nvPr>
        </p:nvGraphicFramePr>
        <p:xfrm>
          <a:off x="8543466" y="1703514"/>
          <a:ext cx="3263900" cy="2545080"/>
        </p:xfrm>
        <a:graphic>
          <a:graphicData uri="http://schemas.openxmlformats.org/drawingml/2006/table">
            <a:tbl>
              <a:tblPr>
                <a:tableStyleId>{616DA210-FB5B-4158-B5E0-FEB733F419BA}</a:tableStyleId>
              </a:tblPr>
              <a:tblGrid>
                <a:gridCol w="1422400">
                  <a:extLst>
                    <a:ext uri="{9D8B030D-6E8A-4147-A177-3AD203B41FA5}">
                      <a16:colId xmlns:a16="http://schemas.microsoft.com/office/drawing/2014/main" val="1546262271"/>
                    </a:ext>
                  </a:extLst>
                </a:gridCol>
                <a:gridCol w="1841500">
                  <a:extLst>
                    <a:ext uri="{9D8B030D-6E8A-4147-A177-3AD203B41FA5}">
                      <a16:colId xmlns:a16="http://schemas.microsoft.com/office/drawing/2014/main" val="2028979270"/>
                    </a:ext>
                  </a:extLst>
                </a:gridCol>
              </a:tblGrid>
              <a:tr h="200025">
                <a:tc gridSpan="2">
                  <a:txBody>
                    <a:bodyPr/>
                    <a:lstStyle/>
                    <a:p>
                      <a:pPr algn="ctr" fontAlgn="b"/>
                      <a:r>
                        <a:rPr lang="en-US" sz="1100" b="0" i="0" u="none" strike="noStrike" dirty="0">
                          <a:solidFill>
                            <a:srgbClr val="000000"/>
                          </a:solidFill>
                          <a:effectLst/>
                          <a:latin typeface="Aptos Narrow" panose="020B0004020202020204" pitchFamily="34" charset="0"/>
                        </a:rPr>
                        <a:t>Test Results</a:t>
                      </a:r>
                    </a:p>
                  </a:txBody>
                  <a:tcPr marL="9525" marR="9525" marT="9525" marB="0" anchor="b"/>
                </a:tc>
                <a:tc hMerge="1">
                  <a:txBody>
                    <a:bodyPr/>
                    <a:lstStyle/>
                    <a:p>
                      <a:pPr algn="ctr" fontAlgn="b"/>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89144579"/>
                  </a:ext>
                </a:extLst>
              </a:tr>
              <a:tr h="200025">
                <a:tc>
                  <a:txBody>
                    <a:bodyPr/>
                    <a:lstStyle/>
                    <a:p>
                      <a:pPr algn="ctr" fontAlgn="b"/>
                      <a:r>
                        <a:rPr lang="en-US" sz="1100" u="none" strike="noStrike" dirty="0">
                          <a:effectLst/>
                        </a:rPr>
                        <a:t> </a:t>
                      </a:r>
                      <a:endParaRPr lang="en-US" sz="11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Delivery Times</a:t>
                      </a:r>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65454025"/>
                  </a:ext>
                </a:extLst>
              </a:tr>
              <a:tr h="200025">
                <a:tc>
                  <a:txBody>
                    <a:bodyPr/>
                    <a:lstStyle/>
                    <a:p>
                      <a:pPr algn="ctr" fontAlgn="b"/>
                      <a:r>
                        <a:rPr lang="en-US" sz="1100" u="none" strike="noStrike">
                          <a:effectLst/>
                        </a:rPr>
                        <a:t>Mean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2961616"/>
                  </a:ext>
                </a:extLst>
              </a:tr>
              <a:tr h="200025">
                <a:tc>
                  <a:txBody>
                    <a:bodyPr/>
                    <a:lstStyle/>
                    <a:p>
                      <a:pPr algn="ctr" fontAlgn="b"/>
                      <a:r>
                        <a:rPr lang="en-US" sz="1100" u="none" strike="noStrike">
                          <a:effectLst/>
                        </a:rPr>
                        <a:t>Variance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1.887179487</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6361160"/>
                  </a:ext>
                </a:extLst>
              </a:tr>
              <a:tr h="200025">
                <a:tc>
                  <a:txBody>
                    <a:bodyPr/>
                    <a:lstStyle/>
                    <a:p>
                      <a:pPr algn="ctr" fontAlgn="b"/>
                      <a:r>
                        <a:rPr lang="en-US" sz="1100" u="none" strike="noStrike" dirty="0">
                          <a:effectLst/>
                        </a:rPr>
                        <a:t>Observations</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0390264"/>
                  </a:ext>
                </a:extLst>
              </a:tr>
              <a:tr h="200025">
                <a:tc>
                  <a:txBody>
                    <a:bodyPr/>
                    <a:lstStyle/>
                    <a:p>
                      <a:pPr algn="ctr" fontAlgn="b"/>
                      <a:r>
                        <a:rPr lang="en-US" sz="1100" u="none" strike="noStrike">
                          <a:effectLst/>
                        </a:rPr>
                        <a:t>Hypothesized Mean Difference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8762036"/>
                  </a:ext>
                </a:extLst>
              </a:tr>
              <a:tr h="200025">
                <a:tc>
                  <a:txBody>
                    <a:bodyPr/>
                    <a:lstStyle/>
                    <a:p>
                      <a:pPr algn="ctr" fontAlgn="b"/>
                      <a:r>
                        <a:rPr lang="en-US" sz="1100" u="none" strike="noStrike">
                          <a:effectLst/>
                        </a:rPr>
                        <a:t>df</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39</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22467766"/>
                  </a:ext>
                </a:extLst>
              </a:tr>
              <a:tr h="200025">
                <a:tc>
                  <a:txBody>
                    <a:bodyPr/>
                    <a:lstStyle/>
                    <a:p>
                      <a:pPr algn="ctr" fontAlgn="b"/>
                      <a:r>
                        <a:rPr lang="en-US" sz="1100" u="none" strike="noStrike">
                          <a:solidFill>
                            <a:srgbClr val="FF0000"/>
                          </a:solidFill>
                          <a:effectLst/>
                        </a:rPr>
                        <a:t>t Stat</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1.841549442</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65641766"/>
                  </a:ext>
                </a:extLst>
              </a:tr>
              <a:tr h="200025">
                <a:tc>
                  <a:txBody>
                    <a:bodyPr/>
                    <a:lstStyle/>
                    <a:p>
                      <a:pPr algn="ctr" fontAlgn="b"/>
                      <a:r>
                        <a:rPr lang="en-US" sz="1100" u="none" strike="noStrike">
                          <a:effectLst/>
                        </a:rPr>
                        <a:t>P(T&lt;=t) one-tail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0.036577924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15428023"/>
                  </a:ext>
                </a:extLst>
              </a:tr>
              <a:tr h="200025">
                <a:tc>
                  <a:txBody>
                    <a:bodyPr/>
                    <a:lstStyle/>
                    <a:p>
                      <a:pPr algn="ctr" fontAlgn="b"/>
                      <a:r>
                        <a:rPr lang="en-US" sz="1100" u="none" strike="noStrike">
                          <a:effectLst/>
                        </a:rPr>
                        <a:t>t Critical one-tail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1.684875122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30876925"/>
                  </a:ext>
                </a:extLst>
              </a:tr>
              <a:tr h="200025">
                <a:tc>
                  <a:txBody>
                    <a:bodyPr/>
                    <a:lstStyle/>
                    <a:p>
                      <a:pPr algn="ctr" fontAlgn="b"/>
                      <a:r>
                        <a:rPr lang="en-US" sz="1100" u="none" strike="noStrike" dirty="0">
                          <a:solidFill>
                            <a:srgbClr val="FF0000"/>
                          </a:solidFill>
                          <a:effectLst/>
                        </a:rPr>
                        <a:t>P(T&lt;=t) two-tail</a:t>
                      </a:r>
                      <a:endParaRPr lang="en-US" sz="1100" b="0" i="0" u="none" strike="noStrike" dirty="0">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0.073155849</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810841"/>
                  </a:ext>
                </a:extLst>
              </a:tr>
              <a:tr h="200025">
                <a:tc>
                  <a:txBody>
                    <a:bodyPr/>
                    <a:lstStyle/>
                    <a:p>
                      <a:pPr algn="ctr" fontAlgn="b"/>
                      <a:r>
                        <a:rPr lang="en-US" sz="1100" u="none" strike="noStrike" dirty="0">
                          <a:effectLst/>
                        </a:rPr>
                        <a:t>t Critical two-tail</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2.02269092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65155114"/>
                  </a:ext>
                </a:extLst>
              </a:tr>
            </a:tbl>
          </a:graphicData>
        </a:graphic>
      </p:graphicFrame>
      <p:grpSp>
        <p:nvGrpSpPr>
          <p:cNvPr id="13" name="Group 12">
            <a:extLst>
              <a:ext uri="{FF2B5EF4-FFF2-40B4-BE49-F238E27FC236}">
                <a16:creationId xmlns:a16="http://schemas.microsoft.com/office/drawing/2014/main" id="{72C7410F-33BA-AABF-7902-2E4639B9A93D}"/>
              </a:ext>
            </a:extLst>
          </p:cNvPr>
          <p:cNvGrpSpPr/>
          <p:nvPr/>
        </p:nvGrpSpPr>
        <p:grpSpPr>
          <a:xfrm>
            <a:off x="838199" y="1686298"/>
            <a:ext cx="4308389" cy="4893675"/>
            <a:chOff x="1058093" y="1698655"/>
            <a:chExt cx="3814566" cy="4256903"/>
          </a:xfrm>
        </p:grpSpPr>
        <p:pic>
          <p:nvPicPr>
            <p:cNvPr id="12" name="Picture 11">
              <a:extLst>
                <a:ext uri="{FF2B5EF4-FFF2-40B4-BE49-F238E27FC236}">
                  <a16:creationId xmlns:a16="http://schemas.microsoft.com/office/drawing/2014/main" id="{EE51A42D-B5E2-896D-AFA8-37D7EBE6BF50}"/>
                </a:ext>
              </a:extLst>
            </p:cNvPr>
            <p:cNvPicPr>
              <a:picLocks noChangeAspect="1"/>
            </p:cNvPicPr>
            <p:nvPr/>
          </p:nvPicPr>
          <p:blipFill>
            <a:blip r:embed="rId2"/>
            <a:stretch>
              <a:fillRect/>
            </a:stretch>
          </p:blipFill>
          <p:spPr>
            <a:xfrm>
              <a:off x="1058093" y="1698655"/>
              <a:ext cx="3814566" cy="4256903"/>
            </a:xfrm>
            <a:prstGeom prst="rect">
              <a:avLst/>
            </a:prstGeom>
          </p:spPr>
        </p:pic>
        <p:sp>
          <p:nvSpPr>
            <p:cNvPr id="3" name="Oval 2">
              <a:extLst>
                <a:ext uri="{FF2B5EF4-FFF2-40B4-BE49-F238E27FC236}">
                  <a16:creationId xmlns:a16="http://schemas.microsoft.com/office/drawing/2014/main" id="{75C23307-CA91-098C-D5F9-8933E22DCF1D}"/>
                </a:ext>
              </a:extLst>
            </p:cNvPr>
            <p:cNvSpPr/>
            <p:nvPr/>
          </p:nvSpPr>
          <p:spPr>
            <a:xfrm>
              <a:off x="1955929" y="301998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11821B90-5966-04E3-DC43-07DFC6E21955}"/>
                </a:ext>
              </a:extLst>
            </p:cNvPr>
            <p:cNvSpPr/>
            <p:nvPr/>
          </p:nvSpPr>
          <p:spPr>
            <a:xfrm>
              <a:off x="1884318" y="4223719"/>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9" name="TextBox 8">
            <a:extLst>
              <a:ext uri="{FF2B5EF4-FFF2-40B4-BE49-F238E27FC236}">
                <a16:creationId xmlns:a16="http://schemas.microsoft.com/office/drawing/2014/main" id="{1E87B0E8-372B-D99B-A5C2-1AE3EF70CDA4}"/>
              </a:ext>
            </a:extLst>
          </p:cNvPr>
          <p:cNvSpPr txBox="1"/>
          <p:nvPr/>
        </p:nvSpPr>
        <p:spPr>
          <a:xfrm>
            <a:off x="5338400" y="4406378"/>
            <a:ext cx="6548799" cy="2308324"/>
          </a:xfrm>
          <a:prstGeom prst="rect">
            <a:avLst/>
          </a:prstGeom>
          <a:noFill/>
        </p:spPr>
        <p:txBody>
          <a:bodyPr wrap="square">
            <a:spAutoFit/>
          </a:bodyPr>
          <a:lstStyle/>
          <a:p>
            <a:pPr marL="285750" indent="-285750">
              <a:buFont typeface="Arial" panose="020B0604020202020204" pitchFamily="34" charset="0"/>
              <a:buChar char="•"/>
            </a:pPr>
            <a:r>
              <a:rPr lang="en-US" sz="1600" dirty="0"/>
              <a:t>According to the test results, we fail to reject the null hypothesis which states that the mean delivery time is equal to 3 days.</a:t>
            </a:r>
          </a:p>
          <a:p>
            <a:pPr marL="285750" indent="-285750">
              <a:buFont typeface="Arial" panose="020B0604020202020204" pitchFamily="34" charset="0"/>
              <a:buChar char="•"/>
            </a:pPr>
            <a:r>
              <a:rPr lang="en-US" sz="1600" dirty="0"/>
              <a:t>The collected sample data did not provide us with sufficient evidence to conclude that the mean delivery time is different from 3.</a:t>
            </a:r>
          </a:p>
          <a:p>
            <a:pPr marL="285750" indent="-285750">
              <a:buFont typeface="Arial" panose="020B0604020202020204" pitchFamily="34" charset="0"/>
              <a:buChar char="•"/>
            </a:pPr>
            <a:r>
              <a:rPr lang="en-US" sz="1600" dirty="0"/>
              <a:t>We reached this conclusion because the t statistic falls inside the non-rejection region.</a:t>
            </a:r>
          </a:p>
          <a:p>
            <a:pPr marL="285750" indent="-285750">
              <a:buFont typeface="Arial" panose="020B0604020202020204" pitchFamily="34" charset="0"/>
              <a:buChar char="•"/>
            </a:pPr>
            <a:r>
              <a:rPr lang="en-US" sz="1600" dirty="0"/>
              <a:t>We also reached that conclusion because the p-value (0.07315) which is greater than alpha 0.05.</a:t>
            </a:r>
          </a:p>
          <a:p>
            <a:pPr marL="285750" indent="-285750">
              <a:buFont typeface="Arial" panose="020B0604020202020204" pitchFamily="34" charset="0"/>
              <a:buChar char="•"/>
            </a:pPr>
            <a:r>
              <a:rPr lang="en-US" sz="1600" dirty="0"/>
              <a:t>Computing t-statistic manually, t = (3.4 - 3) / (1.37 / √40) ≈ 1.84</a:t>
            </a:r>
          </a:p>
        </p:txBody>
      </p:sp>
      <p:graphicFrame>
        <p:nvGraphicFramePr>
          <p:cNvPr id="19" name="Table 18">
            <a:extLst>
              <a:ext uri="{FF2B5EF4-FFF2-40B4-BE49-F238E27FC236}">
                <a16:creationId xmlns:a16="http://schemas.microsoft.com/office/drawing/2014/main" id="{BC2FF4AD-2AE4-43F5-1DDD-E51064F914E9}"/>
              </a:ext>
            </a:extLst>
          </p:cNvPr>
          <p:cNvGraphicFramePr>
            <a:graphicFrameLocks noGrp="1"/>
          </p:cNvGraphicFramePr>
          <p:nvPr>
            <p:extLst>
              <p:ext uri="{D42A27DB-BD31-4B8C-83A1-F6EECF244321}">
                <p14:modId xmlns:p14="http://schemas.microsoft.com/office/powerpoint/2010/main" val="1932784948"/>
              </p:ext>
            </p:extLst>
          </p:nvPr>
        </p:nvGraphicFramePr>
        <p:xfrm>
          <a:off x="5511112" y="1703514"/>
          <a:ext cx="2809104" cy="1948815"/>
        </p:xfrm>
        <a:graphic>
          <a:graphicData uri="http://schemas.openxmlformats.org/drawingml/2006/table">
            <a:tbl>
              <a:tblPr>
                <a:tableStyleId>{616DA210-FB5B-4158-B5E0-FEB733F419BA}</a:tableStyleId>
              </a:tblPr>
              <a:tblGrid>
                <a:gridCol w="702276">
                  <a:extLst>
                    <a:ext uri="{9D8B030D-6E8A-4147-A177-3AD203B41FA5}">
                      <a16:colId xmlns:a16="http://schemas.microsoft.com/office/drawing/2014/main" val="1027496019"/>
                    </a:ext>
                  </a:extLst>
                </a:gridCol>
                <a:gridCol w="702276">
                  <a:extLst>
                    <a:ext uri="{9D8B030D-6E8A-4147-A177-3AD203B41FA5}">
                      <a16:colId xmlns:a16="http://schemas.microsoft.com/office/drawing/2014/main" val="2831854686"/>
                    </a:ext>
                  </a:extLst>
                </a:gridCol>
                <a:gridCol w="702276">
                  <a:extLst>
                    <a:ext uri="{9D8B030D-6E8A-4147-A177-3AD203B41FA5}">
                      <a16:colId xmlns:a16="http://schemas.microsoft.com/office/drawing/2014/main" val="3758261981"/>
                    </a:ext>
                  </a:extLst>
                </a:gridCol>
                <a:gridCol w="702276">
                  <a:extLst>
                    <a:ext uri="{9D8B030D-6E8A-4147-A177-3AD203B41FA5}">
                      <a16:colId xmlns:a16="http://schemas.microsoft.com/office/drawing/2014/main" val="3758644514"/>
                    </a:ext>
                  </a:extLst>
                </a:gridCol>
              </a:tblGrid>
              <a:tr h="163446">
                <a:tc gridSpan="4">
                  <a:txBody>
                    <a:bodyPr/>
                    <a:lstStyle/>
                    <a:p>
                      <a:pPr algn="ctr" fontAlgn="b"/>
                      <a:r>
                        <a:rPr lang="en-US" sz="1100" u="none" strike="noStrike" dirty="0">
                          <a:effectLst/>
                        </a:rPr>
                        <a:t>Delivery Times for 40 Days Sample – In Days</a:t>
                      </a:r>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53476188"/>
                  </a:ext>
                </a:extLst>
              </a:tr>
              <a:tr h="163446">
                <a:tc>
                  <a:txBody>
                    <a:bodyPr/>
                    <a:lstStyle/>
                    <a:p>
                      <a:pPr algn="ctr" fontAlgn="b"/>
                      <a:r>
                        <a:rPr lang="en-US" sz="1100" u="none" strike="noStrike" dirty="0">
                          <a:effectLst/>
                        </a:rPr>
                        <a:t>1</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82084649"/>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55764373"/>
                  </a:ext>
                </a:extLst>
              </a:tr>
              <a:tr h="163446">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132955"/>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1193364"/>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93215219"/>
                  </a:ext>
                </a:extLst>
              </a:tr>
              <a:tr h="163446">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3996763"/>
                  </a:ext>
                </a:extLst>
              </a:tr>
              <a:tr h="163446">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6060707"/>
                  </a:ext>
                </a:extLst>
              </a:tr>
              <a:tr h="163446">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61991109"/>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06544233"/>
                  </a:ext>
                </a:extLst>
              </a:tr>
              <a:tr h="163446">
                <a:tc>
                  <a:txBody>
                    <a:bodyPr/>
                    <a:lstStyle/>
                    <a:p>
                      <a:pPr algn="ctr" fontAlgn="b"/>
                      <a:r>
                        <a:rPr lang="en-US" sz="1100" u="none" strike="noStrike" dirty="0">
                          <a:effectLst/>
                        </a:rPr>
                        <a:t>6</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11454266"/>
                  </a:ext>
                </a:extLst>
              </a:tr>
            </a:tbl>
          </a:graphicData>
        </a:graphic>
      </p:graphicFrame>
    </p:spTree>
    <p:extLst>
      <p:ext uri="{BB962C8B-B14F-4D97-AF65-F5344CB8AC3E}">
        <p14:creationId xmlns:p14="http://schemas.microsoft.com/office/powerpoint/2010/main" val="648783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(Lower Tail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198" y="1706007"/>
                <a:ext cx="7070125" cy="3755679"/>
              </a:xfrm>
            </p:spPr>
            <p:txBody>
              <a:bodyPr>
                <a:normAutofit/>
              </a:bodyPr>
              <a:lstStyle/>
              <a:p>
                <a:r>
                  <a:rPr lang="en-US" sz="1800" dirty="0"/>
                  <a:t>Suppose that a company have a general belief that its delivery time is less than 3 days.</a:t>
                </a:r>
              </a:p>
              <a:p>
                <a:r>
                  <a:rPr lang="en-US" sz="1800" dirty="0"/>
                  <a:t>To test that claim, we define the null and the alternative hypotheses as follows:</a:t>
                </a:r>
              </a:p>
              <a:p>
                <a:pPr indent="0">
                  <a:buNone/>
                </a:pPr>
                <a:r>
                  <a:rPr lang="en-US" sz="1800" dirty="0">
                    <a:solidFill>
                      <a:srgbClr val="0070C0"/>
                    </a:solidFill>
                  </a:rPr>
                  <a:t>Is there enough evidence (at α = .05) to conclude that the population mean delivery time for the company is lower than 2 days?</a:t>
                </a:r>
              </a:p>
              <a:p>
                <a:pPr indent="0">
                  <a:buNone/>
                </a:pPr>
                <a:r>
                  <a:rPr lang="en-US" sz="1800" dirty="0">
                    <a:solidFill>
                      <a:srgbClr val="0070C0"/>
                    </a:solidFill>
                  </a:rPr>
                  <a:t>H₀: μ </a:t>
                </a:r>
                <a14:m>
                  <m:oMath xmlns:m="http://schemas.openxmlformats.org/officeDocument/2006/math">
                    <m:r>
                      <a:rPr lang="en-US" sz="1400" i="1" dirty="0" smtClean="0">
                        <a:solidFill>
                          <a:srgbClr val="0070C0"/>
                        </a:solidFill>
                        <a:latin typeface="Cambria Math" panose="02040503050406030204" pitchFamily="18" charset="0"/>
                        <a:ea typeface="Cambria Math" panose="02040503050406030204" pitchFamily="18" charset="0"/>
                      </a:rPr>
                      <m:t>≥</m:t>
                    </m:r>
                    <m:r>
                      <a:rPr lang="en-US" sz="1400" b="0" i="0" dirty="0" smtClean="0">
                        <a:solidFill>
                          <a:srgbClr val="0070C0"/>
                        </a:solidFill>
                        <a:latin typeface="Cambria Math" panose="02040503050406030204" pitchFamily="18" charset="0"/>
                        <a:ea typeface="Cambria Math" panose="02040503050406030204" pitchFamily="18" charset="0"/>
                      </a:rPr>
                      <m:t>3</m:t>
                    </m:r>
                  </m:oMath>
                </a14:m>
                <a:endParaRPr lang="en-US" sz="1800" dirty="0">
                  <a:solidFill>
                    <a:srgbClr val="0070C0"/>
                  </a:solidFill>
                </a:endParaRPr>
              </a:p>
              <a:p>
                <a:pPr indent="0">
                  <a:buNone/>
                </a:pPr>
                <a:r>
                  <a:rPr lang="en-US" sz="1800" dirty="0">
                    <a:solidFill>
                      <a:srgbClr val="0070C0"/>
                    </a:solidFill>
                  </a:rPr>
                  <a:t>Ha: μ </a:t>
                </a:r>
                <a14:m>
                  <m:oMath xmlns:m="http://schemas.openxmlformats.org/officeDocument/2006/math">
                    <m:r>
                      <a:rPr lang="en-US" sz="1400" b="0" i="1" dirty="0" smtClean="0">
                        <a:solidFill>
                          <a:srgbClr val="0070C0"/>
                        </a:solidFill>
                        <a:latin typeface="Cambria Math" panose="02040503050406030204" pitchFamily="18" charset="0"/>
                        <a:ea typeface="Cambria Math" panose="02040503050406030204" pitchFamily="18" charset="0"/>
                      </a:rPr>
                      <m:t>&lt;3</m:t>
                    </m:r>
                  </m:oMath>
                </a14:m>
                <a:endParaRPr lang="en-US" sz="1800" dirty="0">
                  <a:solidFill>
                    <a:srgbClr val="0070C0"/>
                  </a:solidFill>
                </a:endParaRPr>
              </a:p>
              <a:p>
                <a:r>
                  <a:rPr lang="en-US" sz="1800" dirty="0"/>
                  <a:t>We collect data, and we compute the test statistic.</a:t>
                </a:r>
              </a:p>
              <a:p>
                <a:r>
                  <a:rPr lang="en-US" sz="1800" dirty="0"/>
                  <a:t>If the test statistic is within the rejection region, we reject the null hypothesis, otherwise we fail to reject the null hypothesis.</a:t>
                </a:r>
              </a:p>
              <a:p>
                <a:endParaRPr lang="en-US" sz="1800" dirty="0"/>
              </a:p>
            </p:txBody>
          </p:sp>
        </mc:Choice>
        <mc:Fallback xmlns="">
          <p:sp>
            <p:nvSpPr>
              <p:cNvPr id="3" name="Content Placeholder 2">
                <a:extLst>
                  <a:ext uri="{FF2B5EF4-FFF2-40B4-BE49-F238E27FC236}">
                    <a16:creationId xmlns:a16="http://schemas.microsoft.com/office/drawing/2014/main" id="{938F5367-50C3-011F-FEFD-E15CCCE9BD76}"/>
                  </a:ext>
                </a:extLst>
              </p:cNvPr>
              <p:cNvSpPr>
                <a:spLocks noGrp="1" noRot="1" noChangeAspect="1" noMove="1" noResize="1" noEditPoints="1" noAdjustHandles="1" noChangeArrowheads="1" noChangeShapeType="1" noTextEdit="1"/>
              </p:cNvSpPr>
              <p:nvPr>
                <p:ph idx="1"/>
              </p:nvPr>
            </p:nvSpPr>
            <p:spPr>
              <a:xfrm>
                <a:off x="838198" y="1706007"/>
                <a:ext cx="7070125" cy="3755679"/>
              </a:xfrm>
              <a:blipFill>
                <a:blip r:embed="rId2"/>
                <a:stretch>
                  <a:fillRect l="-517" t="-1623" r="-345"/>
                </a:stretch>
              </a:blipFill>
            </p:spPr>
            <p:txBody>
              <a:bodyPr/>
              <a:lstStyle/>
              <a:p>
                <a:r>
                  <a:rPr lang="en-US">
                    <a:noFill/>
                  </a:rPr>
                  <a:t> </a:t>
                </a:r>
              </a:p>
            </p:txBody>
          </p:sp>
        </mc:Fallback>
      </mc:AlternateContent>
      <p:pic>
        <p:nvPicPr>
          <p:cNvPr id="4098" name="Picture 2" descr="Link, web, url, hyperlink, reference icon - Download on Iconfinder">
            <a:extLst>
              <a:ext uri="{FF2B5EF4-FFF2-40B4-BE49-F238E27FC236}">
                <a16:creationId xmlns:a16="http://schemas.microsoft.com/office/drawing/2014/main" id="{C1F49BAB-055E-FDCD-640B-81657FC8B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9897" y="9468247"/>
            <a:ext cx="110260" cy="1102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ferences">
            <a:hlinkClick r:id="rId4"/>
            <a:extLst>
              <a:ext uri="{FF2B5EF4-FFF2-40B4-BE49-F238E27FC236}">
                <a16:creationId xmlns:a16="http://schemas.microsoft.com/office/drawing/2014/main" id="{CF5D0F0F-1038-F9DC-B8C7-FEB0AC347A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BD5A6DB8-4C58-065D-AEDE-40A0142905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6243" y="1845563"/>
            <a:ext cx="4007307" cy="286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1453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2ADEB-784E-2AB5-653E-76590BF72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5E769-568F-C290-20B3-F195F55B8A8E}"/>
              </a:ext>
            </a:extLst>
          </p:cNvPr>
          <p:cNvSpPr>
            <a:spLocks noGrp="1"/>
          </p:cNvSpPr>
          <p:nvPr>
            <p:ph type="title"/>
          </p:nvPr>
        </p:nvSpPr>
        <p:spPr/>
        <p:txBody>
          <a:bodyPr/>
          <a:lstStyle/>
          <a:p>
            <a:r>
              <a:rPr lang="en-US" dirty="0"/>
              <a:t>Implement the Test in Excel</a:t>
            </a:r>
          </a:p>
        </p:txBody>
      </p:sp>
      <p:graphicFrame>
        <p:nvGraphicFramePr>
          <p:cNvPr id="4" name="Content Placeholder 3">
            <a:extLst>
              <a:ext uri="{FF2B5EF4-FFF2-40B4-BE49-F238E27FC236}">
                <a16:creationId xmlns:a16="http://schemas.microsoft.com/office/drawing/2014/main" id="{43A95C23-2FD0-785D-9E35-91CCD61BC7AA}"/>
              </a:ext>
            </a:extLst>
          </p:cNvPr>
          <p:cNvGraphicFramePr>
            <a:graphicFrameLocks noGrp="1"/>
          </p:cNvGraphicFramePr>
          <p:nvPr>
            <p:ph idx="1"/>
            <p:extLst>
              <p:ext uri="{D42A27DB-BD31-4B8C-83A1-F6EECF244321}">
                <p14:modId xmlns:p14="http://schemas.microsoft.com/office/powerpoint/2010/main" val="2047467331"/>
              </p:ext>
            </p:extLst>
          </p:nvPr>
        </p:nvGraphicFramePr>
        <p:xfrm>
          <a:off x="8543466" y="1703514"/>
          <a:ext cx="3263900" cy="2545080"/>
        </p:xfrm>
        <a:graphic>
          <a:graphicData uri="http://schemas.openxmlformats.org/drawingml/2006/table">
            <a:tbl>
              <a:tblPr>
                <a:tableStyleId>{616DA210-FB5B-4158-B5E0-FEB733F419BA}</a:tableStyleId>
              </a:tblPr>
              <a:tblGrid>
                <a:gridCol w="1422400">
                  <a:extLst>
                    <a:ext uri="{9D8B030D-6E8A-4147-A177-3AD203B41FA5}">
                      <a16:colId xmlns:a16="http://schemas.microsoft.com/office/drawing/2014/main" val="1546262271"/>
                    </a:ext>
                  </a:extLst>
                </a:gridCol>
                <a:gridCol w="1841500">
                  <a:extLst>
                    <a:ext uri="{9D8B030D-6E8A-4147-A177-3AD203B41FA5}">
                      <a16:colId xmlns:a16="http://schemas.microsoft.com/office/drawing/2014/main" val="2028979270"/>
                    </a:ext>
                  </a:extLst>
                </a:gridCol>
              </a:tblGrid>
              <a:tr h="200025">
                <a:tc gridSpan="2">
                  <a:txBody>
                    <a:bodyPr/>
                    <a:lstStyle/>
                    <a:p>
                      <a:pPr algn="ctr" fontAlgn="b"/>
                      <a:r>
                        <a:rPr lang="en-US" sz="1100" b="0" i="0" u="none" strike="noStrike" dirty="0">
                          <a:solidFill>
                            <a:srgbClr val="000000"/>
                          </a:solidFill>
                          <a:effectLst/>
                          <a:latin typeface="Aptos Narrow" panose="020B0004020202020204" pitchFamily="34" charset="0"/>
                        </a:rPr>
                        <a:t>Test Results</a:t>
                      </a:r>
                    </a:p>
                  </a:txBody>
                  <a:tcPr marL="9525" marR="9525" marT="9525" marB="0" anchor="b"/>
                </a:tc>
                <a:tc hMerge="1">
                  <a:txBody>
                    <a:bodyPr/>
                    <a:lstStyle/>
                    <a:p>
                      <a:pPr algn="ctr" fontAlgn="b"/>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89144579"/>
                  </a:ext>
                </a:extLst>
              </a:tr>
              <a:tr h="200025">
                <a:tc>
                  <a:txBody>
                    <a:bodyPr/>
                    <a:lstStyle/>
                    <a:p>
                      <a:pPr algn="ctr" fontAlgn="b"/>
                      <a:r>
                        <a:rPr lang="en-US" sz="1100" u="none" strike="noStrike" dirty="0">
                          <a:effectLst/>
                        </a:rPr>
                        <a:t> </a:t>
                      </a:r>
                      <a:endParaRPr lang="en-US" sz="11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Delivery Times</a:t>
                      </a:r>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65454025"/>
                  </a:ext>
                </a:extLst>
              </a:tr>
              <a:tr h="200025">
                <a:tc>
                  <a:txBody>
                    <a:bodyPr/>
                    <a:lstStyle/>
                    <a:p>
                      <a:pPr algn="ctr" fontAlgn="b"/>
                      <a:r>
                        <a:rPr lang="en-US" sz="1100" u="none" strike="noStrike">
                          <a:effectLst/>
                        </a:rPr>
                        <a:t>Mean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2961616"/>
                  </a:ext>
                </a:extLst>
              </a:tr>
              <a:tr h="200025">
                <a:tc>
                  <a:txBody>
                    <a:bodyPr/>
                    <a:lstStyle/>
                    <a:p>
                      <a:pPr algn="ctr" fontAlgn="b"/>
                      <a:r>
                        <a:rPr lang="en-US" sz="1100" u="none" strike="noStrike">
                          <a:effectLst/>
                        </a:rPr>
                        <a:t>Variance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1.887179487</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6361160"/>
                  </a:ext>
                </a:extLst>
              </a:tr>
              <a:tr h="200025">
                <a:tc>
                  <a:txBody>
                    <a:bodyPr/>
                    <a:lstStyle/>
                    <a:p>
                      <a:pPr algn="ctr" fontAlgn="b"/>
                      <a:r>
                        <a:rPr lang="en-US" sz="1100" u="none" strike="noStrike" dirty="0">
                          <a:effectLst/>
                        </a:rPr>
                        <a:t>Observations</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0390264"/>
                  </a:ext>
                </a:extLst>
              </a:tr>
              <a:tr h="200025">
                <a:tc>
                  <a:txBody>
                    <a:bodyPr/>
                    <a:lstStyle/>
                    <a:p>
                      <a:pPr algn="ctr" fontAlgn="b"/>
                      <a:r>
                        <a:rPr lang="en-US" sz="1100" u="none" strike="noStrike">
                          <a:effectLst/>
                        </a:rPr>
                        <a:t>Hypothesized Mean Difference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8762036"/>
                  </a:ext>
                </a:extLst>
              </a:tr>
              <a:tr h="200025">
                <a:tc>
                  <a:txBody>
                    <a:bodyPr/>
                    <a:lstStyle/>
                    <a:p>
                      <a:pPr algn="ctr" fontAlgn="b"/>
                      <a:r>
                        <a:rPr lang="en-US" sz="1100" u="none" strike="noStrike">
                          <a:effectLst/>
                        </a:rPr>
                        <a:t>df</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39</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22467766"/>
                  </a:ext>
                </a:extLst>
              </a:tr>
              <a:tr h="200025">
                <a:tc>
                  <a:txBody>
                    <a:bodyPr/>
                    <a:lstStyle/>
                    <a:p>
                      <a:pPr algn="ctr" fontAlgn="b"/>
                      <a:r>
                        <a:rPr lang="en-US" sz="1100" u="none" strike="noStrike">
                          <a:solidFill>
                            <a:srgbClr val="FF0000"/>
                          </a:solidFill>
                          <a:effectLst/>
                        </a:rPr>
                        <a:t>t Stat</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1.841549442</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65641766"/>
                  </a:ext>
                </a:extLst>
              </a:tr>
              <a:tr h="200025">
                <a:tc>
                  <a:txBody>
                    <a:bodyPr/>
                    <a:lstStyle/>
                    <a:p>
                      <a:pPr algn="ctr" fontAlgn="b"/>
                      <a:r>
                        <a:rPr lang="en-US" sz="1100" u="none" strike="noStrike">
                          <a:solidFill>
                            <a:srgbClr val="FF0000"/>
                          </a:solidFill>
                          <a:effectLst/>
                        </a:rPr>
                        <a:t>P(T&lt;=t) one-tail</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0.036577924</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15428023"/>
                  </a:ext>
                </a:extLst>
              </a:tr>
              <a:tr h="200025">
                <a:tc>
                  <a:txBody>
                    <a:bodyPr/>
                    <a:lstStyle/>
                    <a:p>
                      <a:pPr algn="ctr" fontAlgn="b"/>
                      <a:r>
                        <a:rPr lang="en-US" sz="1100" u="none" strike="noStrike">
                          <a:solidFill>
                            <a:srgbClr val="FF0000"/>
                          </a:solidFill>
                          <a:effectLst/>
                        </a:rPr>
                        <a:t>t Critical one-tail</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1.684875122</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30876925"/>
                  </a:ext>
                </a:extLst>
              </a:tr>
              <a:tr h="200025">
                <a:tc>
                  <a:txBody>
                    <a:bodyPr/>
                    <a:lstStyle/>
                    <a:p>
                      <a:pPr algn="ctr" fontAlgn="b"/>
                      <a:r>
                        <a:rPr lang="en-US" sz="1100" u="none" strike="noStrike" dirty="0">
                          <a:solidFill>
                            <a:schemeClr val="tx1"/>
                          </a:solidFill>
                          <a:effectLst/>
                        </a:rPr>
                        <a:t>P(T&lt;=t) two-tail</a:t>
                      </a:r>
                      <a:endParaRPr lang="en-US" sz="11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chemeClr val="tx1"/>
                          </a:solidFill>
                          <a:effectLst/>
                        </a:rPr>
                        <a:t>0.073155849</a:t>
                      </a:r>
                      <a:endParaRPr lang="en-US" sz="1100" b="0" i="0" u="none" strike="noStrike" dirty="0">
                        <a:solidFill>
                          <a:schemeClr val="tx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810841"/>
                  </a:ext>
                </a:extLst>
              </a:tr>
              <a:tr h="200025">
                <a:tc>
                  <a:txBody>
                    <a:bodyPr/>
                    <a:lstStyle/>
                    <a:p>
                      <a:pPr algn="ctr" fontAlgn="b"/>
                      <a:r>
                        <a:rPr lang="en-US" sz="1100" u="none" strike="noStrike" dirty="0">
                          <a:effectLst/>
                        </a:rPr>
                        <a:t>t Critical two-tail</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2.02269092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65155114"/>
                  </a:ext>
                </a:extLst>
              </a:tr>
            </a:tbl>
          </a:graphicData>
        </a:graphic>
      </p:graphicFrame>
      <p:grpSp>
        <p:nvGrpSpPr>
          <p:cNvPr id="13" name="Group 12">
            <a:extLst>
              <a:ext uri="{FF2B5EF4-FFF2-40B4-BE49-F238E27FC236}">
                <a16:creationId xmlns:a16="http://schemas.microsoft.com/office/drawing/2014/main" id="{B09985A8-559E-3CFE-7133-1CE4A64AF0F4}"/>
              </a:ext>
            </a:extLst>
          </p:cNvPr>
          <p:cNvGrpSpPr/>
          <p:nvPr/>
        </p:nvGrpSpPr>
        <p:grpSpPr>
          <a:xfrm>
            <a:off x="838199" y="1686298"/>
            <a:ext cx="4308389" cy="4893675"/>
            <a:chOff x="1058093" y="1698655"/>
            <a:chExt cx="3814566" cy="4256903"/>
          </a:xfrm>
        </p:grpSpPr>
        <p:pic>
          <p:nvPicPr>
            <p:cNvPr id="12" name="Picture 11">
              <a:extLst>
                <a:ext uri="{FF2B5EF4-FFF2-40B4-BE49-F238E27FC236}">
                  <a16:creationId xmlns:a16="http://schemas.microsoft.com/office/drawing/2014/main" id="{32E73BE8-64BD-59CA-F023-BAEE0CC7BE3C}"/>
                </a:ext>
              </a:extLst>
            </p:cNvPr>
            <p:cNvPicPr>
              <a:picLocks noChangeAspect="1"/>
            </p:cNvPicPr>
            <p:nvPr/>
          </p:nvPicPr>
          <p:blipFill>
            <a:blip r:embed="rId2"/>
            <a:stretch>
              <a:fillRect/>
            </a:stretch>
          </p:blipFill>
          <p:spPr>
            <a:xfrm>
              <a:off x="1058093" y="1698655"/>
              <a:ext cx="3814566" cy="4256903"/>
            </a:xfrm>
            <a:prstGeom prst="rect">
              <a:avLst/>
            </a:prstGeom>
          </p:spPr>
        </p:pic>
        <p:sp>
          <p:nvSpPr>
            <p:cNvPr id="3" name="Oval 2">
              <a:extLst>
                <a:ext uri="{FF2B5EF4-FFF2-40B4-BE49-F238E27FC236}">
                  <a16:creationId xmlns:a16="http://schemas.microsoft.com/office/drawing/2014/main" id="{59A337E8-545C-E863-936C-9D804DFD89B2}"/>
                </a:ext>
              </a:extLst>
            </p:cNvPr>
            <p:cNvSpPr/>
            <p:nvPr/>
          </p:nvSpPr>
          <p:spPr>
            <a:xfrm>
              <a:off x="1955929" y="301998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5B9DA007-1CEC-B003-B620-9586F2CAE3C3}"/>
                </a:ext>
              </a:extLst>
            </p:cNvPr>
            <p:cNvSpPr/>
            <p:nvPr/>
          </p:nvSpPr>
          <p:spPr>
            <a:xfrm>
              <a:off x="1884318" y="4223719"/>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9" name="TextBox 8">
            <a:extLst>
              <a:ext uri="{FF2B5EF4-FFF2-40B4-BE49-F238E27FC236}">
                <a16:creationId xmlns:a16="http://schemas.microsoft.com/office/drawing/2014/main" id="{B4444216-235E-0A80-7480-36B731C0720C}"/>
              </a:ext>
            </a:extLst>
          </p:cNvPr>
          <p:cNvSpPr txBox="1"/>
          <p:nvPr/>
        </p:nvSpPr>
        <p:spPr>
          <a:xfrm>
            <a:off x="5338400" y="4406378"/>
            <a:ext cx="6709438" cy="2031325"/>
          </a:xfrm>
          <a:prstGeom prst="rect">
            <a:avLst/>
          </a:prstGeom>
          <a:noFill/>
        </p:spPr>
        <p:txBody>
          <a:bodyPr wrap="square">
            <a:spAutoFit/>
          </a:bodyPr>
          <a:lstStyle/>
          <a:p>
            <a:pPr marL="285750" indent="-285750">
              <a:buFont typeface="Arial" panose="020B0604020202020204" pitchFamily="34" charset="0"/>
              <a:buChar char="•"/>
            </a:pPr>
            <a:r>
              <a:rPr lang="en-US" sz="1400" dirty="0"/>
              <a:t>According to the test results, we fail to reject the null hypothesis which states that the mean delivery time is greater than or equal to 3 days.</a:t>
            </a:r>
          </a:p>
          <a:p>
            <a:pPr marL="285750" indent="-285750">
              <a:buFont typeface="Arial" panose="020B0604020202020204" pitchFamily="34" charset="0"/>
              <a:buChar char="•"/>
            </a:pPr>
            <a:r>
              <a:rPr lang="en-US" sz="1400" dirty="0"/>
              <a:t>The collected sample data provided us with significant evidence (at alpha 0.05) to conclude that the mean delivery time is equal or higher than 3 days.</a:t>
            </a:r>
          </a:p>
          <a:p>
            <a:pPr marL="285750" indent="-285750">
              <a:buFont typeface="Arial" panose="020B0604020202020204" pitchFamily="34" charset="0"/>
              <a:buChar char="•"/>
            </a:pPr>
            <a:r>
              <a:rPr lang="en-US" sz="1400" dirty="0"/>
              <a:t>We reached this conclusion because the t statistic falls inside the non-rejection region of the null hypothesis.</a:t>
            </a:r>
          </a:p>
          <a:p>
            <a:pPr marL="285750" indent="-285750">
              <a:buFont typeface="Arial" panose="020B0604020202020204" pitchFamily="34" charset="0"/>
              <a:buChar char="•"/>
            </a:pPr>
            <a:r>
              <a:rPr lang="en-US" sz="1400" dirty="0"/>
              <a:t>We also reached that conclusion because the p-value (0.0365) which is less than alpha 0.05.</a:t>
            </a:r>
          </a:p>
          <a:p>
            <a:pPr marL="285750" indent="-285750">
              <a:buFont typeface="Arial" panose="020B0604020202020204" pitchFamily="34" charset="0"/>
              <a:buChar char="•"/>
            </a:pPr>
            <a:r>
              <a:rPr lang="en-US" sz="1400" dirty="0"/>
              <a:t>Computing t-statistic manually, t = (3.4 - 3) / (1.37 / √40) ≈ 1.84</a:t>
            </a:r>
          </a:p>
        </p:txBody>
      </p:sp>
      <p:graphicFrame>
        <p:nvGraphicFramePr>
          <p:cNvPr id="19" name="Table 18">
            <a:extLst>
              <a:ext uri="{FF2B5EF4-FFF2-40B4-BE49-F238E27FC236}">
                <a16:creationId xmlns:a16="http://schemas.microsoft.com/office/drawing/2014/main" id="{EE3F456D-BE90-8238-0DC3-8F917EE8A385}"/>
              </a:ext>
            </a:extLst>
          </p:cNvPr>
          <p:cNvGraphicFramePr>
            <a:graphicFrameLocks noGrp="1"/>
          </p:cNvGraphicFramePr>
          <p:nvPr/>
        </p:nvGraphicFramePr>
        <p:xfrm>
          <a:off x="5511112" y="1703514"/>
          <a:ext cx="2809104" cy="1948815"/>
        </p:xfrm>
        <a:graphic>
          <a:graphicData uri="http://schemas.openxmlformats.org/drawingml/2006/table">
            <a:tbl>
              <a:tblPr>
                <a:tableStyleId>{616DA210-FB5B-4158-B5E0-FEB733F419BA}</a:tableStyleId>
              </a:tblPr>
              <a:tblGrid>
                <a:gridCol w="702276">
                  <a:extLst>
                    <a:ext uri="{9D8B030D-6E8A-4147-A177-3AD203B41FA5}">
                      <a16:colId xmlns:a16="http://schemas.microsoft.com/office/drawing/2014/main" val="1027496019"/>
                    </a:ext>
                  </a:extLst>
                </a:gridCol>
                <a:gridCol w="702276">
                  <a:extLst>
                    <a:ext uri="{9D8B030D-6E8A-4147-A177-3AD203B41FA5}">
                      <a16:colId xmlns:a16="http://schemas.microsoft.com/office/drawing/2014/main" val="2831854686"/>
                    </a:ext>
                  </a:extLst>
                </a:gridCol>
                <a:gridCol w="702276">
                  <a:extLst>
                    <a:ext uri="{9D8B030D-6E8A-4147-A177-3AD203B41FA5}">
                      <a16:colId xmlns:a16="http://schemas.microsoft.com/office/drawing/2014/main" val="3758261981"/>
                    </a:ext>
                  </a:extLst>
                </a:gridCol>
                <a:gridCol w="702276">
                  <a:extLst>
                    <a:ext uri="{9D8B030D-6E8A-4147-A177-3AD203B41FA5}">
                      <a16:colId xmlns:a16="http://schemas.microsoft.com/office/drawing/2014/main" val="3758644514"/>
                    </a:ext>
                  </a:extLst>
                </a:gridCol>
              </a:tblGrid>
              <a:tr h="163446">
                <a:tc gridSpan="4">
                  <a:txBody>
                    <a:bodyPr/>
                    <a:lstStyle/>
                    <a:p>
                      <a:pPr algn="ctr" fontAlgn="b"/>
                      <a:r>
                        <a:rPr lang="en-US" sz="1100" u="none" strike="noStrike" dirty="0">
                          <a:effectLst/>
                        </a:rPr>
                        <a:t>Delivery Times for 40 Days Sample – In Days</a:t>
                      </a:r>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53476188"/>
                  </a:ext>
                </a:extLst>
              </a:tr>
              <a:tr h="163446">
                <a:tc>
                  <a:txBody>
                    <a:bodyPr/>
                    <a:lstStyle/>
                    <a:p>
                      <a:pPr algn="ctr" fontAlgn="b"/>
                      <a:r>
                        <a:rPr lang="en-US" sz="1100" u="none" strike="noStrike" dirty="0">
                          <a:effectLst/>
                        </a:rPr>
                        <a:t>1</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82084649"/>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55764373"/>
                  </a:ext>
                </a:extLst>
              </a:tr>
              <a:tr h="163446">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132955"/>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1193364"/>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93215219"/>
                  </a:ext>
                </a:extLst>
              </a:tr>
              <a:tr h="163446">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3996763"/>
                  </a:ext>
                </a:extLst>
              </a:tr>
              <a:tr h="163446">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6060707"/>
                  </a:ext>
                </a:extLst>
              </a:tr>
              <a:tr h="163446">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61991109"/>
                  </a:ext>
                </a:extLst>
              </a:tr>
              <a:tr h="163446">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06544233"/>
                  </a:ext>
                </a:extLst>
              </a:tr>
              <a:tr h="163446">
                <a:tc>
                  <a:txBody>
                    <a:bodyPr/>
                    <a:lstStyle/>
                    <a:p>
                      <a:pPr algn="ctr" fontAlgn="b"/>
                      <a:r>
                        <a:rPr lang="en-US" sz="1100" u="none" strike="noStrike" dirty="0">
                          <a:effectLst/>
                        </a:rPr>
                        <a:t>6</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11454266"/>
                  </a:ext>
                </a:extLst>
              </a:tr>
            </a:tbl>
          </a:graphicData>
        </a:graphic>
      </p:graphicFrame>
    </p:spTree>
    <p:extLst>
      <p:ext uri="{BB962C8B-B14F-4D97-AF65-F5344CB8AC3E}">
        <p14:creationId xmlns:p14="http://schemas.microsoft.com/office/powerpoint/2010/main" val="1938754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1FAF4-5CAD-8D1F-17D5-13FF5E6F9356}"/>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E3467B6E-AAFC-7479-F9D0-18AE2A658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323" y="1842602"/>
            <a:ext cx="4122888" cy="29449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7B21E0E-0D5B-6E0E-46AE-BBCCD37EB479}"/>
              </a:ext>
            </a:extLst>
          </p:cNvPr>
          <p:cNvSpPr>
            <a:spLocks noGrp="1"/>
          </p:cNvSpPr>
          <p:nvPr>
            <p:ph type="title"/>
          </p:nvPr>
        </p:nvSpPr>
        <p:spPr/>
        <p:txBody>
          <a:bodyPr>
            <a:normAutofit/>
          </a:bodyPr>
          <a:lstStyle/>
          <a:p>
            <a:r>
              <a:rPr lang="en-US" dirty="0"/>
              <a:t>One Sample - One Tailed Test (Upper Tail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D56900-B1AF-A5D0-8D8F-A65B6E5A47DB}"/>
                  </a:ext>
                </a:extLst>
              </p:cNvPr>
              <p:cNvSpPr>
                <a:spLocks noGrp="1"/>
              </p:cNvSpPr>
              <p:nvPr>
                <p:ph idx="1"/>
              </p:nvPr>
            </p:nvSpPr>
            <p:spPr>
              <a:xfrm>
                <a:off x="838198" y="1706007"/>
                <a:ext cx="7070125" cy="3755679"/>
              </a:xfrm>
            </p:spPr>
            <p:txBody>
              <a:bodyPr>
                <a:normAutofit/>
              </a:bodyPr>
              <a:lstStyle/>
              <a:p>
                <a:r>
                  <a:rPr lang="en-US" sz="1800" dirty="0"/>
                  <a:t>Suppose that a company have a general belief that its delivery time is greater than 3 days.</a:t>
                </a:r>
              </a:p>
              <a:p>
                <a:r>
                  <a:rPr lang="en-US" sz="1800" dirty="0"/>
                  <a:t>To test that claim, we define the null and the alternative hypotheses as follows:</a:t>
                </a:r>
              </a:p>
              <a:p>
                <a:pPr indent="0">
                  <a:buNone/>
                </a:pPr>
                <a:r>
                  <a:rPr lang="en-US" sz="1800" dirty="0">
                    <a:solidFill>
                      <a:srgbClr val="0070C0"/>
                    </a:solidFill>
                  </a:rPr>
                  <a:t>Is there enough evidence (at α = .05) to conclude that the population mean delivery time for the company is greater than 3 days?</a:t>
                </a:r>
              </a:p>
              <a:p>
                <a:pPr indent="0">
                  <a:buNone/>
                </a:pPr>
                <a:r>
                  <a:rPr lang="en-US" sz="1800" dirty="0">
                    <a:solidFill>
                      <a:srgbClr val="0070C0"/>
                    </a:solidFill>
                  </a:rPr>
                  <a:t>H₀: μ </a:t>
                </a:r>
                <a14:m>
                  <m:oMath xmlns:m="http://schemas.openxmlformats.org/officeDocument/2006/math">
                    <m:r>
                      <a:rPr lang="en-US" sz="1400" i="1" dirty="0" smtClean="0">
                        <a:solidFill>
                          <a:srgbClr val="0070C0"/>
                        </a:solidFill>
                        <a:latin typeface="Cambria Math" panose="02040503050406030204" pitchFamily="18" charset="0"/>
                        <a:ea typeface="Cambria Math" panose="02040503050406030204" pitchFamily="18" charset="0"/>
                      </a:rPr>
                      <m:t>≤</m:t>
                    </m:r>
                    <m:r>
                      <a:rPr lang="en-US" sz="1400" b="0" i="0" dirty="0" smtClean="0">
                        <a:solidFill>
                          <a:srgbClr val="0070C0"/>
                        </a:solidFill>
                        <a:latin typeface="Cambria Math" panose="02040503050406030204" pitchFamily="18" charset="0"/>
                        <a:ea typeface="Cambria Math" panose="02040503050406030204" pitchFamily="18" charset="0"/>
                      </a:rPr>
                      <m:t>3</m:t>
                    </m:r>
                  </m:oMath>
                </a14:m>
                <a:endParaRPr lang="en-US" sz="1800" dirty="0">
                  <a:solidFill>
                    <a:srgbClr val="0070C0"/>
                  </a:solidFill>
                </a:endParaRPr>
              </a:p>
              <a:p>
                <a:pPr indent="0">
                  <a:buNone/>
                </a:pPr>
                <a:r>
                  <a:rPr lang="en-US" sz="1800" dirty="0">
                    <a:solidFill>
                      <a:srgbClr val="0070C0"/>
                    </a:solidFill>
                  </a:rPr>
                  <a:t>Ha: μ </a:t>
                </a:r>
                <a14:m>
                  <m:oMath xmlns:m="http://schemas.openxmlformats.org/officeDocument/2006/math">
                    <m:r>
                      <a:rPr lang="en-US" sz="1400" b="0" i="1" dirty="0" smtClean="0">
                        <a:solidFill>
                          <a:srgbClr val="0070C0"/>
                        </a:solidFill>
                        <a:latin typeface="Cambria Math" panose="02040503050406030204" pitchFamily="18" charset="0"/>
                        <a:ea typeface="Cambria Math" panose="02040503050406030204" pitchFamily="18" charset="0"/>
                      </a:rPr>
                      <m:t>&gt;3</m:t>
                    </m:r>
                  </m:oMath>
                </a14:m>
                <a:endParaRPr lang="en-US" sz="1800" dirty="0">
                  <a:solidFill>
                    <a:srgbClr val="0070C0"/>
                  </a:solidFill>
                </a:endParaRPr>
              </a:p>
              <a:p>
                <a:r>
                  <a:rPr lang="en-US" sz="1800" dirty="0"/>
                  <a:t>We collect data, and we compute the test statistic.</a:t>
                </a:r>
              </a:p>
              <a:p>
                <a:r>
                  <a:rPr lang="en-US" sz="1800" dirty="0"/>
                  <a:t>If the test statistic is within the rejection region, we reject the null hypothesis, otherwise we fail to reject the null hypothesis.</a:t>
                </a:r>
              </a:p>
              <a:p>
                <a:endParaRPr lang="en-US" sz="1800" dirty="0"/>
              </a:p>
            </p:txBody>
          </p:sp>
        </mc:Choice>
        <mc:Fallback xmlns="">
          <p:sp>
            <p:nvSpPr>
              <p:cNvPr id="3" name="Content Placeholder 2">
                <a:extLst>
                  <a:ext uri="{FF2B5EF4-FFF2-40B4-BE49-F238E27FC236}">
                    <a16:creationId xmlns:a16="http://schemas.microsoft.com/office/drawing/2014/main" id="{DDD56900-B1AF-A5D0-8D8F-A65B6E5A47DB}"/>
                  </a:ext>
                </a:extLst>
              </p:cNvPr>
              <p:cNvSpPr>
                <a:spLocks noGrp="1" noRot="1" noChangeAspect="1" noMove="1" noResize="1" noEditPoints="1" noAdjustHandles="1" noChangeArrowheads="1" noChangeShapeType="1" noTextEdit="1"/>
              </p:cNvSpPr>
              <p:nvPr>
                <p:ph idx="1"/>
              </p:nvPr>
            </p:nvSpPr>
            <p:spPr>
              <a:xfrm>
                <a:off x="838198" y="1706007"/>
                <a:ext cx="7070125" cy="3755679"/>
              </a:xfrm>
              <a:blipFill>
                <a:blip r:embed="rId3"/>
                <a:stretch>
                  <a:fillRect l="-517" t="-1623" r="-345"/>
                </a:stretch>
              </a:blipFill>
            </p:spPr>
            <p:txBody>
              <a:bodyPr/>
              <a:lstStyle/>
              <a:p>
                <a:r>
                  <a:rPr lang="en-US">
                    <a:noFill/>
                  </a:rPr>
                  <a:t> </a:t>
                </a:r>
              </a:p>
            </p:txBody>
          </p:sp>
        </mc:Fallback>
      </mc:AlternateContent>
      <p:pic>
        <p:nvPicPr>
          <p:cNvPr id="4098" name="Picture 2" descr="Link, web, url, hyperlink, reference icon - Download on Iconfinder">
            <a:extLst>
              <a:ext uri="{FF2B5EF4-FFF2-40B4-BE49-F238E27FC236}">
                <a16:creationId xmlns:a16="http://schemas.microsoft.com/office/drawing/2014/main" id="{533C265F-6156-0834-94D8-2F69656970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9897" y="9468247"/>
            <a:ext cx="110260" cy="1102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ferences">
            <a:hlinkClick r:id="rId5"/>
            <a:extLst>
              <a:ext uri="{FF2B5EF4-FFF2-40B4-BE49-F238E27FC236}">
                <a16:creationId xmlns:a16="http://schemas.microsoft.com/office/drawing/2014/main" id="{BF83A901-189A-57F8-B85C-BF63F050B4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7115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898F-E911-F32F-215C-2C313EB170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416E83-CACF-C03B-35E4-B1CFCAFFE3C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60235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(Upper Tail Test)</a:t>
            </a:r>
          </a:p>
        </p:txBody>
      </p:sp>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200" y="1562945"/>
            <a:ext cx="5534231" cy="1426830"/>
          </a:xfrm>
        </p:spPr>
        <p:txBody>
          <a:bodyPr>
            <a:normAutofit/>
          </a:bodyPr>
          <a:lstStyle/>
          <a:p>
            <a:pPr marL="0" indent="0">
              <a:buNone/>
            </a:pPr>
            <a:r>
              <a:rPr lang="en-US" sz="2000" dirty="0"/>
              <a:t>Is there enough evidence (at </a:t>
            </a:r>
            <a:r>
              <a:rPr lang="en-US" sz="2000" dirty="0">
                <a:solidFill>
                  <a:schemeClr val="tx1"/>
                </a:solidFill>
              </a:rPr>
              <a:t>α = .05) to conclude that the population mean age for the university students is higher than 21 based on the following sample data?</a:t>
            </a:r>
            <a:endParaRPr lang="en-US" sz="2000" dirty="0"/>
          </a:p>
          <a:p>
            <a:pPr marL="0" indent="0">
              <a:buNone/>
            </a:pPr>
            <a:endParaRPr lang="en-US" dirty="0">
              <a:solidFill>
                <a:schemeClr val="tx1"/>
              </a:solidFill>
            </a:endParaRPr>
          </a:p>
          <a:p>
            <a:pPr marL="0" indent="0">
              <a:buNone/>
            </a:pPr>
            <a:endParaRPr lang="en-US" dirty="0"/>
          </a:p>
        </p:txBody>
      </p:sp>
      <p:graphicFrame>
        <p:nvGraphicFramePr>
          <p:cNvPr id="4" name="Table 3">
            <a:extLst>
              <a:ext uri="{FF2B5EF4-FFF2-40B4-BE49-F238E27FC236}">
                <a16:creationId xmlns:a16="http://schemas.microsoft.com/office/drawing/2014/main" id="{176C311F-F4C5-FB33-3DE9-363DEBEF1294}"/>
              </a:ext>
            </a:extLst>
          </p:cNvPr>
          <p:cNvGraphicFramePr>
            <a:graphicFrameLocks noGrp="1"/>
          </p:cNvGraphicFramePr>
          <p:nvPr>
            <p:extLst>
              <p:ext uri="{D42A27DB-BD31-4B8C-83A1-F6EECF244321}">
                <p14:modId xmlns:p14="http://schemas.microsoft.com/office/powerpoint/2010/main" val="2739180806"/>
              </p:ext>
            </p:extLst>
          </p:nvPr>
        </p:nvGraphicFramePr>
        <p:xfrm>
          <a:off x="1007012" y="2945210"/>
          <a:ext cx="4366845" cy="1740180"/>
        </p:xfrm>
        <a:graphic>
          <a:graphicData uri="http://schemas.openxmlformats.org/drawingml/2006/table">
            <a:tbl>
              <a:tblPr>
                <a:tableStyleId>{9D7B26C5-4107-4FEC-AEDC-1716B250A1EF}</a:tableStyleId>
              </a:tblPr>
              <a:tblGrid>
                <a:gridCol w="873369">
                  <a:extLst>
                    <a:ext uri="{9D8B030D-6E8A-4147-A177-3AD203B41FA5}">
                      <a16:colId xmlns:a16="http://schemas.microsoft.com/office/drawing/2014/main" val="262734273"/>
                    </a:ext>
                  </a:extLst>
                </a:gridCol>
                <a:gridCol w="873369">
                  <a:extLst>
                    <a:ext uri="{9D8B030D-6E8A-4147-A177-3AD203B41FA5}">
                      <a16:colId xmlns:a16="http://schemas.microsoft.com/office/drawing/2014/main" val="3026332092"/>
                    </a:ext>
                  </a:extLst>
                </a:gridCol>
                <a:gridCol w="873369">
                  <a:extLst>
                    <a:ext uri="{9D8B030D-6E8A-4147-A177-3AD203B41FA5}">
                      <a16:colId xmlns:a16="http://schemas.microsoft.com/office/drawing/2014/main" val="725361017"/>
                    </a:ext>
                  </a:extLst>
                </a:gridCol>
                <a:gridCol w="873369">
                  <a:extLst>
                    <a:ext uri="{9D8B030D-6E8A-4147-A177-3AD203B41FA5}">
                      <a16:colId xmlns:a16="http://schemas.microsoft.com/office/drawing/2014/main" val="2839232874"/>
                    </a:ext>
                  </a:extLst>
                </a:gridCol>
                <a:gridCol w="873369">
                  <a:extLst>
                    <a:ext uri="{9D8B030D-6E8A-4147-A177-3AD203B41FA5}">
                      <a16:colId xmlns:a16="http://schemas.microsoft.com/office/drawing/2014/main" val="3650923562"/>
                    </a:ext>
                  </a:extLst>
                </a:gridCol>
              </a:tblGrid>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21</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7265881"/>
                  </a:ext>
                </a:extLst>
              </a:tr>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04547561"/>
                  </a:ext>
                </a:extLst>
              </a:tr>
              <a:tr h="348036">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78322256"/>
                  </a:ext>
                </a:extLst>
              </a:tr>
              <a:tr h="348036">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38</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19</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01897707"/>
                  </a:ext>
                </a:extLst>
              </a:tr>
              <a:tr h="348036">
                <a:tc>
                  <a:txBody>
                    <a:bodyPr/>
                    <a:lstStyle/>
                    <a:p>
                      <a:pPr algn="ctr" fontAlgn="b"/>
                      <a:r>
                        <a:rPr lang="en-US" sz="1800" b="0" u="none" strike="noStrike">
                          <a:effectLst/>
                        </a:rPr>
                        <a:t>24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22</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87959696"/>
                  </a:ext>
                </a:extLst>
              </a:tr>
            </a:tbl>
          </a:graphicData>
        </a:graphic>
      </p:graphicFrame>
      <p:pic>
        <p:nvPicPr>
          <p:cNvPr id="11" name="Picture 10">
            <a:extLst>
              <a:ext uri="{FF2B5EF4-FFF2-40B4-BE49-F238E27FC236}">
                <a16:creationId xmlns:a16="http://schemas.microsoft.com/office/drawing/2014/main" id="{229F1118-485F-789E-9D53-7526E437BBED}"/>
              </a:ext>
            </a:extLst>
          </p:cNvPr>
          <p:cNvPicPr>
            <a:picLocks noChangeAspect="1"/>
          </p:cNvPicPr>
          <p:nvPr/>
        </p:nvPicPr>
        <p:blipFill>
          <a:blip r:embed="rId2"/>
          <a:stretch>
            <a:fillRect/>
          </a:stretch>
        </p:blipFill>
        <p:spPr>
          <a:xfrm>
            <a:off x="6264812" y="2945210"/>
            <a:ext cx="5706271" cy="3791479"/>
          </a:xfrm>
          <a:prstGeom prst="rect">
            <a:avLst/>
          </a:prstGeom>
        </p:spPr>
      </p:pic>
      <p:pic>
        <p:nvPicPr>
          <p:cNvPr id="6" name="Picture 5">
            <a:extLst>
              <a:ext uri="{FF2B5EF4-FFF2-40B4-BE49-F238E27FC236}">
                <a16:creationId xmlns:a16="http://schemas.microsoft.com/office/drawing/2014/main" id="{C70B95A3-B467-B243-35A0-EEE471D10008}"/>
              </a:ext>
            </a:extLst>
          </p:cNvPr>
          <p:cNvPicPr>
            <a:picLocks noChangeAspect="1"/>
          </p:cNvPicPr>
          <p:nvPr/>
        </p:nvPicPr>
        <p:blipFill>
          <a:blip r:embed="rId3"/>
          <a:stretch>
            <a:fillRect/>
          </a:stretch>
        </p:blipFill>
        <p:spPr>
          <a:xfrm>
            <a:off x="8405149" y="1862853"/>
            <a:ext cx="3501083" cy="175887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61444B-F447-8FE2-1A3A-B31FFF3E180C}"/>
                  </a:ext>
                </a:extLst>
              </p:cNvPr>
              <p:cNvSpPr txBox="1"/>
              <p:nvPr/>
            </p:nvSpPr>
            <p:spPr>
              <a:xfrm>
                <a:off x="428017" y="4900634"/>
                <a:ext cx="5667983" cy="1938992"/>
              </a:xfrm>
              <a:prstGeom prst="rect">
                <a:avLst/>
              </a:prstGeom>
              <a:noFill/>
            </p:spPr>
            <p:txBody>
              <a:bodyPr wrap="square">
                <a:spAutoFit/>
              </a:bodyPr>
              <a:lstStyle/>
              <a:p>
                <a:pPr marL="0" indent="0">
                  <a:buNone/>
                </a:pPr>
                <a:r>
                  <a:rPr lang="en-US" sz="2000" dirty="0"/>
                  <a:t>To test whether average students’ age is more than 21, we define the null and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i="1" dirty="0">
                          <a:solidFill>
                            <a:srgbClr val="002060"/>
                          </a:solidFill>
                          <a:latin typeface="Cambria Math" panose="02040503050406030204" pitchFamily="18" charset="0"/>
                        </a:rPr>
                        <m:t>≤</m:t>
                      </m:r>
                      <m:r>
                        <a:rPr lang="en-US" sz="2000" b="0" i="1" dirty="0" smtClean="0">
                          <a:solidFill>
                            <a:srgbClr val="002060"/>
                          </a:solidFill>
                          <a:latin typeface="Cambria Math" panose="02040503050406030204" pitchFamily="18" charset="0"/>
                        </a:rPr>
                        <m:t>21</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m:rPr>
                          <m:nor/>
                        </m:rPr>
                        <a:rPr lang="en-US" sz="2000" b="0" i="1" dirty="0" smtClean="0">
                          <a:solidFill>
                            <a:srgbClr val="002060"/>
                          </a:solidFill>
                        </a:rPr>
                        <m:t> &gt; </m:t>
                      </m:r>
                      <m:r>
                        <a:rPr lang="en-US" sz="2000" b="0" i="1" dirty="0" smtClean="0">
                          <a:solidFill>
                            <a:srgbClr val="002060"/>
                          </a:solidFill>
                          <a:latin typeface="Cambria Math" panose="02040503050406030204" pitchFamily="18" charset="0"/>
                        </a:rPr>
                        <m:t>21</m:t>
                      </m:r>
                    </m:oMath>
                  </m:oMathPara>
                </a14:m>
                <a:endParaRPr lang="en-US" sz="2000" b="0" i="0" dirty="0">
                  <a:solidFill>
                    <a:srgbClr val="002060"/>
                  </a:solidFill>
                  <a:effectLst/>
                </a:endParaRPr>
              </a:p>
            </p:txBody>
          </p:sp>
        </mc:Choice>
        <mc:Fallback xmlns="">
          <p:sp>
            <p:nvSpPr>
              <p:cNvPr id="7" name="TextBox 6">
                <a:extLst>
                  <a:ext uri="{FF2B5EF4-FFF2-40B4-BE49-F238E27FC236}">
                    <a16:creationId xmlns:a16="http://schemas.microsoft.com/office/drawing/2014/main" id="{3161444B-F447-8FE2-1A3A-B31FFF3E180C}"/>
                  </a:ext>
                </a:extLst>
              </p:cNvPr>
              <p:cNvSpPr txBox="1">
                <a:spLocks noRot="1" noChangeAspect="1" noMove="1" noResize="1" noEditPoints="1" noAdjustHandles="1" noChangeArrowheads="1" noChangeShapeType="1" noTextEdit="1"/>
              </p:cNvSpPr>
              <p:nvPr/>
            </p:nvSpPr>
            <p:spPr>
              <a:xfrm>
                <a:off x="428017" y="4900634"/>
                <a:ext cx="5667983" cy="1938992"/>
              </a:xfrm>
              <a:prstGeom prst="rect">
                <a:avLst/>
              </a:prstGeom>
              <a:blipFill>
                <a:blip r:embed="rId8"/>
                <a:stretch>
                  <a:fillRect l="-1075" t="-1887" r="-32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48187F9B-109D-B56E-5692-39719AF915EE}"/>
              </a:ext>
            </a:extLst>
          </p:cNvPr>
          <p:cNvSpPr/>
          <p:nvPr/>
        </p:nvSpPr>
        <p:spPr>
          <a:xfrm>
            <a:off x="8165200"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 name="Oval 8">
            <a:extLst>
              <a:ext uri="{FF2B5EF4-FFF2-40B4-BE49-F238E27FC236}">
                <a16:creationId xmlns:a16="http://schemas.microsoft.com/office/drawing/2014/main" id="{B3B1AC1A-9093-129D-7A03-93113CA92964}"/>
              </a:ext>
            </a:extLst>
          </p:cNvPr>
          <p:cNvSpPr/>
          <p:nvPr/>
        </p:nvSpPr>
        <p:spPr>
          <a:xfrm>
            <a:off x="7704580" y="3632641"/>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8382409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000515-A876-1D45-5971-051A74201C78}"/>
              </a:ext>
            </a:extLst>
          </p:cNvPr>
          <p:cNvSpPr>
            <a:spLocks noGrp="1"/>
          </p:cNvSpPr>
          <p:nvPr>
            <p:ph type="title"/>
          </p:nvPr>
        </p:nvSpPr>
        <p:spPr/>
        <p:txBody>
          <a:bodyPr/>
          <a:lstStyle/>
          <a:p>
            <a:r>
              <a:rPr lang="en-US" dirty="0"/>
              <a:t>One Sample - One Tailed Test (Upper Tail Test)</a:t>
            </a:r>
          </a:p>
        </p:txBody>
      </p:sp>
      <p:graphicFrame>
        <p:nvGraphicFramePr>
          <p:cNvPr id="4" name="Content Placeholder 3">
            <a:extLst>
              <a:ext uri="{FF2B5EF4-FFF2-40B4-BE49-F238E27FC236}">
                <a16:creationId xmlns:a16="http://schemas.microsoft.com/office/drawing/2014/main" id="{C4B80FB0-8CB9-01CB-3366-985D9E370DEB}"/>
              </a:ext>
            </a:extLst>
          </p:cNvPr>
          <p:cNvGraphicFramePr>
            <a:graphicFrameLocks noGrp="1"/>
          </p:cNvGraphicFramePr>
          <p:nvPr>
            <p:ph idx="1"/>
            <p:extLst>
              <p:ext uri="{D42A27DB-BD31-4B8C-83A1-F6EECF244321}">
                <p14:modId xmlns:p14="http://schemas.microsoft.com/office/powerpoint/2010/main" val="3894629422"/>
              </p:ext>
            </p:extLst>
          </p:nvPr>
        </p:nvGraphicFramePr>
        <p:xfrm>
          <a:off x="6919610" y="1784384"/>
          <a:ext cx="4434190" cy="3102145"/>
        </p:xfrm>
        <a:graphic>
          <a:graphicData uri="http://schemas.openxmlformats.org/drawingml/2006/table">
            <a:tbl>
              <a:tblPr>
                <a:tableStyleId>{5940675A-B579-460E-94D1-54222C63F5DA}</a:tableStyleId>
              </a:tblPr>
              <a:tblGrid>
                <a:gridCol w="2086677">
                  <a:extLst>
                    <a:ext uri="{9D8B030D-6E8A-4147-A177-3AD203B41FA5}">
                      <a16:colId xmlns:a16="http://schemas.microsoft.com/office/drawing/2014/main" val="2053401285"/>
                    </a:ext>
                  </a:extLst>
                </a:gridCol>
                <a:gridCol w="1386542">
                  <a:extLst>
                    <a:ext uri="{9D8B030D-6E8A-4147-A177-3AD203B41FA5}">
                      <a16:colId xmlns:a16="http://schemas.microsoft.com/office/drawing/2014/main" val="3905175530"/>
                    </a:ext>
                  </a:extLst>
                </a:gridCol>
                <a:gridCol w="960971">
                  <a:extLst>
                    <a:ext uri="{9D8B030D-6E8A-4147-A177-3AD203B41FA5}">
                      <a16:colId xmlns:a16="http://schemas.microsoft.com/office/drawing/2014/main" val="2508980479"/>
                    </a:ext>
                  </a:extLst>
                </a:gridCol>
              </a:tblGrid>
              <a:tr h="260494">
                <a:tc>
                  <a:txBody>
                    <a:bodyPr/>
                    <a:lstStyle/>
                    <a:p>
                      <a:pPr algn="ctr" fontAlgn="b"/>
                      <a:r>
                        <a:rPr lang="en-US" sz="1600" b="0" u="none" strike="noStrike" dirty="0">
                          <a:effectLst/>
                        </a:rPr>
                        <a:t> </a:t>
                      </a:r>
                      <a:endParaRPr lang="en-US" sz="1600" b="0" i="1"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Age</a:t>
                      </a:r>
                      <a:endParaRPr lang="en-US" sz="1600" b="0" i="1"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Dummy</a:t>
                      </a:r>
                      <a:endParaRPr lang="en-US" sz="1600" b="0" i="1"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911826353"/>
                  </a:ext>
                </a:extLst>
              </a:tr>
              <a:tr h="260494">
                <a:tc>
                  <a:txBody>
                    <a:bodyPr/>
                    <a:lstStyle/>
                    <a:p>
                      <a:pPr algn="ctr" fontAlgn="b"/>
                      <a:r>
                        <a:rPr lang="en-US" sz="1600" b="0" u="none" strike="noStrike" dirty="0">
                          <a:effectLst/>
                        </a:rPr>
                        <a:t>Mean</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22.76</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21</a:t>
                      </a:r>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2361522178"/>
                  </a:ext>
                </a:extLst>
              </a:tr>
              <a:tr h="260494">
                <a:tc>
                  <a:txBody>
                    <a:bodyPr/>
                    <a:lstStyle/>
                    <a:p>
                      <a:pPr algn="ctr" fontAlgn="b"/>
                      <a:r>
                        <a:rPr lang="en-US" sz="1600" b="0" u="none" strike="noStrike" dirty="0">
                          <a:effectLst/>
                        </a:rPr>
                        <a:t>Variance</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14.44</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0</a:t>
                      </a:r>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461477879"/>
                  </a:ext>
                </a:extLst>
              </a:tr>
              <a:tr h="260494">
                <a:tc>
                  <a:txBody>
                    <a:bodyPr/>
                    <a:lstStyle/>
                    <a:p>
                      <a:pPr algn="ctr" fontAlgn="b"/>
                      <a:r>
                        <a:rPr lang="en-US" sz="1600" b="0" u="none" strike="noStrike" dirty="0">
                          <a:effectLst/>
                        </a:rPr>
                        <a:t>Observations</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25</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2</a:t>
                      </a:r>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7296252"/>
                  </a:ext>
                </a:extLst>
              </a:tr>
              <a:tr h="260494">
                <a:tc>
                  <a:txBody>
                    <a:bodyPr/>
                    <a:lstStyle/>
                    <a:p>
                      <a:pPr algn="ctr" fontAlgn="b"/>
                      <a:r>
                        <a:rPr lang="en-US" sz="1600" b="0" u="none" strike="noStrike" dirty="0">
                          <a:effectLst/>
                        </a:rPr>
                        <a:t>Hypothesized Mean Difference</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0</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522585752"/>
                  </a:ext>
                </a:extLst>
              </a:tr>
              <a:tr h="260494">
                <a:tc>
                  <a:txBody>
                    <a:bodyPr/>
                    <a:lstStyle/>
                    <a:p>
                      <a:pPr algn="ctr" fontAlgn="b"/>
                      <a:r>
                        <a:rPr lang="en-US" sz="1600" b="0" u="none" strike="noStrike" dirty="0" err="1">
                          <a:effectLst/>
                        </a:rPr>
                        <a:t>df</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24</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827518943"/>
                  </a:ext>
                </a:extLst>
              </a:tr>
              <a:tr h="260494">
                <a:tc>
                  <a:txBody>
                    <a:bodyPr/>
                    <a:lstStyle/>
                    <a:p>
                      <a:pPr algn="ctr" fontAlgn="b"/>
                      <a:r>
                        <a:rPr lang="en-US" sz="1600" b="1" u="none" strike="noStrike" dirty="0">
                          <a:solidFill>
                            <a:srgbClr val="FF0000"/>
                          </a:solidFill>
                          <a:effectLst/>
                        </a:rPr>
                        <a:t>t Stat</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2.315789474</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303643676"/>
                  </a:ext>
                </a:extLst>
              </a:tr>
              <a:tr h="260494">
                <a:tc>
                  <a:txBody>
                    <a:bodyPr/>
                    <a:lstStyle/>
                    <a:p>
                      <a:pPr algn="ctr" fontAlgn="b"/>
                      <a:r>
                        <a:rPr lang="en-US" sz="1600" b="1" u="none" strike="noStrike" dirty="0">
                          <a:solidFill>
                            <a:srgbClr val="FF0000"/>
                          </a:solidFill>
                          <a:effectLst/>
                        </a:rPr>
                        <a:t>P(T&lt;=t) one-tail</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0.014715837</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1345902112"/>
                  </a:ext>
                </a:extLst>
              </a:tr>
              <a:tr h="260494">
                <a:tc>
                  <a:txBody>
                    <a:bodyPr/>
                    <a:lstStyle/>
                    <a:p>
                      <a:pPr algn="ctr" fontAlgn="b"/>
                      <a:r>
                        <a:rPr lang="en-US" sz="1600" b="1" u="none" strike="noStrike" dirty="0">
                          <a:solidFill>
                            <a:srgbClr val="FF0000"/>
                          </a:solidFill>
                          <a:effectLst/>
                        </a:rPr>
                        <a:t>t Critical one-tail</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1.71088208</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836766306"/>
                  </a:ext>
                </a:extLst>
              </a:tr>
              <a:tr h="260494">
                <a:tc>
                  <a:txBody>
                    <a:bodyPr/>
                    <a:lstStyle/>
                    <a:p>
                      <a:pPr algn="ctr" fontAlgn="b"/>
                      <a:r>
                        <a:rPr lang="en-US" sz="1600" b="0" u="none" strike="noStrike" dirty="0">
                          <a:effectLst/>
                        </a:rPr>
                        <a:t>P(T&lt;=t) two-tail</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0.029431673</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63571742"/>
                  </a:ext>
                </a:extLst>
              </a:tr>
              <a:tr h="260494">
                <a:tc>
                  <a:txBody>
                    <a:bodyPr/>
                    <a:lstStyle/>
                    <a:p>
                      <a:pPr algn="ctr" fontAlgn="b"/>
                      <a:r>
                        <a:rPr lang="en-US" sz="1600" b="0" u="none" strike="noStrike" dirty="0">
                          <a:effectLst/>
                        </a:rPr>
                        <a:t>t Critical two-tail</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2.063898562</a:t>
                      </a:r>
                      <a:endParaRPr lang="en-US" sz="1600" b="0" i="0" u="none" strike="noStrike">
                        <a:solidFill>
                          <a:srgbClr val="000000"/>
                        </a:solidFill>
                        <a:effectLst/>
                        <a:latin typeface="+mn-lt"/>
                      </a:endParaRPr>
                    </a:p>
                  </a:txBody>
                  <a:tcPr marL="9525" marR="9525" marT="9525" marB="0" anchor="b"/>
                </a:tc>
                <a:tc>
                  <a:txBody>
                    <a:bodyPr/>
                    <a:lstStyle/>
                    <a:p>
                      <a:pPr algn="ctr" fontAlgn="b"/>
                      <a:r>
                        <a:rPr lang="en-US" sz="1600" b="0" u="none" strike="noStrike" dirty="0">
                          <a:effectLst/>
                        </a:rPr>
                        <a:t> </a:t>
                      </a:r>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462452050"/>
                  </a:ext>
                </a:extLst>
              </a:tr>
            </a:tbl>
          </a:graphicData>
        </a:graphic>
      </p:graphicFrame>
      <p:sp>
        <p:nvSpPr>
          <p:cNvPr id="5" name="Content Placeholder 2">
            <a:extLst>
              <a:ext uri="{FF2B5EF4-FFF2-40B4-BE49-F238E27FC236}">
                <a16:creationId xmlns:a16="http://schemas.microsoft.com/office/drawing/2014/main" id="{B2D96193-1C64-82A4-E611-E46EBA112CC1}"/>
              </a:ext>
            </a:extLst>
          </p:cNvPr>
          <p:cNvSpPr txBox="1">
            <a:spLocks/>
          </p:cNvSpPr>
          <p:nvPr/>
        </p:nvSpPr>
        <p:spPr>
          <a:xfrm>
            <a:off x="838200" y="1706563"/>
            <a:ext cx="5854430" cy="49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According to the test results, we reject the null hypothesis that the mean is less than or equal to 21.</a:t>
            </a:r>
          </a:p>
          <a:p>
            <a:r>
              <a:rPr lang="en-US" sz="2000" dirty="0"/>
              <a:t>Using our sample data, we found that the average students age is more than 21 with significant evidence.</a:t>
            </a:r>
          </a:p>
          <a:p>
            <a:r>
              <a:rPr lang="en-US" sz="2000" dirty="0"/>
              <a:t>We reached this conclusion because the t statistic is larger than the critical value (falls inside the rejection region).</a:t>
            </a:r>
          </a:p>
          <a:p>
            <a:r>
              <a:rPr lang="en-US" sz="2000" dirty="0"/>
              <a:t>We also reached that conclusion because the p-value (0.014) which is less than 0.05.</a:t>
            </a:r>
          </a:p>
        </p:txBody>
      </p:sp>
    </p:spTree>
    <p:extLst>
      <p:ext uri="{BB962C8B-B14F-4D97-AF65-F5344CB8AC3E}">
        <p14:creationId xmlns:p14="http://schemas.microsoft.com/office/powerpoint/2010/main" val="16752915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(Lower Tail Test)</a:t>
            </a:r>
          </a:p>
        </p:txBody>
      </p:sp>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200" y="1706007"/>
            <a:ext cx="5803799" cy="1471695"/>
          </a:xfrm>
        </p:spPr>
        <p:txBody>
          <a:bodyPr>
            <a:normAutofit/>
          </a:bodyPr>
          <a:lstStyle/>
          <a:p>
            <a:pPr marL="0" indent="0">
              <a:buNone/>
            </a:pPr>
            <a:r>
              <a:rPr lang="en-US" sz="2000" dirty="0"/>
              <a:t>Is there enough evidence (at </a:t>
            </a:r>
            <a:r>
              <a:rPr lang="en-US" sz="2000" dirty="0">
                <a:solidFill>
                  <a:schemeClr val="tx1"/>
                </a:solidFill>
              </a:rPr>
              <a:t>α = .05) to conclude that the population mean height for the university students is less than 170 based on the following sample data?</a:t>
            </a:r>
            <a:endParaRPr lang="en-US" sz="2000" dirty="0"/>
          </a:p>
          <a:p>
            <a:endParaRPr lang="en-US" sz="2000" dirty="0"/>
          </a:p>
        </p:txBody>
      </p:sp>
      <p:pic>
        <p:nvPicPr>
          <p:cNvPr id="2050" name="Picture 2">
            <a:extLst>
              <a:ext uri="{FF2B5EF4-FFF2-40B4-BE49-F238E27FC236}">
                <a16:creationId xmlns:a16="http://schemas.microsoft.com/office/drawing/2014/main" id="{4436D534-A178-68E3-6608-16DA604AF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1999" y="1802314"/>
            <a:ext cx="5877351" cy="41981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D9836D32-166D-F5EB-B3CE-5E1CA2D96719}"/>
              </a:ext>
            </a:extLst>
          </p:cNvPr>
          <p:cNvGraphicFramePr>
            <a:graphicFrameLocks noGrp="1"/>
          </p:cNvGraphicFramePr>
          <p:nvPr>
            <p:extLst>
              <p:ext uri="{D42A27DB-BD31-4B8C-83A1-F6EECF244321}">
                <p14:modId xmlns:p14="http://schemas.microsoft.com/office/powerpoint/2010/main" val="1062968846"/>
              </p:ext>
            </p:extLst>
          </p:nvPr>
        </p:nvGraphicFramePr>
        <p:xfrm>
          <a:off x="1633622" y="3337978"/>
          <a:ext cx="3916380" cy="906780"/>
        </p:xfrm>
        <a:graphic>
          <a:graphicData uri="http://schemas.openxmlformats.org/drawingml/2006/table">
            <a:tbl>
              <a:tblPr>
                <a:tableStyleId>{9D7B26C5-4107-4FEC-AEDC-1716B250A1EF}</a:tableStyleId>
              </a:tblPr>
              <a:tblGrid>
                <a:gridCol w="979095">
                  <a:extLst>
                    <a:ext uri="{9D8B030D-6E8A-4147-A177-3AD203B41FA5}">
                      <a16:colId xmlns:a16="http://schemas.microsoft.com/office/drawing/2014/main" val="1899938563"/>
                    </a:ext>
                  </a:extLst>
                </a:gridCol>
                <a:gridCol w="979095">
                  <a:extLst>
                    <a:ext uri="{9D8B030D-6E8A-4147-A177-3AD203B41FA5}">
                      <a16:colId xmlns:a16="http://schemas.microsoft.com/office/drawing/2014/main" val="4259711478"/>
                    </a:ext>
                  </a:extLst>
                </a:gridCol>
                <a:gridCol w="979095">
                  <a:extLst>
                    <a:ext uri="{9D8B030D-6E8A-4147-A177-3AD203B41FA5}">
                      <a16:colId xmlns:a16="http://schemas.microsoft.com/office/drawing/2014/main" val="1535792617"/>
                    </a:ext>
                  </a:extLst>
                </a:gridCol>
                <a:gridCol w="979095">
                  <a:extLst>
                    <a:ext uri="{9D8B030D-6E8A-4147-A177-3AD203B41FA5}">
                      <a16:colId xmlns:a16="http://schemas.microsoft.com/office/drawing/2014/main" val="3646237873"/>
                    </a:ext>
                  </a:extLst>
                </a:gridCol>
              </a:tblGrid>
              <a:tr h="97532">
                <a:tc>
                  <a:txBody>
                    <a:bodyPr/>
                    <a:lstStyle/>
                    <a:p>
                      <a:pPr algn="ctr" fontAlgn="b"/>
                      <a:r>
                        <a:rPr lang="en-US" sz="1100" b="0" i="0" u="none" strike="noStrike">
                          <a:solidFill>
                            <a:srgbClr val="000000"/>
                          </a:solidFill>
                          <a:effectLst/>
                          <a:latin typeface="Aptos Narrow" panose="020B0004020202020204" pitchFamily="34" charset="0"/>
                        </a:rPr>
                        <a:t>175.65</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164.61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165.96</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168.59</a:t>
                      </a:r>
                    </a:p>
                  </a:txBody>
                  <a:tcPr marL="7620" marR="7620" marT="7620" marB="0" anchor="b"/>
                </a:tc>
                <a:extLst>
                  <a:ext uri="{0D108BD9-81ED-4DB2-BD59-A6C34878D82A}">
                    <a16:rowId xmlns:a16="http://schemas.microsoft.com/office/drawing/2014/main" val="2495988277"/>
                  </a:ext>
                </a:extLst>
              </a:tr>
              <a:tr h="182880">
                <a:tc>
                  <a:txBody>
                    <a:bodyPr/>
                    <a:lstStyle/>
                    <a:p>
                      <a:pPr algn="ctr" fontAlgn="b"/>
                      <a:r>
                        <a:rPr lang="en-US" sz="1100" b="0" i="0" u="none" strike="noStrike">
                          <a:solidFill>
                            <a:srgbClr val="000000"/>
                          </a:solidFill>
                          <a:effectLst/>
                          <a:latin typeface="Aptos Narrow" panose="020B0004020202020204" pitchFamily="34" charset="0"/>
                        </a:rPr>
                        <a:t>171.82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167.32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175.88</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167.56</a:t>
                      </a:r>
                    </a:p>
                  </a:txBody>
                  <a:tcPr marL="7620" marR="7620" marT="7620" marB="0" anchor="b"/>
                </a:tc>
                <a:extLst>
                  <a:ext uri="{0D108BD9-81ED-4DB2-BD59-A6C34878D82A}">
                    <a16:rowId xmlns:a16="http://schemas.microsoft.com/office/drawing/2014/main" val="791477849"/>
                  </a:ext>
                </a:extLst>
              </a:tr>
              <a:tr h="182880">
                <a:tc>
                  <a:txBody>
                    <a:bodyPr/>
                    <a:lstStyle/>
                    <a:p>
                      <a:pPr algn="ctr" fontAlgn="b"/>
                      <a:r>
                        <a:rPr lang="en-US" sz="1100" b="0" i="0" u="none" strike="noStrike">
                          <a:solidFill>
                            <a:srgbClr val="000000"/>
                          </a:solidFill>
                          <a:effectLst/>
                          <a:latin typeface="Aptos Narrow" panose="020B0004020202020204" pitchFamily="34" charset="0"/>
                        </a:rPr>
                        <a:t>166.08</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167.17</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164.32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163.92</a:t>
                      </a:r>
                    </a:p>
                  </a:txBody>
                  <a:tcPr marL="7620" marR="7620" marT="7620" marB="0" anchor="b"/>
                </a:tc>
                <a:extLst>
                  <a:ext uri="{0D108BD9-81ED-4DB2-BD59-A6C34878D82A}">
                    <a16:rowId xmlns:a16="http://schemas.microsoft.com/office/drawing/2014/main" val="821333694"/>
                  </a:ext>
                </a:extLst>
              </a:tr>
              <a:tr h="182880">
                <a:tc>
                  <a:txBody>
                    <a:bodyPr/>
                    <a:lstStyle/>
                    <a:p>
                      <a:pPr algn="ctr" fontAlgn="b"/>
                      <a:r>
                        <a:rPr lang="en-US" sz="1100" b="0" i="0" u="none" strike="noStrike">
                          <a:solidFill>
                            <a:srgbClr val="000000"/>
                          </a:solidFill>
                          <a:effectLst/>
                          <a:latin typeface="Aptos Narrow" panose="020B0004020202020204" pitchFamily="34" charset="0"/>
                        </a:rPr>
                        <a:t>167.49</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175.20</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172.61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176.43</a:t>
                      </a:r>
                    </a:p>
                  </a:txBody>
                  <a:tcPr marL="7620" marR="7620" marT="7620" marB="0" anchor="b"/>
                </a:tc>
                <a:extLst>
                  <a:ext uri="{0D108BD9-81ED-4DB2-BD59-A6C34878D82A}">
                    <a16:rowId xmlns:a16="http://schemas.microsoft.com/office/drawing/2014/main" val="4162274723"/>
                  </a:ext>
                </a:extLst>
              </a:tr>
              <a:tr h="182880">
                <a:tc>
                  <a:txBody>
                    <a:bodyPr/>
                    <a:lstStyle/>
                    <a:p>
                      <a:pPr algn="ctr" fontAlgn="b"/>
                      <a:r>
                        <a:rPr lang="en-US" sz="1100" b="0" i="0" u="none" strike="noStrike">
                          <a:solidFill>
                            <a:srgbClr val="000000"/>
                          </a:solidFill>
                          <a:effectLst/>
                          <a:latin typeface="Aptos Narrow" panose="020B0004020202020204" pitchFamily="34" charset="0"/>
                        </a:rPr>
                        <a:t>169.61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163.77</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171.58</a:t>
                      </a:r>
                    </a:p>
                  </a:txBody>
                  <a:tcPr marL="7620" marR="7620" marT="7620" marB="0" anchor="b"/>
                </a:tc>
                <a:tc>
                  <a:txBody>
                    <a:bodyPr/>
                    <a:lstStyle/>
                    <a:p>
                      <a:pPr algn="ctr" fontAlgn="b"/>
                      <a:r>
                        <a:rPr lang="en-US" sz="1100" b="0" i="0" u="none" strike="noStrike" dirty="0">
                          <a:solidFill>
                            <a:srgbClr val="000000"/>
                          </a:solidFill>
                          <a:effectLst/>
                          <a:latin typeface="Aptos Narrow" panose="020B0004020202020204" pitchFamily="34" charset="0"/>
                        </a:rPr>
                        <a:t>174.42</a:t>
                      </a:r>
                    </a:p>
                  </a:txBody>
                  <a:tcPr marL="7620" marR="7620" marT="7620" marB="0" anchor="b"/>
                </a:tc>
                <a:extLst>
                  <a:ext uri="{0D108BD9-81ED-4DB2-BD59-A6C34878D82A}">
                    <a16:rowId xmlns:a16="http://schemas.microsoft.com/office/drawing/2014/main" val="4007351922"/>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428460-6947-157A-A520-29BF886C5E4D}"/>
                  </a:ext>
                </a:extLst>
              </p:cNvPr>
              <p:cNvSpPr txBox="1"/>
              <p:nvPr/>
            </p:nvSpPr>
            <p:spPr>
              <a:xfrm>
                <a:off x="838200" y="4683370"/>
                <a:ext cx="6258126" cy="1928348"/>
              </a:xfrm>
              <a:prstGeom prst="rect">
                <a:avLst/>
              </a:prstGeom>
              <a:noFill/>
            </p:spPr>
            <p:txBody>
              <a:bodyPr wrap="square">
                <a:spAutoFit/>
              </a:bodyPr>
              <a:lstStyle/>
              <a:p>
                <a:pPr marL="0" indent="0">
                  <a:buNone/>
                </a:pPr>
                <a:r>
                  <a:rPr lang="en-US" sz="2000" dirty="0"/>
                  <a:t>To test whether average students' height is less than 170 cm, we define the null and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i="1" dirty="0">
                          <a:solidFill>
                            <a:srgbClr val="002060"/>
                          </a:solidFill>
                          <a:latin typeface="Cambria Math" panose="02040503050406030204" pitchFamily="18" charset="0"/>
                        </a:rPr>
                        <m:t>≥</m:t>
                      </m:r>
                      <m:r>
                        <a:rPr lang="en-US" sz="2000" b="0" i="1" dirty="0" smtClean="0">
                          <a:solidFill>
                            <a:srgbClr val="002060"/>
                          </a:solidFill>
                          <a:latin typeface="Cambria Math" panose="02040503050406030204" pitchFamily="18" charset="0"/>
                        </a:rPr>
                        <m:t>170 </m:t>
                      </m:r>
                      <m:r>
                        <a:rPr lang="en-US" sz="2000" b="0" i="1" dirty="0" smtClean="0">
                          <a:solidFill>
                            <a:srgbClr val="002060"/>
                          </a:solidFill>
                          <a:latin typeface="Cambria Math" panose="02040503050406030204" pitchFamily="18" charset="0"/>
                        </a:rPr>
                        <m:t>𝑐𝑚</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b="0" i="1" dirty="0" smtClean="0">
                          <a:solidFill>
                            <a:srgbClr val="002060"/>
                          </a:solidFill>
                          <a:latin typeface="Cambria Math" panose="02040503050406030204" pitchFamily="18" charset="0"/>
                        </a:rPr>
                        <m:t>&lt;170 </m:t>
                      </m:r>
                      <m:r>
                        <a:rPr lang="en-US" sz="2000" b="0" i="1" dirty="0" smtClean="0">
                          <a:solidFill>
                            <a:srgbClr val="002060"/>
                          </a:solidFill>
                          <a:latin typeface="Cambria Math" panose="02040503050406030204" pitchFamily="18" charset="0"/>
                        </a:rPr>
                        <m:t>𝑐𝑚</m:t>
                      </m:r>
                    </m:oMath>
                  </m:oMathPara>
                </a14:m>
                <a:endParaRPr lang="en-US" sz="2000" b="0" i="0" dirty="0">
                  <a:solidFill>
                    <a:srgbClr val="002060"/>
                  </a:solidFill>
                  <a:effectLst/>
                </a:endParaRPr>
              </a:p>
            </p:txBody>
          </p:sp>
        </mc:Choice>
        <mc:Fallback xmlns="">
          <p:sp>
            <p:nvSpPr>
              <p:cNvPr id="10" name="TextBox 9">
                <a:extLst>
                  <a:ext uri="{FF2B5EF4-FFF2-40B4-BE49-F238E27FC236}">
                    <a16:creationId xmlns:a16="http://schemas.microsoft.com/office/drawing/2014/main" id="{D6428460-6947-157A-A520-29BF886C5E4D}"/>
                  </a:ext>
                </a:extLst>
              </p:cNvPr>
              <p:cNvSpPr txBox="1">
                <a:spLocks noRot="1" noChangeAspect="1" noMove="1" noResize="1" noEditPoints="1" noAdjustHandles="1" noChangeArrowheads="1" noChangeShapeType="1" noTextEdit="1"/>
              </p:cNvSpPr>
              <p:nvPr/>
            </p:nvSpPr>
            <p:spPr>
              <a:xfrm>
                <a:off x="838200" y="4683370"/>
                <a:ext cx="6258126" cy="1928348"/>
              </a:xfrm>
              <a:prstGeom prst="rect">
                <a:avLst/>
              </a:prstGeom>
              <a:blipFill>
                <a:blip r:embed="rId3"/>
                <a:stretch>
                  <a:fillRect l="-1072" t="-1577"/>
                </a:stretch>
              </a:blipFill>
            </p:spPr>
            <p:txBody>
              <a:bodyPr/>
              <a:lstStyle/>
              <a:p>
                <a:r>
                  <a:rPr lang="en-US">
                    <a:noFill/>
                  </a:rPr>
                  <a:t> </a:t>
                </a:r>
              </a:p>
            </p:txBody>
          </p:sp>
        </mc:Fallback>
      </mc:AlternateContent>
    </p:spTree>
    <p:extLst>
      <p:ext uri="{BB962C8B-B14F-4D97-AF65-F5344CB8AC3E}">
        <p14:creationId xmlns:p14="http://schemas.microsoft.com/office/powerpoint/2010/main" val="373430946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Two Populations Means</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endParaRPr lang="en-US" sz="4000" dirty="0"/>
          </a:p>
        </p:txBody>
      </p:sp>
    </p:spTree>
    <p:extLst>
      <p:ext uri="{BB962C8B-B14F-4D97-AF65-F5344CB8AC3E}">
        <p14:creationId xmlns:p14="http://schemas.microsoft.com/office/powerpoint/2010/main" val="3061130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Types of Hypothesis Tests</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199" y="1706007"/>
            <a:ext cx="11554839" cy="4991039"/>
          </a:xfrm>
        </p:spPr>
        <p:txBody>
          <a:bodyPr/>
          <a:lstStyle/>
          <a:p>
            <a:r>
              <a:rPr lang="en-US" dirty="0">
                <a:solidFill>
                  <a:schemeClr val="tx2">
                    <a:lumMod val="40000"/>
                    <a:lumOff val="60000"/>
                  </a:schemeClr>
                </a:solidFill>
              </a:rPr>
              <a:t>Z-test: Used for normally distributed data when the variance is known.</a:t>
            </a:r>
          </a:p>
          <a:p>
            <a:pPr marL="460375" lvl="1"/>
            <a:r>
              <a:rPr lang="en-US" dirty="0">
                <a:solidFill>
                  <a:schemeClr val="tx2">
                    <a:lumMod val="40000"/>
                    <a:lumOff val="60000"/>
                  </a:schemeClr>
                </a:solidFill>
              </a:rPr>
              <a:t>One-sample z-test: Tests the mean of a single group against a known mean.</a:t>
            </a:r>
          </a:p>
          <a:p>
            <a:pPr marL="460375" lvl="1"/>
            <a:r>
              <a:rPr lang="en-US" dirty="0">
                <a:solidFill>
                  <a:schemeClr val="tx2">
                    <a:lumMod val="40000"/>
                    <a:lumOff val="60000"/>
                  </a:schemeClr>
                </a:solidFill>
              </a:rPr>
              <a:t>Two-sample z-test: Compares the means of two dependent groups (paired test).</a:t>
            </a:r>
          </a:p>
          <a:p>
            <a:pPr marL="460375" lvl="1"/>
            <a:r>
              <a:rPr lang="en-US" dirty="0">
                <a:solidFill>
                  <a:schemeClr val="tx2">
                    <a:lumMod val="40000"/>
                    <a:lumOff val="60000"/>
                  </a:schemeClr>
                </a:solidFill>
              </a:rPr>
              <a:t>Two-sample z-test: Compares the means of two independent groups.</a:t>
            </a:r>
          </a:p>
          <a:p>
            <a:r>
              <a:rPr lang="en-US" dirty="0"/>
              <a:t>T-test: Used for normally distributed data when the variance is </a:t>
            </a:r>
            <a:r>
              <a:rPr lang="en-US" dirty="0">
                <a:solidFill>
                  <a:srgbClr val="FF0000"/>
                </a:solidFill>
              </a:rPr>
              <a:t>unknown</a:t>
            </a:r>
            <a:r>
              <a:rPr lang="en-US" dirty="0"/>
              <a:t>.</a:t>
            </a:r>
          </a:p>
          <a:p>
            <a:pPr marL="460375" lvl="1"/>
            <a:r>
              <a:rPr lang="en-US" dirty="0">
                <a:solidFill>
                  <a:schemeClr val="tx2">
                    <a:lumMod val="40000"/>
                    <a:lumOff val="60000"/>
                  </a:schemeClr>
                </a:solidFill>
              </a:rPr>
              <a:t>One-sample t-test: Tests the mean of a single group against a known mean.</a:t>
            </a:r>
          </a:p>
          <a:p>
            <a:pPr marL="460375" lvl="1"/>
            <a:r>
              <a:rPr lang="en-US" dirty="0"/>
              <a:t>Two-sample t-test: Compares the means of two dependent groups (Paired t test).</a:t>
            </a:r>
          </a:p>
          <a:p>
            <a:pPr marL="460375" lvl="1"/>
            <a:r>
              <a:rPr lang="en-US" dirty="0"/>
              <a:t>Two-sample t-test: Compares the means of two independent groups (variance assumed to be equal).</a:t>
            </a:r>
          </a:p>
          <a:p>
            <a:pPr marL="460375" lvl="1"/>
            <a:r>
              <a:rPr lang="en-US" dirty="0"/>
              <a:t>Two-sample t-test: Compares the means of two independent groups (variance assumed to be not equal).</a:t>
            </a:r>
          </a:p>
          <a:p>
            <a:r>
              <a:rPr lang="en-US" dirty="0">
                <a:solidFill>
                  <a:schemeClr val="accent1">
                    <a:lumMod val="20000"/>
                    <a:lumOff val="80000"/>
                  </a:schemeClr>
                </a:solidFill>
              </a:rPr>
              <a:t>ANOVA (Analysis of Variance): Used to compare the means of three or more samples.</a:t>
            </a:r>
          </a:p>
          <a:p>
            <a:r>
              <a:rPr lang="en-US" dirty="0">
                <a:solidFill>
                  <a:schemeClr val="accent1">
                    <a:lumMod val="20000"/>
                    <a:lumOff val="80000"/>
                  </a:schemeClr>
                </a:solidFill>
              </a:rPr>
              <a:t>Chi-square test: Tests for relationships between categorical variables.</a:t>
            </a:r>
          </a:p>
        </p:txBody>
      </p:sp>
    </p:spTree>
    <p:extLst>
      <p:ext uri="{BB962C8B-B14F-4D97-AF65-F5344CB8AC3E}">
        <p14:creationId xmlns:p14="http://schemas.microsoft.com/office/powerpoint/2010/main" val="3585687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200" y="1706007"/>
            <a:ext cx="8182583" cy="3449653"/>
          </a:xfrm>
        </p:spPr>
        <p:txBody>
          <a:bodyPr>
            <a:normAutofit fontScale="77500" lnSpcReduction="20000"/>
          </a:bodyPr>
          <a:lstStyle/>
          <a:p>
            <a:r>
              <a:rPr lang="en-US" dirty="0"/>
              <a:t>The dependent samples T-test (or paired samples t-test) is a statistical test that determines whether there is a difference between two dependent groups or samples.</a:t>
            </a:r>
          </a:p>
          <a:p>
            <a:r>
              <a:rPr lang="en-US" dirty="0"/>
              <a:t>We need the paired t-test whenever we survey the same group or sample at two points in time. </a:t>
            </a:r>
          </a:p>
          <a:p>
            <a:r>
              <a:rPr lang="en-US" dirty="0"/>
              <a:t>This can be the case, for example, in longitudinal studies with several measurement points (time series analyses) or in intervention studies with experimental designs (before-after measurement).</a:t>
            </a:r>
          </a:p>
          <a:p>
            <a:r>
              <a:rPr lang="en-US" dirty="0"/>
              <a:t>An example of dependent sampling is when the weight of a group of people is measured at two points in time (before and after going into a diet).</a:t>
            </a:r>
          </a:p>
          <a:p>
            <a:r>
              <a:rPr lang="en-US" dirty="0"/>
              <a:t>The weight of a person can be measured individually before and after going into </a:t>
            </a:r>
            <a:r>
              <a:rPr lang="en-US"/>
              <a:t>the diet, and </a:t>
            </a:r>
            <a:r>
              <a:rPr lang="en-US" dirty="0"/>
              <a:t>the difference in the measured values can be calculated in each case.</a:t>
            </a:r>
          </a:p>
        </p:txBody>
      </p:sp>
      <p:pic>
        <p:nvPicPr>
          <p:cNvPr id="5" name="Picture 4">
            <a:extLst>
              <a:ext uri="{FF2B5EF4-FFF2-40B4-BE49-F238E27FC236}">
                <a16:creationId xmlns:a16="http://schemas.microsoft.com/office/drawing/2014/main" id="{B4E1DA40-A19D-9F47-330A-D0DB22B72CA1}"/>
              </a:ext>
            </a:extLst>
          </p:cNvPr>
          <p:cNvPicPr>
            <a:picLocks noChangeAspect="1"/>
          </p:cNvPicPr>
          <p:nvPr/>
        </p:nvPicPr>
        <p:blipFill>
          <a:blip r:embed="rId2"/>
          <a:stretch>
            <a:fillRect/>
          </a:stretch>
        </p:blipFill>
        <p:spPr>
          <a:xfrm>
            <a:off x="9234634" y="1778598"/>
            <a:ext cx="1976674" cy="2696125"/>
          </a:xfrm>
          <a:prstGeom prst="rect">
            <a:avLst/>
          </a:prstGeom>
        </p:spPr>
      </p:pic>
      <p:pic>
        <p:nvPicPr>
          <p:cNvPr id="7" name="Picture 6">
            <a:extLst>
              <a:ext uri="{FF2B5EF4-FFF2-40B4-BE49-F238E27FC236}">
                <a16:creationId xmlns:a16="http://schemas.microsoft.com/office/drawing/2014/main" id="{9CEB6021-AC97-0221-8C41-21F645A15AFA}"/>
              </a:ext>
            </a:extLst>
          </p:cNvPr>
          <p:cNvPicPr>
            <a:picLocks noChangeAspect="1"/>
          </p:cNvPicPr>
          <p:nvPr/>
        </p:nvPicPr>
        <p:blipFill>
          <a:blip r:embed="rId3"/>
          <a:stretch>
            <a:fillRect/>
          </a:stretch>
        </p:blipFill>
        <p:spPr>
          <a:xfrm>
            <a:off x="3012960" y="5281055"/>
            <a:ext cx="4416722" cy="1558843"/>
          </a:xfrm>
          <a:prstGeom prst="rect">
            <a:avLst/>
          </a:prstGeom>
        </p:spPr>
      </p:pic>
      <p:pic>
        <p:nvPicPr>
          <p:cNvPr id="8" name="Picture 6" descr="References">
            <a:hlinkClick r:id="rId4"/>
            <a:extLst>
              <a:ext uri="{FF2B5EF4-FFF2-40B4-BE49-F238E27FC236}">
                <a16:creationId xmlns:a16="http://schemas.microsoft.com/office/drawing/2014/main" id="{A234D96B-EB0A-B103-4FB0-0A3C61FDED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622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sp>
        <p:nvSpPr>
          <p:cNvPr id="9" name="Content Placeholder 8">
            <a:extLst>
              <a:ext uri="{FF2B5EF4-FFF2-40B4-BE49-F238E27FC236}">
                <a16:creationId xmlns:a16="http://schemas.microsoft.com/office/drawing/2014/main" id="{33559B29-4771-A9F7-E7CA-D37CB72E62CF}"/>
              </a:ext>
            </a:extLst>
          </p:cNvPr>
          <p:cNvSpPr>
            <a:spLocks noGrp="1"/>
          </p:cNvSpPr>
          <p:nvPr>
            <p:ph idx="1"/>
          </p:nvPr>
        </p:nvSpPr>
        <p:spPr>
          <a:xfrm>
            <a:off x="838200" y="1706007"/>
            <a:ext cx="8610600" cy="4020342"/>
          </a:xfrm>
        </p:spPr>
        <p:txBody>
          <a:bodyPr>
            <a:normAutofit fontScale="77500" lnSpcReduction="20000"/>
          </a:bodyPr>
          <a:lstStyle/>
          <a:p>
            <a:r>
              <a:rPr lang="en-US" dirty="0"/>
              <a:t>We are interested in the question whether an online statistics learning tutorial helps students improve their grades. </a:t>
            </a:r>
          </a:p>
          <a:p>
            <a:r>
              <a:rPr lang="en-US" dirty="0"/>
              <a:t>There are three variables of interest in the student's data set (score1, score2 and </a:t>
            </a:r>
            <a:r>
              <a:rPr lang="en-US" dirty="0" err="1"/>
              <a:t>online.tutorial</a:t>
            </a:r>
            <a:r>
              <a:rPr lang="en-US" dirty="0"/>
              <a:t>).</a:t>
            </a:r>
          </a:p>
          <a:p>
            <a:r>
              <a:rPr lang="en-US" dirty="0"/>
              <a:t>The variables score1 and score2 show the grades (0-100) for two exams on mathematics after </a:t>
            </a:r>
            <a:r>
              <a:rPr lang="en-US"/>
              <a:t>attending online training. </a:t>
            </a:r>
            <a:r>
              <a:rPr lang="en-US" dirty="0"/>
              <a:t>The higher the value the better the student performed. </a:t>
            </a:r>
          </a:p>
          <a:p>
            <a:r>
              <a:rPr lang="en-US" dirty="0"/>
              <a:t>The variable </a:t>
            </a:r>
            <a:r>
              <a:rPr lang="en-US" dirty="0" err="1"/>
              <a:t>online.tutorial</a:t>
            </a:r>
            <a:r>
              <a:rPr lang="en-US" dirty="0"/>
              <a:t> is a binary variable, which is 1  if the student completed the online statistics learning tutorial, or 0  otherwise. </a:t>
            </a:r>
          </a:p>
          <a:p>
            <a:r>
              <a:rPr lang="en-US" dirty="0"/>
              <a:t>The first exam takes place before the students attended the online statistics learning tutorial. </a:t>
            </a:r>
          </a:p>
          <a:p>
            <a:r>
              <a:rPr lang="en-US" dirty="0"/>
              <a:t>The participation in the online statistics learning tutorial is not mandatory, however the two exams are obligatory for all students. </a:t>
            </a:r>
          </a:p>
          <a:p>
            <a:r>
              <a:rPr lang="en-US" dirty="0"/>
              <a:t>We want to examine if the group of students, which attended the online statistics learning tutorial, performs better on the second exam compared to the first exam.</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pt-BR" sz="1800" smtClean="0">
                                        <a:solidFill>
                                          <a:srgbClr val="002060"/>
                                        </a:solidFill>
                                        <a:latin typeface="Cambria Math" panose="02040503050406030204" pitchFamily="18" charset="0"/>
                                      </a:rPr>
                                      <m:t>0</m:t>
                                    </m:r>
                                  </m:sub>
                                </m:sSub>
                                <m:r>
                                  <a:rPr lang="en-US" sz="1800" b="0" smtClean="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sub>
                                </m:sSub>
                                <m:r>
                                  <a:rPr lang="en-US" sz="1800" dirty="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dirty="0"/>
                        </a:p>
                      </a:txBody>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en-US" sz="1800" b="0" smtClean="0">
                                        <a:solidFill>
                                          <a:srgbClr val="002060"/>
                                        </a:solidFill>
                                        <a:latin typeface="Cambria Math" panose="02040503050406030204" pitchFamily="18" charset="0"/>
                                      </a:rPr>
                                      <m:t>1</m:t>
                                    </m:r>
                                  </m:sub>
                                </m:sSub>
                                <m:r>
                                  <a:rPr lang="en-US" sz="1800" b="0" smtClean="0">
                                    <a:solidFill>
                                      <a:srgbClr val="002060"/>
                                    </a:solidFill>
                                    <a:latin typeface="Cambria Math" panose="02040503050406030204" pitchFamily="18" charset="0"/>
                                  </a:rPr>
                                  <m:t>:</m:t>
                                </m:r>
                                <m:sSub>
                                  <m:sSubPr>
                                    <m:ctrlPr>
                                      <a:rPr lang="pt-BR" sz="1800" i="1" smtClean="0">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r>
                                      <m:rPr>
                                        <m:nor/>
                                      </m:rPr>
                                      <a:rPr lang="en-US" sz="1800" b="0" dirty="0" smtClean="0">
                                        <a:solidFill>
                                          <a:srgbClr val="002060"/>
                                        </a:solidFill>
                                      </a:rPr>
                                      <m:t> &gt; </m:t>
                                    </m:r>
                                  </m:sub>
                                </m:sSub>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sz="18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endParaRPr lang="en-US"/>
                        </a:p>
                      </a:txBody>
                      <a:tcPr>
                        <a:blipFill>
                          <a:blip r:embed="rId4"/>
                          <a:stretch>
                            <a:fillRect t="-1613" r="-177445" b="-100000"/>
                          </a:stretch>
                        </a:blipFill>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4"/>
                          <a:stretch>
                            <a:fillRect t="-103279" r="-177445" b="-163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Fallback>
      </mc:AlternateContent>
      <p:graphicFrame>
        <p:nvGraphicFramePr>
          <p:cNvPr id="12" name="Table 11">
            <a:extLst>
              <a:ext uri="{FF2B5EF4-FFF2-40B4-BE49-F238E27FC236}">
                <a16:creationId xmlns:a16="http://schemas.microsoft.com/office/drawing/2014/main" id="{05D41373-660D-568C-2C82-4FA43E75D4D9}"/>
              </a:ext>
            </a:extLst>
          </p:cNvPr>
          <p:cNvGraphicFramePr>
            <a:graphicFrameLocks noGrp="1"/>
          </p:cNvGraphicFramePr>
          <p:nvPr>
            <p:extLst>
              <p:ext uri="{D42A27DB-BD31-4B8C-83A1-F6EECF244321}">
                <p14:modId xmlns:p14="http://schemas.microsoft.com/office/powerpoint/2010/main" val="1443322844"/>
              </p:ext>
            </p:extLst>
          </p:nvPr>
        </p:nvGraphicFramePr>
        <p:xfrm>
          <a:off x="10091649" y="1744674"/>
          <a:ext cx="1323600" cy="4352515"/>
        </p:xfrm>
        <a:graphic>
          <a:graphicData uri="http://schemas.openxmlformats.org/drawingml/2006/table">
            <a:tbl>
              <a:tblPr>
                <a:tableStyleId>{5C22544A-7EE6-4342-B048-85BDC9FD1C3A}</a:tableStyleId>
              </a:tblPr>
              <a:tblGrid>
                <a:gridCol w="441200">
                  <a:extLst>
                    <a:ext uri="{9D8B030D-6E8A-4147-A177-3AD203B41FA5}">
                      <a16:colId xmlns:a16="http://schemas.microsoft.com/office/drawing/2014/main" val="3752360335"/>
                    </a:ext>
                  </a:extLst>
                </a:gridCol>
                <a:gridCol w="441200">
                  <a:extLst>
                    <a:ext uri="{9D8B030D-6E8A-4147-A177-3AD203B41FA5}">
                      <a16:colId xmlns:a16="http://schemas.microsoft.com/office/drawing/2014/main" val="3648334846"/>
                    </a:ext>
                  </a:extLst>
                </a:gridCol>
                <a:gridCol w="441200">
                  <a:extLst>
                    <a:ext uri="{9D8B030D-6E8A-4147-A177-3AD203B41FA5}">
                      <a16:colId xmlns:a16="http://schemas.microsoft.com/office/drawing/2014/main" val="1539677516"/>
                    </a:ext>
                  </a:extLst>
                </a:gridCol>
              </a:tblGrid>
              <a:tr h="248175">
                <a:tc gridSpan="3">
                  <a:txBody>
                    <a:bodyPr/>
                    <a:lstStyle/>
                    <a:p>
                      <a:pPr algn="l" fontAlgn="b"/>
                      <a:r>
                        <a:rPr lang="en-US" sz="800" u="none" strike="noStrike">
                          <a:effectLst/>
                        </a:rPr>
                        <a:t>Random sample of students who took the online training</a:t>
                      </a:r>
                      <a:endParaRPr lang="en-US" sz="800" b="0" i="0" u="none" strike="noStrike">
                        <a:solidFill>
                          <a:srgbClr val="000000"/>
                        </a:solidFill>
                        <a:effectLst/>
                        <a:latin typeface="Aptos Narrow" panose="020B0004020202020204" pitchFamily="34" charset="0"/>
                      </a:endParaRPr>
                    </a:p>
                  </a:txBody>
                  <a:tcPr marL="5515" marR="5515" marT="551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51718028"/>
                  </a:ext>
                </a:extLst>
              </a:tr>
              <a:tr h="132360">
                <a:tc>
                  <a:txBody>
                    <a:bodyPr/>
                    <a:lstStyle/>
                    <a:p>
                      <a:pPr algn="ctr" fontAlgn="ctr"/>
                      <a:r>
                        <a:rPr lang="en-US" sz="800" b="0" i="0" u="none" strike="noStrike" dirty="0">
                          <a:solidFill>
                            <a:srgbClr val="000000"/>
                          </a:solidFill>
                          <a:effectLst/>
                          <a:latin typeface="Aptos Narrow" panose="020B0004020202020204" pitchFamily="34" charset="0"/>
                        </a:rPr>
                        <a:t>`</a:t>
                      </a:r>
                    </a:p>
                  </a:txBody>
                  <a:tcPr marL="5515" marR="5515" marT="5515" marB="0" anchor="ctr"/>
                </a:tc>
                <a:tc>
                  <a:txBody>
                    <a:bodyPr/>
                    <a:lstStyle/>
                    <a:p>
                      <a:pPr algn="ctr" fontAlgn="ctr"/>
                      <a:r>
                        <a:rPr lang="en-US" sz="800" u="none" strike="noStrike">
                          <a:effectLst/>
                        </a:rPr>
                        <a:t>Score 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Score 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838798111"/>
                  </a:ext>
                </a:extLst>
              </a:tr>
              <a:tr h="132360">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71</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53375885"/>
                  </a:ext>
                </a:extLst>
              </a:tr>
              <a:tr h="132360">
                <a:tc>
                  <a:txBody>
                    <a:bodyPr/>
                    <a:lstStyle/>
                    <a:p>
                      <a:pPr algn="ctr" fontAlgn="ctr"/>
                      <a:r>
                        <a:rPr lang="en-US" sz="800" u="none" strike="noStrike" dirty="0">
                          <a:effectLst/>
                        </a:rPr>
                        <a:t>2</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325733353"/>
                  </a:ext>
                </a:extLst>
              </a:tr>
              <a:tr h="132360">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918219597"/>
                  </a:ext>
                </a:extLst>
              </a:tr>
              <a:tr h="132360">
                <a:tc>
                  <a:txBody>
                    <a:bodyPr/>
                    <a:lstStyle/>
                    <a:p>
                      <a:pPr algn="ctr" fontAlgn="ct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8998917"/>
                  </a:ext>
                </a:extLst>
              </a:tr>
              <a:tr h="132360">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75</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70254716"/>
                  </a:ext>
                </a:extLst>
              </a:tr>
              <a:tr h="132360">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9484261"/>
                  </a:ext>
                </a:extLst>
              </a:tr>
              <a:tr h="132360">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43</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83064696"/>
                  </a:ext>
                </a:extLst>
              </a:tr>
              <a:tr h="132360">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19756127"/>
                  </a:ext>
                </a:extLst>
              </a:tr>
              <a:tr h="132360">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59</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20394858"/>
                  </a:ext>
                </a:extLst>
              </a:tr>
              <a:tr h="132360">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400111884"/>
                  </a:ext>
                </a:extLst>
              </a:tr>
              <a:tr h="132360">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389560551"/>
                  </a:ext>
                </a:extLst>
              </a:tr>
              <a:tr h="132360">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04723707"/>
                  </a:ext>
                </a:extLst>
              </a:tr>
              <a:tr h="132360">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996571049"/>
                  </a:ext>
                </a:extLst>
              </a:tr>
              <a:tr h="132360">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19118036"/>
                  </a:ext>
                </a:extLst>
              </a:tr>
              <a:tr h="132360">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244067252"/>
                  </a:ext>
                </a:extLst>
              </a:tr>
              <a:tr h="132360">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685349229"/>
                  </a:ext>
                </a:extLst>
              </a:tr>
              <a:tr h="132360">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473385271"/>
                  </a:ext>
                </a:extLst>
              </a:tr>
              <a:tr h="132360">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92</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0734686"/>
                  </a:ext>
                </a:extLst>
              </a:tr>
              <a:tr h="132360">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722947286"/>
                  </a:ext>
                </a:extLst>
              </a:tr>
              <a:tr h="132360">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008899956"/>
                  </a:ext>
                </a:extLst>
              </a:tr>
              <a:tr h="132360">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81223704"/>
                  </a:ext>
                </a:extLst>
              </a:tr>
              <a:tr h="132360">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21552031"/>
                  </a:ext>
                </a:extLst>
              </a:tr>
              <a:tr h="132360">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87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993600359"/>
                  </a:ext>
                </a:extLst>
              </a:tr>
              <a:tr h="132360">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171420118"/>
                  </a:ext>
                </a:extLst>
              </a:tr>
              <a:tr h="132360">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2340105"/>
                  </a:ext>
                </a:extLst>
              </a:tr>
              <a:tr h="132360">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161197711"/>
                  </a:ext>
                </a:extLst>
              </a:tr>
              <a:tr h="132360">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790337715"/>
                  </a:ext>
                </a:extLst>
              </a:tr>
              <a:tr h="132360">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60386364"/>
                  </a:ext>
                </a:extLst>
              </a:tr>
              <a:tr h="132360">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237353813"/>
                  </a:ext>
                </a:extLst>
              </a:tr>
              <a:tr h="132360">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098054352"/>
                  </a:ext>
                </a:extLst>
              </a:tr>
            </a:tbl>
          </a:graphicData>
        </a:graphic>
      </p:graphicFrame>
    </p:spTree>
    <p:extLst>
      <p:ext uri="{BB962C8B-B14F-4D97-AF65-F5344CB8AC3E}">
        <p14:creationId xmlns:p14="http://schemas.microsoft.com/office/powerpoint/2010/main" val="26802313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A39AD4B-4D24-ACC6-6BD3-6C65778F81C7}"/>
              </a:ext>
            </a:extLst>
          </p:cNvPr>
          <p:cNvPicPr>
            <a:picLocks noChangeAspect="1"/>
          </p:cNvPicPr>
          <p:nvPr/>
        </p:nvPicPr>
        <p:blipFill>
          <a:blip r:embed="rId2"/>
          <a:stretch>
            <a:fillRect/>
          </a:stretch>
        </p:blipFill>
        <p:spPr>
          <a:xfrm>
            <a:off x="2917308" y="1920397"/>
            <a:ext cx="4765341" cy="3248347"/>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DEB3F51-AE2B-96A9-9362-7D367C8FB89A}"/>
              </a:ext>
            </a:extLst>
          </p:cNvPr>
          <p:cNvPicPr>
            <a:picLocks noChangeAspect="1"/>
          </p:cNvPicPr>
          <p:nvPr/>
        </p:nvPicPr>
        <p:blipFill>
          <a:blip r:embed="rId5"/>
          <a:stretch>
            <a:fillRect/>
          </a:stretch>
        </p:blipFill>
        <p:spPr>
          <a:xfrm>
            <a:off x="143807" y="2677034"/>
            <a:ext cx="3492425" cy="1552850"/>
          </a:xfrm>
          <a:prstGeom prst="rect">
            <a:avLst/>
          </a:prstGeom>
        </p:spPr>
      </p:pic>
      <p:pic>
        <p:nvPicPr>
          <p:cNvPr id="21" name="Picture 20">
            <a:extLst>
              <a:ext uri="{FF2B5EF4-FFF2-40B4-BE49-F238E27FC236}">
                <a16:creationId xmlns:a16="http://schemas.microsoft.com/office/drawing/2014/main" id="{E23BC1C3-EEE3-C8E7-C34A-F5240AA4C56D}"/>
              </a:ext>
            </a:extLst>
          </p:cNvPr>
          <p:cNvPicPr>
            <a:picLocks noChangeAspect="1"/>
          </p:cNvPicPr>
          <p:nvPr/>
        </p:nvPicPr>
        <p:blipFill>
          <a:blip r:embed="rId6"/>
          <a:stretch>
            <a:fillRect/>
          </a:stretch>
        </p:blipFill>
        <p:spPr>
          <a:xfrm>
            <a:off x="7790606" y="1920397"/>
            <a:ext cx="3716211" cy="2475096"/>
          </a:xfrm>
          <a:prstGeom prst="rect">
            <a:avLst/>
          </a:prstGeom>
        </p:spPr>
      </p:pic>
      <p:sp>
        <p:nvSpPr>
          <p:cNvPr id="22" name="Oval 21">
            <a:extLst>
              <a:ext uri="{FF2B5EF4-FFF2-40B4-BE49-F238E27FC236}">
                <a16:creationId xmlns:a16="http://schemas.microsoft.com/office/drawing/2014/main" id="{BC14E9E9-A5A2-287B-C8A8-1C4F6346A4A8}"/>
              </a:ext>
            </a:extLst>
          </p:cNvPr>
          <p:cNvSpPr/>
          <p:nvPr/>
        </p:nvSpPr>
        <p:spPr>
          <a:xfrm>
            <a:off x="143807" y="231171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43835363-0B2E-484B-5A13-6241BCD2A9F1}"/>
              </a:ext>
            </a:extLst>
          </p:cNvPr>
          <p:cNvSpPr/>
          <p:nvPr/>
        </p:nvSpPr>
        <p:spPr>
          <a:xfrm>
            <a:off x="3074214"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39426CB7-AD12-588E-F9F1-7151852DC150}"/>
              </a:ext>
            </a:extLst>
          </p:cNvPr>
          <p:cNvSpPr/>
          <p:nvPr/>
        </p:nvSpPr>
        <p:spPr>
          <a:xfrm>
            <a:off x="7839555" y="16289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TextBox 24">
            <a:extLst>
              <a:ext uri="{FF2B5EF4-FFF2-40B4-BE49-F238E27FC236}">
                <a16:creationId xmlns:a16="http://schemas.microsoft.com/office/drawing/2014/main" id="{AE9BB58F-2DA8-FCB6-055C-131C199452D0}"/>
              </a:ext>
            </a:extLst>
          </p:cNvPr>
          <p:cNvSpPr txBox="1"/>
          <p:nvPr/>
        </p:nvSpPr>
        <p:spPr>
          <a:xfrm>
            <a:off x="929276" y="5400229"/>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the before and after score, the after score (score2) is higher than score1.</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online tutorial helped students in enhancing their exam performance.</a:t>
            </a:r>
          </a:p>
        </p:txBody>
      </p:sp>
    </p:spTree>
    <p:extLst>
      <p:ext uri="{BB962C8B-B14F-4D97-AF65-F5344CB8AC3E}">
        <p14:creationId xmlns:p14="http://schemas.microsoft.com/office/powerpoint/2010/main" val="3605011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equal)</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section we perform a hypothesis test for the means of two populations. </a:t>
            </a:r>
          </a:p>
          <a:p>
            <a:r>
              <a:rPr lang="en-US" dirty="0"/>
              <a:t>We examine the mean annual salary (in Euro) of graduates.</a:t>
            </a:r>
          </a:p>
          <a:p>
            <a:r>
              <a:rPr lang="en-US" dirty="0"/>
              <a:t>The first population consist of male students and the second population of female students. </a:t>
            </a:r>
          </a:p>
          <a:p>
            <a:r>
              <a:rPr lang="en-US" dirty="0"/>
              <a:t>The standard deviations of the two populations are unknown but assumed to be equal.</a:t>
            </a:r>
          </a:p>
          <a:p>
            <a:r>
              <a:rPr lang="en-US" dirty="0"/>
              <a:t>The question is, whether there is a difference (at α 5%) in the mean annual salary of graduates related to gender (two tailed test)</a:t>
            </a:r>
          </a:p>
          <a:p>
            <a:pPr marL="1147763" indent="0">
              <a:lnSpc>
                <a:spcPct val="150000"/>
              </a:lnSpc>
              <a:buNone/>
            </a:pPr>
            <a:endParaRPr lang="en-US" b="0" i="1" dirty="0">
              <a:solidFill>
                <a:srgbClr val="002060"/>
              </a:solidFill>
            </a:endParaRPr>
          </a:p>
          <a:p>
            <a:pPr marL="1147763" indent="0">
              <a:lnSpc>
                <a:spcPct val="150000"/>
              </a:lnSpc>
              <a:buNone/>
            </a:pPr>
            <a:endParaRPr lang="en-US" sz="2400" b="0" i="1" dirty="0">
              <a:solidFill>
                <a:srgbClr val="002060"/>
              </a:solidFill>
            </a:endParaRPr>
          </a:p>
          <a:p>
            <a:endParaRPr lang="en-US" dirty="0"/>
          </a:p>
          <a:p>
            <a:endParaRPr lang="en-US" dirty="0"/>
          </a:p>
          <a:p>
            <a:endParaRPr lang="en-US" dirty="0"/>
          </a:p>
        </p:txBody>
      </p:sp>
      <p:graphicFrame>
        <p:nvGraphicFramePr>
          <p:cNvPr id="15" name="Content Placeholder 14">
            <a:extLst>
              <a:ext uri="{FF2B5EF4-FFF2-40B4-BE49-F238E27FC236}">
                <a16:creationId xmlns:a16="http://schemas.microsoft.com/office/drawing/2014/main" id="{911692C0-7FB7-8202-616D-E34CE5FCEB99}"/>
              </a:ext>
            </a:extLst>
          </p:cNvPr>
          <p:cNvGraphicFramePr>
            <a:graphicFrameLocks noGrp="1"/>
          </p:cNvGraphicFramePr>
          <p:nvPr>
            <p:ph idx="1"/>
            <p:extLst>
              <p:ext uri="{D42A27DB-BD31-4B8C-83A1-F6EECF244321}">
                <p14:modId xmlns:p14="http://schemas.microsoft.com/office/powerpoint/2010/main" val="2606200097"/>
              </p:ext>
            </p:extLst>
          </p:nvPr>
        </p:nvGraphicFramePr>
        <p:xfrm>
          <a:off x="9156924" y="1692328"/>
          <a:ext cx="2196876" cy="4604173"/>
        </p:xfrm>
        <a:graphic>
          <a:graphicData uri="http://schemas.openxmlformats.org/drawingml/2006/table">
            <a:tbl>
              <a:tblPr>
                <a:tableStyleId>{5C22544A-7EE6-4342-B048-85BDC9FD1C3A}</a:tableStyleId>
              </a:tblPr>
              <a:tblGrid>
                <a:gridCol w="504546">
                  <a:extLst>
                    <a:ext uri="{9D8B030D-6E8A-4147-A177-3AD203B41FA5}">
                      <a16:colId xmlns:a16="http://schemas.microsoft.com/office/drawing/2014/main" val="3873088872"/>
                    </a:ext>
                  </a:extLst>
                </a:gridCol>
                <a:gridCol w="746307">
                  <a:extLst>
                    <a:ext uri="{9D8B030D-6E8A-4147-A177-3AD203B41FA5}">
                      <a16:colId xmlns:a16="http://schemas.microsoft.com/office/drawing/2014/main" val="2109336484"/>
                    </a:ext>
                  </a:extLst>
                </a:gridCol>
                <a:gridCol w="946023">
                  <a:extLst>
                    <a:ext uri="{9D8B030D-6E8A-4147-A177-3AD203B41FA5}">
                      <a16:colId xmlns:a16="http://schemas.microsoft.com/office/drawing/2014/main" val="40569122"/>
                    </a:ext>
                  </a:extLst>
                </a:gridCol>
              </a:tblGrid>
              <a:tr h="285157">
                <a:tc>
                  <a:txBody>
                    <a:bodyPr/>
                    <a:lstStyle/>
                    <a:p>
                      <a:pPr algn="l" fontAlgn="b"/>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ctr" fontAlgn="ctr"/>
                      <a:r>
                        <a:rPr lang="en-US" sz="900" u="none" strike="noStrike">
                          <a:effectLst/>
                        </a:rPr>
                        <a:t>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ctr" fontAlgn="ctr"/>
                      <a:r>
                        <a:rPr lang="en-US" sz="900" u="none" strike="noStrike">
                          <a:effectLst/>
                        </a:rPr>
                        <a:t>Female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extLst>
                  <a:ext uri="{0D108BD9-81ED-4DB2-BD59-A6C34878D82A}">
                    <a16:rowId xmlns:a16="http://schemas.microsoft.com/office/drawing/2014/main" val="633407917"/>
                  </a:ext>
                </a:extLst>
              </a:tr>
              <a:tr h="142579">
                <a:tc>
                  <a:txBody>
                    <a:bodyPr/>
                    <a:lstStyle/>
                    <a:p>
                      <a:pPr algn="ctr" fontAlgn="ctr"/>
                      <a:r>
                        <a:rPr lang="en-US" sz="900" u="none" strike="noStrike">
                          <a:effectLst/>
                        </a:rPr>
                        <a:t>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$39,647.68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124054703"/>
                  </a:ext>
                </a:extLst>
              </a:tr>
              <a:tr h="148520">
                <a:tc>
                  <a:txBody>
                    <a:bodyPr/>
                    <a:lstStyle/>
                    <a:p>
                      <a:pPr algn="ctr" fontAlgn="ctr"/>
                      <a:r>
                        <a:rPr lang="en-US" sz="900" u="none" strike="noStrike">
                          <a:effectLst/>
                        </a:rPr>
                        <a:t>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$55,726.10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$30,972.76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324025"/>
                  </a:ext>
                </a:extLst>
              </a:tr>
              <a:tr h="142579">
                <a:tc>
                  <a:txBody>
                    <a:bodyPr/>
                    <a:lstStyle/>
                    <a:p>
                      <a:pPr algn="ctr" fontAlgn="ctr"/>
                      <a:r>
                        <a:rPr lang="en-US" sz="900" u="none" strike="noStrike">
                          <a:effectLst/>
                        </a:rPr>
                        <a:t>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$34,717.77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$33,216.12</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077493"/>
                  </a:ext>
                </a:extLst>
              </a:tr>
              <a:tr h="142579">
                <a:tc>
                  <a:txBody>
                    <a:bodyPr/>
                    <a:lstStyle/>
                    <a:p>
                      <a:pPr algn="ctr" fontAlgn="ctr"/>
                      <a:r>
                        <a:rPr lang="en-US" sz="900" u="none" strike="noStrike">
                          <a:effectLst/>
                        </a:rPr>
                        <a:t>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$29,999.35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$24,143.27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232383522"/>
                  </a:ext>
                </a:extLst>
              </a:tr>
              <a:tr h="142579">
                <a:tc>
                  <a:txBody>
                    <a:bodyPr/>
                    <a:lstStyle/>
                    <a:p>
                      <a:pPr algn="ctr" fontAlgn="ctr"/>
                      <a:r>
                        <a:rPr lang="en-US" sz="900" u="none" strike="noStrike">
                          <a:effectLst/>
                        </a:rPr>
                        <a:t>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$50,763.66</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$40,466.69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03785430"/>
                  </a:ext>
                </a:extLst>
              </a:tr>
              <a:tr h="142579">
                <a:tc>
                  <a:txBody>
                    <a:bodyPr/>
                    <a:lstStyle/>
                    <a:p>
                      <a:pPr algn="ctr" fontAlgn="ctr"/>
                      <a:r>
                        <a:rPr lang="en-US" sz="900" u="none" strike="noStrike">
                          <a:effectLst/>
                        </a:rPr>
                        <a:t>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$52,433.73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76393642"/>
                  </a:ext>
                </a:extLst>
              </a:tr>
              <a:tr h="142579">
                <a:tc>
                  <a:txBody>
                    <a:bodyPr/>
                    <a:lstStyle/>
                    <a:p>
                      <a:pPr algn="ctr" fontAlgn="ctr"/>
                      <a:r>
                        <a:rPr lang="en-US" sz="900" u="none" strike="noStrike">
                          <a:effectLst/>
                        </a:rPr>
                        <a:t>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$44,385.84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$47,760.48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4097778"/>
                  </a:ext>
                </a:extLst>
              </a:tr>
              <a:tr h="142579">
                <a:tc>
                  <a:txBody>
                    <a:bodyPr/>
                    <a:lstStyle/>
                    <a:p>
                      <a:pPr algn="ctr" fontAlgn="ctr"/>
                      <a:r>
                        <a:rPr lang="en-US" sz="900" u="none" strike="noStrike">
                          <a:effectLst/>
                        </a:rPr>
                        <a:t>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$36,599.27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$45,054.95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89444324"/>
                  </a:ext>
                </a:extLst>
              </a:tr>
              <a:tr h="142579">
                <a:tc>
                  <a:txBody>
                    <a:bodyPr/>
                    <a:lstStyle/>
                    <a:p>
                      <a:pPr algn="ctr" fontAlgn="ctr"/>
                      <a:r>
                        <a:rPr lang="en-US" sz="900" u="none" strike="noStrike">
                          <a:effectLst/>
                        </a:rPr>
                        <a:t>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$47,842.44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$42,742.79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54747357"/>
                  </a:ext>
                </a:extLst>
              </a:tr>
              <a:tr h="142579">
                <a:tc>
                  <a:txBody>
                    <a:bodyPr/>
                    <a:lstStyle/>
                    <a:p>
                      <a:pPr algn="ctr" fontAlgn="ctr"/>
                      <a:r>
                        <a:rPr lang="en-US" sz="900" u="none" strike="noStrike">
                          <a:effectLst/>
                        </a:rPr>
                        <a:t>10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$30,854.42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$42,202.39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973675215"/>
                  </a:ext>
                </a:extLst>
              </a:tr>
              <a:tr h="142579">
                <a:tc>
                  <a:txBody>
                    <a:bodyPr/>
                    <a:lstStyle/>
                    <a:p>
                      <a:pPr algn="ctr" fontAlgn="ctr"/>
                      <a:r>
                        <a:rPr lang="en-US" sz="900" u="none" strike="noStrike">
                          <a:effectLst/>
                        </a:rPr>
                        <a:t>11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$58,614.72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$40,606.41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814973239"/>
                  </a:ext>
                </a:extLst>
              </a:tr>
              <a:tr h="142579">
                <a:tc>
                  <a:txBody>
                    <a:bodyPr/>
                    <a:lstStyle/>
                    <a:p>
                      <a:pPr algn="ctr" fontAlgn="ctr"/>
                      <a:r>
                        <a:rPr lang="en-US" sz="900" u="none" strike="noStrike">
                          <a:effectLst/>
                        </a:rPr>
                        <a:t>12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$62,887.03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$29,783.76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46035034"/>
                  </a:ext>
                </a:extLst>
              </a:tr>
              <a:tr h="142579">
                <a:tc>
                  <a:txBody>
                    <a:bodyPr/>
                    <a:lstStyle/>
                    <a:p>
                      <a:pPr algn="ctr" fontAlgn="ctr"/>
                      <a:r>
                        <a:rPr lang="en-US" sz="900" u="none" strike="noStrike">
                          <a:effectLst/>
                        </a:rPr>
                        <a:t>13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$48,288.53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$46,945.17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39684320"/>
                  </a:ext>
                </a:extLst>
              </a:tr>
              <a:tr h="148520">
                <a:tc>
                  <a:txBody>
                    <a:bodyPr/>
                    <a:lstStyle/>
                    <a:p>
                      <a:pPr algn="ctr" fontAlgn="ctr"/>
                      <a:r>
                        <a:rPr lang="en-US" sz="900" u="none" strike="noStrike">
                          <a:effectLst/>
                        </a:rPr>
                        <a:t>14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$43,191.15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199625553"/>
                  </a:ext>
                </a:extLst>
              </a:tr>
              <a:tr h="142579">
                <a:tc>
                  <a:txBody>
                    <a:bodyPr/>
                    <a:lstStyle/>
                    <a:p>
                      <a:pPr algn="ctr" fontAlgn="ctr"/>
                      <a:r>
                        <a:rPr lang="en-US" sz="900" u="none" strike="noStrike">
                          <a:effectLst/>
                        </a:rPr>
                        <a:t>15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$43,756.58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$45,042.30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507976192"/>
                  </a:ext>
                </a:extLst>
              </a:tr>
              <a:tr h="142579">
                <a:tc>
                  <a:txBody>
                    <a:bodyPr/>
                    <a:lstStyle/>
                    <a:p>
                      <a:pPr algn="ctr" fontAlgn="ctr"/>
                      <a:r>
                        <a:rPr lang="en-US" sz="900" u="none" strike="noStrike">
                          <a:effectLst/>
                        </a:rPr>
                        <a:t>16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$48,453.00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5383478"/>
                  </a:ext>
                </a:extLst>
              </a:tr>
              <a:tr h="142579">
                <a:tc>
                  <a:txBody>
                    <a:bodyPr/>
                    <a:lstStyle/>
                    <a:p>
                      <a:pPr algn="ctr" fontAlgn="ctr"/>
                      <a:r>
                        <a:rPr lang="en-US" sz="900" u="none" strike="noStrike">
                          <a:effectLst/>
                        </a:rPr>
                        <a:t>17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$23,090.67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$45,625.09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69354527"/>
                  </a:ext>
                </a:extLst>
              </a:tr>
              <a:tr h="142579">
                <a:tc>
                  <a:txBody>
                    <a:bodyPr/>
                    <a:lstStyle/>
                    <a:p>
                      <a:pPr algn="ctr" fontAlgn="ctr"/>
                      <a:r>
                        <a:rPr lang="en-US" sz="900" u="none" strike="noStrike">
                          <a:effectLst/>
                        </a:rPr>
                        <a:t>18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$55,660.20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$28,017.87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48374182"/>
                  </a:ext>
                </a:extLst>
              </a:tr>
              <a:tr h="142579">
                <a:tc>
                  <a:txBody>
                    <a:bodyPr/>
                    <a:lstStyle/>
                    <a:p>
                      <a:pPr algn="ctr" fontAlgn="ctr"/>
                      <a:r>
                        <a:rPr lang="en-US" sz="900" u="none" strike="noStrike">
                          <a:effectLst/>
                        </a:rPr>
                        <a:t>19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$57,527.17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$35,840.90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638812082"/>
                  </a:ext>
                </a:extLst>
              </a:tr>
              <a:tr h="142579">
                <a:tc>
                  <a:txBody>
                    <a:bodyPr/>
                    <a:lstStyle/>
                    <a:p>
                      <a:pPr algn="ctr" fontAlgn="ctr"/>
                      <a:r>
                        <a:rPr lang="en-US" sz="900" u="none" strike="noStrike">
                          <a:effectLst/>
                        </a:rPr>
                        <a:t>20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$65,776.23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$33,648.38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002194316"/>
                  </a:ext>
                </a:extLst>
              </a:tr>
              <a:tr h="142579">
                <a:tc>
                  <a:txBody>
                    <a:bodyPr/>
                    <a:lstStyle/>
                    <a:p>
                      <a:pPr algn="ctr" fontAlgn="ctr"/>
                      <a:r>
                        <a:rPr lang="en-US" sz="900" u="none" strike="noStrike">
                          <a:effectLst/>
                        </a:rPr>
                        <a:t>21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$50,011.69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$46,858.67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107447992"/>
                  </a:ext>
                </a:extLst>
              </a:tr>
              <a:tr h="142579">
                <a:tc>
                  <a:txBody>
                    <a:bodyPr/>
                    <a:lstStyle/>
                    <a:p>
                      <a:pPr algn="ctr" fontAlgn="ctr"/>
                      <a:r>
                        <a:rPr lang="en-US" sz="900" u="none" strike="noStrike">
                          <a:effectLst/>
                        </a:rPr>
                        <a:t>22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$46,213.64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$42,463.48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1729727"/>
                  </a:ext>
                </a:extLst>
              </a:tr>
              <a:tr h="142579">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$42,211.41</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$33,200.27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811092025"/>
                  </a:ext>
                </a:extLst>
              </a:tr>
              <a:tr h="142579">
                <a:tc>
                  <a:txBody>
                    <a:bodyPr/>
                    <a:lstStyle/>
                    <a:p>
                      <a:pPr algn="ctr" fontAlgn="ctr"/>
                      <a:r>
                        <a:rPr lang="en-US" sz="900" u="none" strike="noStrike">
                          <a:effectLst/>
                        </a:rPr>
                        <a:t>24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$61,384.55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$28,338.17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963935735"/>
                  </a:ext>
                </a:extLst>
              </a:tr>
              <a:tr h="142579">
                <a:tc>
                  <a:txBody>
                    <a:bodyPr/>
                    <a:lstStyle/>
                    <a:p>
                      <a:pPr algn="ctr" fontAlgn="ctr"/>
                      <a:r>
                        <a:rPr lang="en-US" sz="900" u="none" strike="noStrike">
                          <a:effectLst/>
                        </a:rPr>
                        <a:t>25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$49,780.18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$26,265.35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333529834"/>
                  </a:ext>
                </a:extLst>
              </a:tr>
              <a:tr h="142579">
                <a:tc>
                  <a:txBody>
                    <a:bodyPr/>
                    <a:lstStyle/>
                    <a:p>
                      <a:pPr algn="ctr" fontAlgn="ctr"/>
                      <a:r>
                        <a:rPr lang="en-US" sz="900" u="none" strike="noStrike">
                          <a:effectLst/>
                        </a:rPr>
                        <a:t>26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$50,474.57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$34,373.99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264620603"/>
                  </a:ext>
                </a:extLst>
              </a:tr>
              <a:tr h="142579">
                <a:tc>
                  <a:txBody>
                    <a:bodyPr/>
                    <a:lstStyle/>
                    <a:p>
                      <a:pPr algn="ctr" fontAlgn="ctr"/>
                      <a:r>
                        <a:rPr lang="en-US" sz="900" u="none" strike="noStrike">
                          <a:effectLst/>
                        </a:rPr>
                        <a:t>27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$43,281.92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$37,312.85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5514006"/>
                  </a:ext>
                </a:extLst>
              </a:tr>
              <a:tr h="142579">
                <a:tc>
                  <a:txBody>
                    <a:bodyPr/>
                    <a:lstStyle/>
                    <a:p>
                      <a:pPr algn="ctr" fontAlgn="ctr"/>
                      <a:r>
                        <a:rPr lang="en-US" sz="900" u="none" strike="noStrike">
                          <a:effectLst/>
                        </a:rPr>
                        <a:t>28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$55,484.64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$37,709.73</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002554810"/>
                  </a:ext>
                </a:extLst>
              </a:tr>
              <a:tr h="142579">
                <a:tc>
                  <a:txBody>
                    <a:bodyPr/>
                    <a:lstStyle/>
                    <a:p>
                      <a:pPr algn="ctr" fontAlgn="ctr"/>
                      <a:r>
                        <a:rPr lang="en-US" sz="900" u="none" strike="noStrike">
                          <a:effectLst/>
                        </a:rPr>
                        <a:t>29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$24,409.73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$35,106.01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941501412"/>
                  </a:ext>
                </a:extLst>
              </a:tr>
              <a:tr h="142579">
                <a:tc>
                  <a:txBody>
                    <a:bodyPr/>
                    <a:lstStyle/>
                    <a:p>
                      <a:pPr algn="ctr" fontAlgn="ctr"/>
                      <a:r>
                        <a:rPr lang="en-US" sz="900" u="none" strike="noStrike">
                          <a:effectLst/>
                        </a:rPr>
                        <a:t>30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$40,489.49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$37,807.11</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138777277"/>
                  </a:ext>
                </a:extLst>
              </a:tr>
            </a:tbl>
          </a:graphicData>
        </a:graphic>
      </p:graphicFrame>
      <p:pic>
        <p:nvPicPr>
          <p:cNvPr id="17" name="Picture 16">
            <a:extLst>
              <a:ext uri="{FF2B5EF4-FFF2-40B4-BE49-F238E27FC236}">
                <a16:creationId xmlns:a16="http://schemas.microsoft.com/office/drawing/2014/main" id="{A446E4E7-2D2F-E56F-C1FF-B14D6CD31C64}"/>
              </a:ext>
            </a:extLst>
          </p:cNvPr>
          <p:cNvPicPr>
            <a:picLocks noChangeAspect="1"/>
          </p:cNvPicPr>
          <p:nvPr/>
        </p:nvPicPr>
        <p:blipFill>
          <a:blip r:embed="rId4"/>
          <a:stretch>
            <a:fillRect/>
          </a:stretch>
        </p:blipFill>
        <p:spPr>
          <a:xfrm>
            <a:off x="7029035" y="5422516"/>
            <a:ext cx="1528363" cy="1275922"/>
          </a:xfrm>
          <a:prstGeom prst="rect">
            <a:avLst/>
          </a:prstGeom>
        </p:spPr>
      </p:pic>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sub>
                                </m:sSub>
                                <m:r>
                                  <a:rPr lang="en-US" sz="1200" b="0" i="1" dirty="0"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r>
                                      <m:rPr>
                                        <m:nor/>
                                      </m:rPr>
                                      <a:rPr lang="en-US" sz="1200" b="0" i="1" smtClean="0">
                                        <a:solidFill>
                                          <a:srgbClr val="002060"/>
                                        </a:solidFill>
                                        <a:latin typeface="Cambria Math" panose="02040503050406030204" pitchFamily="18" charset="0"/>
                                      </a:rPr>
                                      <m:t> </m:t>
                                    </m:r>
                                    <m:r>
                                      <m:rPr>
                                        <m:nor/>
                                      </m:rPr>
                                      <a:rPr lang="en-US" sz="1200" i="1" dirty="0">
                                        <a:solidFill>
                                          <a:srgbClr val="002060"/>
                                        </a:solidFill>
                                      </a:rPr>
                                      <m:t>≠</m:t>
                                    </m:r>
                                    <m:r>
                                      <m:rPr>
                                        <m:nor/>
                                      </m:rPr>
                                      <a:rPr lang="en-US" sz="1200" b="0" i="1" dirty="0" smtClean="0">
                                        <a:solidFill>
                                          <a:srgbClr val="002060"/>
                                        </a:solidFill>
                                      </a:rPr>
                                      <m: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Choice>
        <mc:Fallback xmlns="">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endParaRPr lang="en-US"/>
                        </a:p>
                      </a:txBody>
                      <a:tcPr>
                        <a:blipFill>
                          <a:blip r:embed="rId5"/>
                          <a:stretch>
                            <a:fillRect r="-177159" b="-100000"/>
                          </a:stretch>
                        </a:blipFill>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5"/>
                          <a:stretch>
                            <a:fillRect t="-100000" r="-17715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898885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8D4F890-CA62-B0EF-8AB4-7766EF08DD67}"/>
              </a:ext>
            </a:extLst>
          </p:cNvPr>
          <p:cNvPicPr>
            <a:picLocks noChangeAspect="1"/>
          </p:cNvPicPr>
          <p:nvPr/>
        </p:nvPicPr>
        <p:blipFill>
          <a:blip r:embed="rId2"/>
          <a:stretch>
            <a:fillRect/>
          </a:stretch>
        </p:blipFill>
        <p:spPr>
          <a:xfrm>
            <a:off x="7116725" y="1868136"/>
            <a:ext cx="3967384" cy="2587748"/>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equal)</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1" name="TextBox 10">
            <a:extLst>
              <a:ext uri="{FF2B5EF4-FFF2-40B4-BE49-F238E27FC236}">
                <a16:creationId xmlns:a16="http://schemas.microsoft.com/office/drawing/2014/main" id="{17EC6790-8F63-8213-E000-1453973B36EE}"/>
              </a:ext>
            </a:extLst>
          </p:cNvPr>
          <p:cNvSpPr txBox="1"/>
          <p:nvPr/>
        </p:nvSpPr>
        <p:spPr>
          <a:xfrm>
            <a:off x="929276" y="4956675"/>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male salaries and female salaries.</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salaries of male graduates and female graduates are not equal.</a:t>
            </a:r>
          </a:p>
        </p:txBody>
      </p:sp>
      <p:pic>
        <p:nvPicPr>
          <p:cNvPr id="16" name="Picture 15">
            <a:extLst>
              <a:ext uri="{FF2B5EF4-FFF2-40B4-BE49-F238E27FC236}">
                <a16:creationId xmlns:a16="http://schemas.microsoft.com/office/drawing/2014/main" id="{44CD7396-D213-4604-4711-39132E2F36E8}"/>
              </a:ext>
            </a:extLst>
          </p:cNvPr>
          <p:cNvPicPr>
            <a:picLocks noChangeAspect="1"/>
          </p:cNvPicPr>
          <p:nvPr/>
        </p:nvPicPr>
        <p:blipFill>
          <a:blip r:embed="rId5"/>
          <a:stretch>
            <a:fillRect/>
          </a:stretch>
        </p:blipFill>
        <p:spPr>
          <a:xfrm>
            <a:off x="1063259" y="1868136"/>
            <a:ext cx="5637791" cy="2635990"/>
          </a:xfrm>
          <a:prstGeom prst="rect">
            <a:avLst/>
          </a:prstGeom>
        </p:spPr>
      </p:pic>
      <p:pic>
        <p:nvPicPr>
          <p:cNvPr id="18" name="Picture 17">
            <a:extLst>
              <a:ext uri="{FF2B5EF4-FFF2-40B4-BE49-F238E27FC236}">
                <a16:creationId xmlns:a16="http://schemas.microsoft.com/office/drawing/2014/main" id="{E8389A90-4747-3D04-D737-6BF8A6B888E3}"/>
              </a:ext>
            </a:extLst>
          </p:cNvPr>
          <p:cNvPicPr>
            <a:picLocks noChangeAspect="1"/>
          </p:cNvPicPr>
          <p:nvPr/>
        </p:nvPicPr>
        <p:blipFill>
          <a:blip r:embed="rId6"/>
          <a:stretch>
            <a:fillRect/>
          </a:stretch>
        </p:blipFill>
        <p:spPr>
          <a:xfrm>
            <a:off x="91118" y="2759095"/>
            <a:ext cx="2776998" cy="1242215"/>
          </a:xfrm>
          <a:prstGeom prst="rect">
            <a:avLst/>
          </a:prstGeom>
        </p:spPr>
      </p:pic>
      <p:sp>
        <p:nvSpPr>
          <p:cNvPr id="20" name="Oval 19">
            <a:extLst>
              <a:ext uri="{FF2B5EF4-FFF2-40B4-BE49-F238E27FC236}">
                <a16:creationId xmlns:a16="http://schemas.microsoft.com/office/drawing/2014/main" id="{66BA3F22-42FB-AEAF-6989-2AAD52441801}"/>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 name="Oval 20">
            <a:extLst>
              <a:ext uri="{FF2B5EF4-FFF2-40B4-BE49-F238E27FC236}">
                <a16:creationId xmlns:a16="http://schemas.microsoft.com/office/drawing/2014/main" id="{98927380-ABDB-1A9C-F287-0009EBBEEC15}"/>
              </a:ext>
            </a:extLst>
          </p:cNvPr>
          <p:cNvSpPr/>
          <p:nvPr/>
        </p:nvSpPr>
        <p:spPr>
          <a:xfrm>
            <a:off x="3429056" y="191637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Oval 21">
            <a:extLst>
              <a:ext uri="{FF2B5EF4-FFF2-40B4-BE49-F238E27FC236}">
                <a16:creationId xmlns:a16="http://schemas.microsoft.com/office/drawing/2014/main" id="{2FC9EDF6-7CA2-72EE-3CD8-8E9EEBED05FB}"/>
              </a:ext>
            </a:extLst>
          </p:cNvPr>
          <p:cNvSpPr/>
          <p:nvPr/>
        </p:nvSpPr>
        <p:spPr>
          <a:xfrm>
            <a:off x="7070501" y="150281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2652660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0BAE149-48F3-29AC-F67F-01A60FEF4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8993" y="5427337"/>
            <a:ext cx="2001980" cy="1429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not equal)</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199" y="1706007"/>
            <a:ext cx="8098277" cy="4991039"/>
          </a:xfrm>
        </p:spPr>
        <p:txBody>
          <a:bodyPr>
            <a:normAutofit/>
          </a:bodyPr>
          <a:lstStyle/>
          <a:p>
            <a:r>
              <a:rPr lang="en-US" dirty="0"/>
              <a:t>In this section we perform a hypothesis test for the means of two populations. </a:t>
            </a:r>
          </a:p>
          <a:p>
            <a:r>
              <a:rPr lang="en-US" dirty="0"/>
              <a:t>To showcase the non-pooled t-test we test a claim that states that the annual salaries for political science female students is higher than the annual salaries of the social science female students. </a:t>
            </a:r>
          </a:p>
          <a:p>
            <a:r>
              <a:rPr lang="en-US" dirty="0"/>
              <a:t>The standard deviations of the two populations are unknown and assumed to be unequal.</a:t>
            </a:r>
          </a:p>
          <a:p>
            <a:r>
              <a:rPr lang="en-US" dirty="0"/>
              <a:t>We want to test at α 1%, whether the mean political science salary is higher than the mean salary of the social science (one tail test, upper tail).</a:t>
            </a:r>
          </a:p>
          <a:p>
            <a:pPr marL="1147763" indent="0">
              <a:lnSpc>
                <a:spcPct val="150000"/>
              </a:lnSpc>
              <a:buNone/>
            </a:pPr>
            <a:endParaRPr lang="en-US" sz="3200" b="0" i="1" dirty="0">
              <a:solidFill>
                <a:srgbClr val="002060"/>
              </a:solidFill>
            </a:endParaRPr>
          </a:p>
          <a:p>
            <a:endParaRPr lang="en-US" dirty="0"/>
          </a:p>
          <a:p>
            <a:endParaRPr lang="en-US" dirty="0"/>
          </a:p>
          <a:p>
            <a:endParaRPr lang="en-US" dirty="0"/>
          </a:p>
          <a:p>
            <a:endParaRPr lang="en-US" dirty="0"/>
          </a:p>
        </p:txBody>
      </p:sp>
      <p:pic>
        <p:nvPicPr>
          <p:cNvPr id="4" name="Picture 6" descr="References">
            <a:hlinkClick r:id="rId3"/>
            <a:extLst>
              <a:ext uri="{FF2B5EF4-FFF2-40B4-BE49-F238E27FC236}">
                <a16:creationId xmlns:a16="http://schemas.microsoft.com/office/drawing/2014/main" id="{B6651D8D-0DF2-AC80-9DA5-BE51C2981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EE47F059-4605-7029-1B41-A320E64EF7B7}"/>
              </a:ext>
            </a:extLst>
          </p:cNvPr>
          <p:cNvGraphicFramePr>
            <a:graphicFrameLocks noGrp="1"/>
          </p:cNvGraphicFramePr>
          <p:nvPr>
            <p:extLst>
              <p:ext uri="{D42A27DB-BD31-4B8C-83A1-F6EECF244321}">
                <p14:modId xmlns:p14="http://schemas.microsoft.com/office/powerpoint/2010/main" val="1943494028"/>
              </p:ext>
            </p:extLst>
          </p:nvPr>
        </p:nvGraphicFramePr>
        <p:xfrm>
          <a:off x="9160167" y="1806859"/>
          <a:ext cx="2193633" cy="4351350"/>
        </p:xfrm>
        <a:graphic>
          <a:graphicData uri="http://schemas.openxmlformats.org/drawingml/2006/table">
            <a:tbl>
              <a:tblPr>
                <a:tableStyleId>{5C22544A-7EE6-4342-B048-85BDC9FD1C3A}</a:tableStyleId>
              </a:tblPr>
              <a:tblGrid>
                <a:gridCol w="453855">
                  <a:extLst>
                    <a:ext uri="{9D8B030D-6E8A-4147-A177-3AD203B41FA5}">
                      <a16:colId xmlns:a16="http://schemas.microsoft.com/office/drawing/2014/main" val="2971488133"/>
                    </a:ext>
                  </a:extLst>
                </a:gridCol>
                <a:gridCol w="813157">
                  <a:extLst>
                    <a:ext uri="{9D8B030D-6E8A-4147-A177-3AD203B41FA5}">
                      <a16:colId xmlns:a16="http://schemas.microsoft.com/office/drawing/2014/main" val="2088539395"/>
                    </a:ext>
                  </a:extLst>
                </a:gridCol>
                <a:gridCol w="926621">
                  <a:extLst>
                    <a:ext uri="{9D8B030D-6E8A-4147-A177-3AD203B41FA5}">
                      <a16:colId xmlns:a16="http://schemas.microsoft.com/office/drawing/2014/main" val="1770848902"/>
                    </a:ext>
                  </a:extLst>
                </a:gridCol>
              </a:tblGrid>
              <a:tr h="266640">
                <a:tc>
                  <a:txBody>
                    <a:bodyPr/>
                    <a:lstStyle/>
                    <a:p>
                      <a:pPr algn="l" fontAlgn="b"/>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Political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Social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39340687"/>
                  </a:ext>
                </a:extLst>
              </a:tr>
              <a:tr h="136157">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$30,796.16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630188647"/>
                  </a:ext>
                </a:extLst>
              </a:tr>
              <a:tr h="136157">
                <a:tc>
                  <a:txBody>
                    <a:bodyPr/>
                    <a:lstStyle/>
                    <a:p>
                      <a:pPr algn="ctr" fontAlgn="ctr"/>
                      <a:r>
                        <a:rPr lang="en-US" sz="800" u="none" strike="noStrike">
                          <a:effectLst/>
                        </a:rPr>
                        <a:t>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$29,635.67</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23418691"/>
                  </a:ext>
                </a:extLst>
              </a:tr>
              <a:tr h="136157">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97755738"/>
                  </a:ext>
                </a:extLst>
              </a:tr>
              <a:tr h="136157">
                <a:tc>
                  <a:txBody>
                    <a:bodyPr/>
                    <a:lstStyle/>
                    <a:p>
                      <a:pPr algn="ctr" fontAlgn="ctr"/>
                      <a:r>
                        <a:rPr lang="en-US" sz="800" u="none" strike="noStrike">
                          <a:effectLst/>
                        </a:rPr>
                        <a:t>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$32,996.39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$21,453.99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945680174"/>
                  </a:ext>
                </a:extLst>
              </a:tr>
              <a:tr h="136157">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$33,648.38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3999993"/>
                  </a:ext>
                </a:extLst>
              </a:tr>
              <a:tr h="136157">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$34,287.96</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30373732"/>
                  </a:ext>
                </a:extLst>
              </a:tr>
              <a:tr h="136157">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$40,032.78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078468334"/>
                  </a:ext>
                </a:extLst>
              </a:tr>
              <a:tr h="136157">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$39,710.80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$28,672.85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45085196"/>
                  </a:ext>
                </a:extLst>
              </a:tr>
              <a:tr h="136157">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$36,911.26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$30,062.71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56235665"/>
                  </a:ext>
                </a:extLst>
              </a:tr>
              <a:tr h="136157">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$45,900.13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$34,420.48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50384966"/>
                  </a:ext>
                </a:extLst>
              </a:tr>
              <a:tr h="136157">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$35,270.19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698828774"/>
                  </a:ext>
                </a:extLst>
              </a:tr>
              <a:tr h="136157">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$43,318.41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$26,291.32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622746350"/>
                  </a:ext>
                </a:extLst>
              </a:tr>
              <a:tr h="136157">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$41,282.13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46090456"/>
                  </a:ext>
                </a:extLst>
              </a:tr>
              <a:tr h="136157">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24204041"/>
                  </a:ext>
                </a:extLst>
              </a:tr>
              <a:tr h="136157">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$21,485.62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$33,565.74</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17709879"/>
                  </a:ext>
                </a:extLst>
              </a:tr>
              <a:tr h="136157">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$29,195.50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8070527"/>
                  </a:ext>
                </a:extLst>
              </a:tr>
              <a:tr h="136157">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$45,141.81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0391090"/>
                  </a:ext>
                </a:extLst>
              </a:tr>
              <a:tr h="136157">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$34,492.08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$35,746.22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80383817"/>
                  </a:ext>
                </a:extLst>
              </a:tr>
              <a:tr h="136157">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$27,893.26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$28,281.25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77799350"/>
                  </a:ext>
                </a:extLst>
              </a:tr>
              <a:tr h="136157">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$38,591.54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$31,405.48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02643484"/>
                  </a:ext>
                </a:extLst>
              </a:tr>
              <a:tr h="136157">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76492237"/>
                  </a:ext>
                </a:extLst>
              </a:tr>
              <a:tr h="136157">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$29,832.22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$35,987.41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68941580"/>
                  </a:ext>
                </a:extLst>
              </a:tr>
              <a:tr h="136157">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$32,154.94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08883452"/>
                  </a:ext>
                </a:extLst>
              </a:tr>
              <a:tr h="136157">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$34,686.49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$34,227.49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74625524"/>
                  </a:ext>
                </a:extLst>
              </a:tr>
              <a:tr h="136157">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$25,607.82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$25,758.88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02726851"/>
                  </a:ext>
                </a:extLst>
              </a:tr>
              <a:tr h="136157">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$34,373.99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6942303"/>
                  </a:ext>
                </a:extLst>
              </a:tr>
              <a:tr h="136157">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$37,782.86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$25,658.83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36235479"/>
                  </a:ext>
                </a:extLst>
              </a:tr>
              <a:tr h="136157">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$35,507.83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$34,201.58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45710856"/>
                  </a:ext>
                </a:extLst>
              </a:tr>
              <a:tr h="136157">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$33,955.21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579131367"/>
                  </a:ext>
                </a:extLst>
              </a:tr>
              <a:tr h="136157">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$25,883.03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dirty="0">
                          <a:effectLst/>
                        </a:rPr>
                        <a:t>$33,641.73</a:t>
                      </a:r>
                      <a:endParaRPr lang="en-US" sz="800" b="0" i="0" u="none" strike="noStrike" dirty="0">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4062499044"/>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𝑝𝑜𝑙𝑖𝑡𝑖𝑐𝑎𝑙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r>
                                  <a:rPr lang="en-US" sz="1200" i="1" dirty="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𝑠𝑜𝑐𝑖𝑎𝑙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𝑝𝑜𝑙𝑖𝑡𝑖𝑐𝑎𝑙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r>
                                      <m:rPr>
                                        <m:nor/>
                                      </m:rPr>
                                      <a:rPr lang="en-US" sz="1200" b="0" i="1" dirty="0" smtClean="0">
                                        <a:solidFill>
                                          <a:srgbClr val="002060"/>
                                        </a:solidFill>
                                      </a:rPr>
                                      <m:t> &gt;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𝑠𝑜𝑐𝑖𝑎𝑙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87033">
                    <a:tc>
                      <a:txBody>
                        <a:bodyPr/>
                        <a:lstStyle/>
                        <a:p>
                          <a:endParaRPr lang="en-US"/>
                        </a:p>
                      </a:txBody>
                      <a:tcPr>
                        <a:blipFill>
                          <a:blip r:embed="rId5"/>
                          <a:stretch>
                            <a:fillRect r="-142094" b="-100000"/>
                          </a:stretch>
                        </a:blipFill>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87033">
                    <a:tc>
                      <a:txBody>
                        <a:bodyPr/>
                        <a:lstStyle/>
                        <a:p>
                          <a:endParaRPr lang="en-US"/>
                        </a:p>
                      </a:txBody>
                      <a:tcPr>
                        <a:blipFill>
                          <a:blip r:embed="rId5"/>
                          <a:stretch>
                            <a:fillRect t="-100000" r="-14209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555764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9A0535E-001A-631C-91E7-E0CA27BF6D94}"/>
              </a:ext>
            </a:extLst>
          </p:cNvPr>
          <p:cNvPicPr>
            <a:picLocks noChangeAspect="1"/>
          </p:cNvPicPr>
          <p:nvPr/>
        </p:nvPicPr>
        <p:blipFill>
          <a:blip r:embed="rId2"/>
          <a:stretch>
            <a:fillRect/>
          </a:stretch>
        </p:blipFill>
        <p:spPr>
          <a:xfrm>
            <a:off x="2120630" y="1785231"/>
            <a:ext cx="4949871" cy="2531352"/>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not equal)</a:t>
            </a:r>
          </a:p>
        </p:txBody>
      </p:sp>
      <p:pic>
        <p:nvPicPr>
          <p:cNvPr id="4" name="Picture 6" descr="References">
            <a:hlinkClick r:id="rId3"/>
            <a:extLst>
              <a:ext uri="{FF2B5EF4-FFF2-40B4-BE49-F238E27FC236}">
                <a16:creationId xmlns:a16="http://schemas.microsoft.com/office/drawing/2014/main" id="{0BDD6BB1-3D4A-B785-EF03-DB21941F4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245BFAA-7876-B8F1-51EE-FE2EE72A9387}"/>
              </a:ext>
            </a:extLst>
          </p:cNvPr>
          <p:cNvPicPr>
            <a:picLocks noChangeAspect="1"/>
          </p:cNvPicPr>
          <p:nvPr/>
        </p:nvPicPr>
        <p:blipFill>
          <a:blip r:embed="rId5"/>
          <a:stretch>
            <a:fillRect/>
          </a:stretch>
        </p:blipFill>
        <p:spPr>
          <a:xfrm>
            <a:off x="194553" y="2729056"/>
            <a:ext cx="3270093" cy="1453375"/>
          </a:xfrm>
          <a:prstGeom prst="rect">
            <a:avLst/>
          </a:prstGeom>
        </p:spPr>
      </p:pic>
      <p:sp>
        <p:nvSpPr>
          <p:cNvPr id="11" name="Oval 10">
            <a:extLst>
              <a:ext uri="{FF2B5EF4-FFF2-40B4-BE49-F238E27FC236}">
                <a16:creationId xmlns:a16="http://schemas.microsoft.com/office/drawing/2014/main" id="{91843394-3B36-384A-5176-B63584C8904A}"/>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79404ECE-07B9-AF57-FF82-59953B2205E1}"/>
              </a:ext>
            </a:extLst>
          </p:cNvPr>
          <p:cNvSpPr/>
          <p:nvPr/>
        </p:nvSpPr>
        <p:spPr>
          <a:xfrm>
            <a:off x="2735149" y="160257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4" name="TextBox 13">
            <a:extLst>
              <a:ext uri="{FF2B5EF4-FFF2-40B4-BE49-F238E27FC236}">
                <a16:creationId xmlns:a16="http://schemas.microsoft.com/office/drawing/2014/main" id="{56A4138D-A476-CC3D-B1C9-5859DCA4B358}"/>
              </a:ext>
            </a:extLst>
          </p:cNvPr>
          <p:cNvSpPr txBox="1"/>
          <p:nvPr/>
        </p:nvSpPr>
        <p:spPr>
          <a:xfrm>
            <a:off x="929276" y="4956675"/>
            <a:ext cx="10594758" cy="1477328"/>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no statistically significant difference (at α 1%) between the salaries of political science and social science.</a:t>
            </a:r>
          </a:p>
          <a:p>
            <a:pPr marL="285750" indent="-285750">
              <a:buFont typeface="Arial" panose="020B0604020202020204" pitchFamily="34" charset="0"/>
              <a:buChar char="•"/>
            </a:pPr>
            <a:r>
              <a:rPr lang="en-US" dirty="0"/>
              <a:t>This finding is supported by the test statistic and the p-value, therefore we FAIL TO REJECT the null hypothesis which states that the salaries of political science and social science are equal for female graduates.</a:t>
            </a:r>
          </a:p>
        </p:txBody>
      </p:sp>
      <p:pic>
        <p:nvPicPr>
          <p:cNvPr id="24" name="Picture 23">
            <a:extLst>
              <a:ext uri="{FF2B5EF4-FFF2-40B4-BE49-F238E27FC236}">
                <a16:creationId xmlns:a16="http://schemas.microsoft.com/office/drawing/2014/main" id="{309CDEA3-82BF-C4F2-2ED4-3F06EF99C90F}"/>
              </a:ext>
            </a:extLst>
          </p:cNvPr>
          <p:cNvPicPr>
            <a:picLocks noChangeAspect="1"/>
          </p:cNvPicPr>
          <p:nvPr/>
        </p:nvPicPr>
        <p:blipFill>
          <a:blip r:embed="rId6"/>
          <a:stretch>
            <a:fillRect/>
          </a:stretch>
        </p:blipFill>
        <p:spPr>
          <a:xfrm>
            <a:off x="7203712" y="1886734"/>
            <a:ext cx="4506277" cy="2531352"/>
          </a:xfrm>
          <a:prstGeom prst="rect">
            <a:avLst/>
          </a:prstGeom>
        </p:spPr>
      </p:pic>
      <p:sp>
        <p:nvSpPr>
          <p:cNvPr id="13" name="Oval 12">
            <a:extLst>
              <a:ext uri="{FF2B5EF4-FFF2-40B4-BE49-F238E27FC236}">
                <a16:creationId xmlns:a16="http://schemas.microsoft.com/office/drawing/2014/main" id="{EB8BBBDC-0B0D-AACC-E572-AD930DF8CC46}"/>
              </a:ext>
            </a:extLst>
          </p:cNvPr>
          <p:cNvSpPr/>
          <p:nvPr/>
        </p:nvSpPr>
        <p:spPr>
          <a:xfrm>
            <a:off x="7334824" y="15701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960150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More than Two Populations Means</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One Way ANOVA</a:t>
            </a:r>
          </a:p>
        </p:txBody>
      </p:sp>
    </p:spTree>
    <p:extLst>
      <p:ext uri="{BB962C8B-B14F-4D97-AF65-F5344CB8AC3E}">
        <p14:creationId xmlns:p14="http://schemas.microsoft.com/office/powerpoint/2010/main" val="14614261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Introduction to One-Way ANOVA</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Definition: One-Way ANOVA is a statistical test that compares the means of three or more independent groups to determine if at least one group mean is statistically different from the others.</a:t>
            </a:r>
          </a:p>
          <a:p>
            <a:r>
              <a:rPr lang="en-US" dirty="0"/>
              <a:t>Purpose: To test for significant differences between the means of multiple groups when you have one categorical independent variable and one continuous dependent variable.</a:t>
            </a:r>
          </a:p>
          <a:p>
            <a:r>
              <a:rPr lang="en-US" dirty="0"/>
              <a:t>Appropriate Use Cases:</a:t>
            </a:r>
          </a:p>
          <a:p>
            <a:pPr lvl="1"/>
            <a:r>
              <a:rPr lang="en-US" dirty="0"/>
              <a:t>Comparing customer satisfaction levels across different store locations.</a:t>
            </a:r>
          </a:p>
          <a:p>
            <a:pPr lvl="1"/>
            <a:r>
              <a:rPr lang="en-US" dirty="0"/>
              <a:t>Examining student performance across different teaching methods.</a:t>
            </a:r>
          </a:p>
          <a:p>
            <a:r>
              <a:rPr lang="en-US" dirty="0"/>
              <a:t>Key Advantage:</a:t>
            </a:r>
          </a:p>
          <a:p>
            <a:pPr lvl="1"/>
            <a:r>
              <a:rPr lang="en-US" dirty="0"/>
              <a:t>Allows simultaneous comparison of more than two groups, providing a broader analysis than t-tests.</a:t>
            </a:r>
          </a:p>
        </p:txBody>
      </p:sp>
    </p:spTree>
    <p:extLst>
      <p:ext uri="{BB962C8B-B14F-4D97-AF65-F5344CB8AC3E}">
        <p14:creationId xmlns:p14="http://schemas.microsoft.com/office/powerpoint/2010/main" val="1554491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647B-E544-3B78-0934-79C5D76169F0}"/>
              </a:ext>
            </a:extLst>
          </p:cNvPr>
          <p:cNvSpPr>
            <a:spLocks noGrp="1"/>
          </p:cNvSpPr>
          <p:nvPr>
            <p:ph type="title"/>
          </p:nvPr>
        </p:nvSpPr>
        <p:spPr/>
        <p:txBody>
          <a:bodyPr/>
          <a:lstStyle/>
          <a:p>
            <a:r>
              <a:rPr lang="en-US" dirty="0"/>
              <a:t>ANOVA</a:t>
            </a:r>
          </a:p>
        </p:txBody>
      </p:sp>
      <p:sp>
        <p:nvSpPr>
          <p:cNvPr id="3" name="Content Placeholder 2">
            <a:extLst>
              <a:ext uri="{FF2B5EF4-FFF2-40B4-BE49-F238E27FC236}">
                <a16:creationId xmlns:a16="http://schemas.microsoft.com/office/drawing/2014/main" id="{5132636A-6168-1E5E-CC52-8E5CAA70E411}"/>
              </a:ext>
            </a:extLst>
          </p:cNvPr>
          <p:cNvSpPr>
            <a:spLocks noGrp="1"/>
          </p:cNvSpPr>
          <p:nvPr>
            <p:ph idx="1"/>
          </p:nvPr>
        </p:nvSpPr>
        <p:spPr>
          <a:xfrm>
            <a:off x="838200" y="1706007"/>
            <a:ext cx="10515600" cy="5006078"/>
          </a:xfrm>
        </p:spPr>
        <p:txBody>
          <a:bodyPr>
            <a:normAutofit fontScale="92500" lnSpcReduction="10000"/>
          </a:bodyPr>
          <a:lstStyle/>
          <a:p>
            <a:pPr marL="0" indent="0">
              <a:buNone/>
            </a:pPr>
            <a:r>
              <a:rPr lang="en-US" dirty="0"/>
              <a:t>Hypothesis in One-Way ANOVA:</a:t>
            </a:r>
          </a:p>
          <a:p>
            <a:r>
              <a:rPr lang="en-US" dirty="0"/>
              <a:t>Null Hypothesis (H0): All group means are equal.</a:t>
            </a:r>
          </a:p>
          <a:p>
            <a:r>
              <a:rPr lang="en-US" dirty="0"/>
              <a:t>Alternative Hypothesis (H1): At least one group mean is different from the others.</a:t>
            </a:r>
          </a:p>
          <a:p>
            <a:pPr marL="0" indent="0">
              <a:buNone/>
            </a:pPr>
            <a:r>
              <a:rPr lang="en-US" dirty="0"/>
              <a:t>How to Calculate?</a:t>
            </a:r>
          </a:p>
          <a:p>
            <a:pPr marL="457200" indent="-457200">
              <a:buFont typeface="+mj-lt"/>
              <a:buAutoNum type="arabicPeriod"/>
            </a:pPr>
            <a:r>
              <a:rPr lang="en-US" dirty="0"/>
              <a:t>Calculate Group Means and Overall Mean</a:t>
            </a:r>
          </a:p>
          <a:p>
            <a:pPr marL="457200" indent="-457200">
              <a:buFont typeface="+mj-lt"/>
              <a:buAutoNum type="arabicPeriod"/>
            </a:pPr>
            <a:r>
              <a:rPr lang="en-US" dirty="0"/>
              <a:t>Compute Sum of Squares:</a:t>
            </a:r>
          </a:p>
          <a:p>
            <a:pPr lvl="1"/>
            <a:r>
              <a:rPr lang="en-US" dirty="0"/>
              <a:t>Total Sum of Squares (SST): Variability of all data points around the overall mean.</a:t>
            </a:r>
          </a:p>
          <a:p>
            <a:pPr lvl="1"/>
            <a:r>
              <a:rPr lang="en-US" dirty="0"/>
              <a:t>Within-Group Sum of Squares (SSW): Variability within each group.</a:t>
            </a:r>
          </a:p>
          <a:p>
            <a:pPr lvl="1"/>
            <a:r>
              <a:rPr lang="en-US" dirty="0"/>
              <a:t>Between-Group Sum of Squares (SSB): Variability due to the interaction between the groups.</a:t>
            </a:r>
          </a:p>
          <a:p>
            <a:r>
              <a:rPr lang="en-US" dirty="0"/>
              <a:t>Calculate Mean Squares:</a:t>
            </a:r>
          </a:p>
          <a:p>
            <a:pPr lvl="1"/>
            <a:r>
              <a:rPr lang="en-US" dirty="0"/>
              <a:t>Mean Square Between (MSB): SSB divided by the degrees of freedom between groups (k-1).</a:t>
            </a:r>
          </a:p>
          <a:p>
            <a:pPr lvl="1"/>
            <a:r>
              <a:rPr lang="en-US" dirty="0"/>
              <a:t>Mean Square Within (MSW): SSW divided by the degrees of freedom within groups (N-k).</a:t>
            </a:r>
          </a:p>
          <a:p>
            <a:r>
              <a:rPr lang="en-US" dirty="0"/>
              <a:t>F-Statistic:</a:t>
            </a:r>
          </a:p>
          <a:p>
            <a:pPr lvl="1"/>
            <a:r>
              <a:rPr lang="en-US" dirty="0"/>
              <a:t>F = MSB / MSW</a:t>
            </a:r>
          </a:p>
          <a:p>
            <a:endParaRPr lang="en-US" dirty="0"/>
          </a:p>
        </p:txBody>
      </p:sp>
    </p:spTree>
    <p:extLst>
      <p:ext uri="{BB962C8B-B14F-4D97-AF65-F5344CB8AC3E}">
        <p14:creationId xmlns:p14="http://schemas.microsoft.com/office/powerpoint/2010/main" val="1620993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49DC-2646-5AA2-FEFD-C08185FCAF02}"/>
              </a:ext>
            </a:extLst>
          </p:cNvPr>
          <p:cNvSpPr>
            <a:spLocks noGrp="1"/>
          </p:cNvSpPr>
          <p:nvPr>
            <p:ph type="title"/>
          </p:nvPr>
        </p:nvSpPr>
        <p:spPr/>
        <p:txBody>
          <a:bodyPr/>
          <a:lstStyle/>
          <a:p>
            <a:r>
              <a:rPr lang="en-US" dirty="0"/>
              <a:t>ANOVA Example</a:t>
            </a:r>
          </a:p>
        </p:txBody>
      </p:sp>
      <p:sp>
        <p:nvSpPr>
          <p:cNvPr id="3" name="Content Placeholder 2">
            <a:extLst>
              <a:ext uri="{FF2B5EF4-FFF2-40B4-BE49-F238E27FC236}">
                <a16:creationId xmlns:a16="http://schemas.microsoft.com/office/drawing/2014/main" id="{4D106FBB-198D-A7E8-03C4-7101324CD9F3}"/>
              </a:ext>
            </a:extLst>
          </p:cNvPr>
          <p:cNvSpPr>
            <a:spLocks noGrp="1"/>
          </p:cNvSpPr>
          <p:nvPr>
            <p:ph idx="1"/>
          </p:nvPr>
        </p:nvSpPr>
        <p:spPr>
          <a:xfrm>
            <a:off x="838199" y="1706007"/>
            <a:ext cx="7631349" cy="4991039"/>
          </a:xfrm>
        </p:spPr>
        <p:txBody>
          <a:bodyPr/>
          <a:lstStyle/>
          <a:p>
            <a:r>
              <a:rPr lang="en-US" dirty="0"/>
              <a:t>Scenario: A school tests three different teaching methods to determine which one results in the best performance on a standardized test. </a:t>
            </a:r>
          </a:p>
          <a:p>
            <a:r>
              <a:rPr lang="en-US" dirty="0"/>
              <a:t>The students are randomly assigned to one of three groups, each receiving instruction through a different method. Their scores on a standardized test are recorded.</a:t>
            </a:r>
          </a:p>
          <a:p>
            <a:r>
              <a:rPr lang="en-US" dirty="0"/>
              <a:t>Variables:</a:t>
            </a:r>
          </a:p>
          <a:p>
            <a:pPr lvl="1"/>
            <a:r>
              <a:rPr lang="en-US" dirty="0"/>
              <a:t>Group: The teaching method group (A, B, C)</a:t>
            </a:r>
          </a:p>
          <a:p>
            <a:pPr lvl="1"/>
            <a:r>
              <a:rPr lang="en-US" dirty="0"/>
              <a:t>Score: The score each student received on the standardized test.</a:t>
            </a:r>
          </a:p>
          <a:p>
            <a:pPr lvl="1"/>
            <a:endParaRPr lang="en-US" dirty="0"/>
          </a:p>
        </p:txBody>
      </p:sp>
      <p:graphicFrame>
        <p:nvGraphicFramePr>
          <p:cNvPr id="4" name="Table 3">
            <a:extLst>
              <a:ext uri="{FF2B5EF4-FFF2-40B4-BE49-F238E27FC236}">
                <a16:creationId xmlns:a16="http://schemas.microsoft.com/office/drawing/2014/main" id="{23CF52D0-9903-D0FC-10CC-382F02269359}"/>
              </a:ext>
            </a:extLst>
          </p:cNvPr>
          <p:cNvGraphicFramePr>
            <a:graphicFrameLocks noGrp="1"/>
          </p:cNvGraphicFramePr>
          <p:nvPr>
            <p:extLst>
              <p:ext uri="{D42A27DB-BD31-4B8C-83A1-F6EECF244321}">
                <p14:modId xmlns:p14="http://schemas.microsoft.com/office/powerpoint/2010/main" val="2765110422"/>
              </p:ext>
            </p:extLst>
          </p:nvPr>
        </p:nvGraphicFramePr>
        <p:xfrm>
          <a:off x="9038422" y="1706007"/>
          <a:ext cx="2224587" cy="4543615"/>
        </p:xfrm>
        <a:graphic>
          <a:graphicData uri="http://schemas.openxmlformats.org/drawingml/2006/table">
            <a:tbl>
              <a:tblPr>
                <a:tableStyleId>{9D7B26C5-4107-4FEC-AEDC-1716B250A1EF}</a:tableStyleId>
              </a:tblPr>
              <a:tblGrid>
                <a:gridCol w="741529">
                  <a:extLst>
                    <a:ext uri="{9D8B030D-6E8A-4147-A177-3AD203B41FA5}">
                      <a16:colId xmlns:a16="http://schemas.microsoft.com/office/drawing/2014/main" val="4040225334"/>
                    </a:ext>
                  </a:extLst>
                </a:gridCol>
                <a:gridCol w="741529">
                  <a:extLst>
                    <a:ext uri="{9D8B030D-6E8A-4147-A177-3AD203B41FA5}">
                      <a16:colId xmlns:a16="http://schemas.microsoft.com/office/drawing/2014/main" val="2431098428"/>
                    </a:ext>
                  </a:extLst>
                </a:gridCol>
                <a:gridCol w="741529">
                  <a:extLst>
                    <a:ext uri="{9D8B030D-6E8A-4147-A177-3AD203B41FA5}">
                      <a16:colId xmlns:a16="http://schemas.microsoft.com/office/drawing/2014/main" val="1990735719"/>
                    </a:ext>
                  </a:extLst>
                </a:gridCol>
              </a:tblGrid>
              <a:tr h="271959">
                <a:tc>
                  <a:txBody>
                    <a:bodyPr/>
                    <a:lstStyle/>
                    <a:p>
                      <a:pPr fontAlgn="b"/>
                      <a:r>
                        <a:rPr lang="en-US" sz="1300" b="1">
                          <a:effectLst/>
                        </a:rPr>
                        <a:t>Student ID</a:t>
                      </a:r>
                    </a:p>
                  </a:txBody>
                  <a:tcPr marL="67990" marR="67990" marT="33995" marB="33995" anchor="b"/>
                </a:tc>
                <a:tc>
                  <a:txBody>
                    <a:bodyPr/>
                    <a:lstStyle/>
                    <a:p>
                      <a:pPr fontAlgn="b"/>
                      <a:r>
                        <a:rPr lang="en-US" sz="1300" b="1">
                          <a:effectLst/>
                        </a:rPr>
                        <a:t>Group</a:t>
                      </a:r>
                    </a:p>
                  </a:txBody>
                  <a:tcPr marL="67990" marR="67990" marT="33995" marB="33995" anchor="b"/>
                </a:tc>
                <a:tc>
                  <a:txBody>
                    <a:bodyPr/>
                    <a:lstStyle/>
                    <a:p>
                      <a:pPr fontAlgn="b"/>
                      <a:r>
                        <a:rPr lang="en-US" sz="1300" b="1">
                          <a:effectLst/>
                        </a:rPr>
                        <a:t>Score</a:t>
                      </a:r>
                    </a:p>
                  </a:txBody>
                  <a:tcPr marL="67990" marR="67990" marT="33995" marB="33995" anchor="b"/>
                </a:tc>
                <a:extLst>
                  <a:ext uri="{0D108BD9-81ED-4DB2-BD59-A6C34878D82A}">
                    <a16:rowId xmlns:a16="http://schemas.microsoft.com/office/drawing/2014/main" val="2519526074"/>
                  </a:ext>
                </a:extLst>
              </a:tr>
              <a:tr h="271959">
                <a:tc>
                  <a:txBody>
                    <a:bodyPr/>
                    <a:lstStyle/>
                    <a:p>
                      <a:pPr fontAlgn="base"/>
                      <a:r>
                        <a:rPr lang="en-US" sz="1300">
                          <a:effectLst/>
                        </a:rPr>
                        <a:t>1</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2379991012"/>
                  </a:ext>
                </a:extLst>
              </a:tr>
              <a:tr h="271959">
                <a:tc>
                  <a:txBody>
                    <a:bodyPr/>
                    <a:lstStyle/>
                    <a:p>
                      <a:pPr fontAlgn="base"/>
                      <a:r>
                        <a:rPr lang="en-US" sz="1300">
                          <a:effectLst/>
                        </a:rPr>
                        <a:t>2</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88</a:t>
                      </a:r>
                    </a:p>
                  </a:txBody>
                  <a:tcPr marL="67990" marR="67990" marT="33995" marB="33995" anchor="ctr"/>
                </a:tc>
                <a:extLst>
                  <a:ext uri="{0D108BD9-81ED-4DB2-BD59-A6C34878D82A}">
                    <a16:rowId xmlns:a16="http://schemas.microsoft.com/office/drawing/2014/main" val="3645977183"/>
                  </a:ext>
                </a:extLst>
              </a:tr>
              <a:tr h="271959">
                <a:tc>
                  <a:txBody>
                    <a:bodyPr/>
                    <a:lstStyle/>
                    <a:p>
                      <a:pPr fontAlgn="base"/>
                      <a:r>
                        <a:rPr lang="en-US" sz="1300">
                          <a:effectLst/>
                        </a:rPr>
                        <a:t>3</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84</a:t>
                      </a:r>
                    </a:p>
                  </a:txBody>
                  <a:tcPr marL="67990" marR="67990" marT="33995" marB="33995" anchor="ctr"/>
                </a:tc>
                <a:extLst>
                  <a:ext uri="{0D108BD9-81ED-4DB2-BD59-A6C34878D82A}">
                    <a16:rowId xmlns:a16="http://schemas.microsoft.com/office/drawing/2014/main" val="2127075430"/>
                  </a:ext>
                </a:extLst>
              </a:tr>
              <a:tr h="271959">
                <a:tc>
                  <a:txBody>
                    <a:bodyPr/>
                    <a:lstStyle/>
                    <a:p>
                      <a:pPr fontAlgn="base"/>
                      <a:r>
                        <a:rPr lang="en-US" sz="1300">
                          <a:effectLst/>
                        </a:rPr>
                        <a:t>4</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608421500"/>
                  </a:ext>
                </a:extLst>
              </a:tr>
              <a:tr h="271959">
                <a:tc>
                  <a:txBody>
                    <a:bodyPr/>
                    <a:lstStyle/>
                    <a:p>
                      <a:pPr fontAlgn="base"/>
                      <a:r>
                        <a:rPr lang="en-US" sz="1300">
                          <a:effectLst/>
                        </a:rPr>
                        <a:t>5</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85</a:t>
                      </a:r>
                    </a:p>
                  </a:txBody>
                  <a:tcPr marL="67990" marR="67990" marT="33995" marB="33995" anchor="ctr"/>
                </a:tc>
                <a:extLst>
                  <a:ext uri="{0D108BD9-81ED-4DB2-BD59-A6C34878D82A}">
                    <a16:rowId xmlns:a16="http://schemas.microsoft.com/office/drawing/2014/main" val="4028156413"/>
                  </a:ext>
                </a:extLst>
              </a:tr>
              <a:tr h="271959">
                <a:tc>
                  <a:txBody>
                    <a:bodyPr/>
                    <a:lstStyle/>
                    <a:p>
                      <a:pPr fontAlgn="base"/>
                      <a:r>
                        <a:rPr lang="en-US" sz="1300">
                          <a:effectLst/>
                        </a:rPr>
                        <a:t>6</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dirty="0">
                          <a:effectLst/>
                        </a:rPr>
                        <a:t>78</a:t>
                      </a:r>
                    </a:p>
                  </a:txBody>
                  <a:tcPr marL="67990" marR="67990" marT="33995" marB="33995" anchor="ctr"/>
                </a:tc>
                <a:extLst>
                  <a:ext uri="{0D108BD9-81ED-4DB2-BD59-A6C34878D82A}">
                    <a16:rowId xmlns:a16="http://schemas.microsoft.com/office/drawing/2014/main" val="1234083821"/>
                  </a:ext>
                </a:extLst>
              </a:tr>
              <a:tr h="271959">
                <a:tc>
                  <a:txBody>
                    <a:bodyPr/>
                    <a:lstStyle/>
                    <a:p>
                      <a:pPr fontAlgn="base"/>
                      <a:r>
                        <a:rPr lang="en-US" sz="1300" dirty="0">
                          <a:effectLst/>
                        </a:rPr>
                        <a:t>7</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75</a:t>
                      </a:r>
                    </a:p>
                  </a:txBody>
                  <a:tcPr marL="67990" marR="67990" marT="33995" marB="33995" anchor="ctr"/>
                </a:tc>
                <a:extLst>
                  <a:ext uri="{0D108BD9-81ED-4DB2-BD59-A6C34878D82A}">
                    <a16:rowId xmlns:a16="http://schemas.microsoft.com/office/drawing/2014/main" val="3431443898"/>
                  </a:ext>
                </a:extLst>
              </a:tr>
              <a:tr h="271959">
                <a:tc>
                  <a:txBody>
                    <a:bodyPr/>
                    <a:lstStyle/>
                    <a:p>
                      <a:pPr fontAlgn="base"/>
                      <a:r>
                        <a:rPr lang="en-US" sz="1300">
                          <a:effectLst/>
                        </a:rPr>
                        <a:t>8</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80</a:t>
                      </a:r>
                    </a:p>
                  </a:txBody>
                  <a:tcPr marL="67990" marR="67990" marT="33995" marB="33995" anchor="ctr"/>
                </a:tc>
                <a:extLst>
                  <a:ext uri="{0D108BD9-81ED-4DB2-BD59-A6C34878D82A}">
                    <a16:rowId xmlns:a16="http://schemas.microsoft.com/office/drawing/2014/main" val="1033963505"/>
                  </a:ext>
                </a:extLst>
              </a:tr>
              <a:tr h="271959">
                <a:tc>
                  <a:txBody>
                    <a:bodyPr/>
                    <a:lstStyle/>
                    <a:p>
                      <a:pPr fontAlgn="base"/>
                      <a:r>
                        <a:rPr lang="en-US" sz="1300">
                          <a:effectLst/>
                        </a:rPr>
                        <a:t>9</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1064304118"/>
                  </a:ext>
                </a:extLst>
              </a:tr>
              <a:tr h="271959">
                <a:tc>
                  <a:txBody>
                    <a:bodyPr/>
                    <a:lstStyle/>
                    <a:p>
                      <a:pPr fontAlgn="base"/>
                      <a:r>
                        <a:rPr lang="en-US" sz="1300">
                          <a:effectLst/>
                        </a:rPr>
                        <a:t>10</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77</a:t>
                      </a:r>
                    </a:p>
                  </a:txBody>
                  <a:tcPr marL="67990" marR="67990" marT="33995" marB="33995" anchor="ctr"/>
                </a:tc>
                <a:extLst>
                  <a:ext uri="{0D108BD9-81ED-4DB2-BD59-A6C34878D82A}">
                    <a16:rowId xmlns:a16="http://schemas.microsoft.com/office/drawing/2014/main" val="343819895"/>
                  </a:ext>
                </a:extLst>
              </a:tr>
              <a:tr h="271959">
                <a:tc>
                  <a:txBody>
                    <a:bodyPr/>
                    <a:lstStyle/>
                    <a:p>
                      <a:pPr fontAlgn="base"/>
                      <a:r>
                        <a:rPr lang="en-US" sz="1300">
                          <a:effectLst/>
                        </a:rPr>
                        <a:t>11</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2960786143"/>
                  </a:ext>
                </a:extLst>
              </a:tr>
              <a:tr h="271959">
                <a:tc>
                  <a:txBody>
                    <a:bodyPr/>
                    <a:lstStyle/>
                    <a:p>
                      <a:pPr fontAlgn="base"/>
                      <a:r>
                        <a:rPr lang="en-US" sz="1300">
                          <a:effectLst/>
                        </a:rPr>
                        <a:t>12</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92</a:t>
                      </a:r>
                    </a:p>
                  </a:txBody>
                  <a:tcPr marL="67990" marR="67990" marT="33995" marB="33995" anchor="ctr"/>
                </a:tc>
                <a:extLst>
                  <a:ext uri="{0D108BD9-81ED-4DB2-BD59-A6C34878D82A}">
                    <a16:rowId xmlns:a16="http://schemas.microsoft.com/office/drawing/2014/main" val="2250534586"/>
                  </a:ext>
                </a:extLst>
              </a:tr>
              <a:tr h="271959">
                <a:tc>
                  <a:txBody>
                    <a:bodyPr/>
                    <a:lstStyle/>
                    <a:p>
                      <a:pPr fontAlgn="base"/>
                      <a:r>
                        <a:rPr lang="en-US" sz="1300">
                          <a:effectLst/>
                        </a:rPr>
                        <a:t>13</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95</a:t>
                      </a:r>
                    </a:p>
                  </a:txBody>
                  <a:tcPr marL="67990" marR="67990" marT="33995" marB="33995" anchor="ctr"/>
                </a:tc>
                <a:extLst>
                  <a:ext uri="{0D108BD9-81ED-4DB2-BD59-A6C34878D82A}">
                    <a16:rowId xmlns:a16="http://schemas.microsoft.com/office/drawing/2014/main" val="2032676665"/>
                  </a:ext>
                </a:extLst>
              </a:tr>
              <a:tr h="271959">
                <a:tc>
                  <a:txBody>
                    <a:bodyPr/>
                    <a:lstStyle/>
                    <a:p>
                      <a:pPr fontAlgn="base"/>
                      <a:r>
                        <a:rPr lang="en-US" sz="1300">
                          <a:effectLst/>
                        </a:rPr>
                        <a:t>14</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91</a:t>
                      </a:r>
                    </a:p>
                  </a:txBody>
                  <a:tcPr marL="67990" marR="67990" marT="33995" marB="33995" anchor="ctr"/>
                </a:tc>
                <a:extLst>
                  <a:ext uri="{0D108BD9-81ED-4DB2-BD59-A6C34878D82A}">
                    <a16:rowId xmlns:a16="http://schemas.microsoft.com/office/drawing/2014/main" val="2361817565"/>
                  </a:ext>
                </a:extLst>
              </a:tr>
              <a:tr h="271959">
                <a:tc>
                  <a:txBody>
                    <a:bodyPr/>
                    <a:lstStyle/>
                    <a:p>
                      <a:pPr fontAlgn="base"/>
                      <a:r>
                        <a:rPr lang="en-US" sz="1300">
                          <a:effectLst/>
                        </a:rPr>
                        <a:t>15</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dirty="0">
                          <a:effectLst/>
                        </a:rPr>
                        <a:t>94</a:t>
                      </a:r>
                    </a:p>
                  </a:txBody>
                  <a:tcPr marL="67990" marR="67990" marT="33995" marB="33995" anchor="ctr"/>
                </a:tc>
                <a:extLst>
                  <a:ext uri="{0D108BD9-81ED-4DB2-BD59-A6C34878D82A}">
                    <a16:rowId xmlns:a16="http://schemas.microsoft.com/office/drawing/2014/main" val="1358184112"/>
                  </a:ext>
                </a:extLst>
              </a:tr>
            </a:tbl>
          </a:graphicData>
        </a:graphic>
      </p:graphicFrame>
    </p:spTree>
    <p:extLst>
      <p:ext uri="{BB962C8B-B14F-4D97-AF65-F5344CB8AC3E}">
        <p14:creationId xmlns:p14="http://schemas.microsoft.com/office/powerpoint/2010/main" val="2170303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1DB1-F093-7774-1DE5-7D2516ABE7FA}"/>
              </a:ext>
            </a:extLst>
          </p:cNvPr>
          <p:cNvSpPr>
            <a:spLocks noGrp="1"/>
          </p:cNvSpPr>
          <p:nvPr>
            <p:ph type="title"/>
          </p:nvPr>
        </p:nvSpPr>
        <p:spPr/>
        <p:txBody>
          <a:bodyPr>
            <a:normAutofit/>
          </a:bodyPr>
          <a:lstStyle/>
          <a:p>
            <a:r>
              <a:rPr lang="en-US" dirty="0"/>
              <a:t>Interpreting Results</a:t>
            </a:r>
          </a:p>
        </p:txBody>
      </p:sp>
      <p:sp>
        <p:nvSpPr>
          <p:cNvPr id="3" name="Content Placeholder 2">
            <a:extLst>
              <a:ext uri="{FF2B5EF4-FFF2-40B4-BE49-F238E27FC236}">
                <a16:creationId xmlns:a16="http://schemas.microsoft.com/office/drawing/2014/main" id="{62A8CA51-4BEF-C98A-8A7E-21B8AB04F929}"/>
              </a:ext>
            </a:extLst>
          </p:cNvPr>
          <p:cNvSpPr>
            <a:spLocks noGrp="1"/>
          </p:cNvSpPr>
          <p:nvPr>
            <p:ph idx="1"/>
          </p:nvPr>
        </p:nvSpPr>
        <p:spPr/>
        <p:txBody>
          <a:bodyPr/>
          <a:lstStyle/>
          <a:p>
            <a:r>
              <a:rPr lang="en-US" dirty="0"/>
              <a:t>F-Statistic and P-Value:</a:t>
            </a:r>
          </a:p>
          <a:p>
            <a:pPr lvl="1"/>
            <a:r>
              <a:rPr lang="en-US" dirty="0"/>
              <a:t>An F-Statistic higher than the critical value or a P-value less than the alpha level (e.g., 0.05) indicates significant differences between group means.</a:t>
            </a:r>
          </a:p>
          <a:p>
            <a:r>
              <a:rPr lang="en-US" dirty="0"/>
              <a:t>Post Hoc Tests:</a:t>
            </a:r>
          </a:p>
          <a:p>
            <a:pPr lvl="1"/>
            <a:r>
              <a:rPr lang="en-US" dirty="0"/>
              <a:t>If the ANOVA is significant, perform post hoc tests (e.g., Tukey’s HSD) to determine which specific groups differ from each other.</a:t>
            </a:r>
          </a:p>
        </p:txBody>
      </p:sp>
      <p:pic>
        <p:nvPicPr>
          <p:cNvPr id="4" name="Picture 3">
            <a:extLst>
              <a:ext uri="{FF2B5EF4-FFF2-40B4-BE49-F238E27FC236}">
                <a16:creationId xmlns:a16="http://schemas.microsoft.com/office/drawing/2014/main" id="{439958D0-9989-B39E-D6E2-FB90ECA5F465}"/>
              </a:ext>
            </a:extLst>
          </p:cNvPr>
          <p:cNvPicPr>
            <a:picLocks noChangeAspect="1"/>
          </p:cNvPicPr>
          <p:nvPr/>
        </p:nvPicPr>
        <p:blipFill>
          <a:blip r:embed="rId2"/>
          <a:stretch>
            <a:fillRect/>
          </a:stretch>
        </p:blipFill>
        <p:spPr>
          <a:xfrm>
            <a:off x="838200" y="3897547"/>
            <a:ext cx="5750093" cy="2708429"/>
          </a:xfrm>
          <a:prstGeom prst="rect">
            <a:avLst/>
          </a:prstGeom>
        </p:spPr>
      </p:pic>
      <p:sp>
        <p:nvSpPr>
          <p:cNvPr id="5" name="Content Placeholder 2">
            <a:extLst>
              <a:ext uri="{FF2B5EF4-FFF2-40B4-BE49-F238E27FC236}">
                <a16:creationId xmlns:a16="http://schemas.microsoft.com/office/drawing/2014/main" id="{2DF1B482-D728-D103-804C-F39A2E0F33BF}"/>
              </a:ext>
            </a:extLst>
          </p:cNvPr>
          <p:cNvSpPr txBox="1">
            <a:spLocks/>
          </p:cNvSpPr>
          <p:nvPr/>
        </p:nvSpPr>
        <p:spPr>
          <a:xfrm>
            <a:off x="6809361" y="3897547"/>
            <a:ext cx="5006502" cy="1153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Both the F-Statistic and the P-value indicate significant difference between groups means, therefore we reject the null hypothesis.</a:t>
            </a:r>
          </a:p>
        </p:txBody>
      </p:sp>
    </p:spTree>
    <p:extLst>
      <p:ext uri="{BB962C8B-B14F-4D97-AF65-F5344CB8AC3E}">
        <p14:creationId xmlns:p14="http://schemas.microsoft.com/office/powerpoint/2010/main" val="2865119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sp>
        <p:nvSpPr>
          <p:cNvPr id="3" name="Content Placeholder 2">
            <a:extLst>
              <a:ext uri="{FF2B5EF4-FFF2-40B4-BE49-F238E27FC236}">
                <a16:creationId xmlns:a16="http://schemas.microsoft.com/office/drawing/2014/main" id="{4B0719DE-43B0-4F5B-8823-6AC5927AA0BE}"/>
              </a:ext>
            </a:extLst>
          </p:cNvPr>
          <p:cNvSpPr>
            <a:spLocks noGrp="1"/>
          </p:cNvSpPr>
          <p:nvPr>
            <p:ph idx="1"/>
          </p:nvPr>
        </p:nvSpPr>
        <p:spPr/>
        <p:txBody>
          <a:bodyPr/>
          <a:lstStyle/>
          <a:p>
            <a:r>
              <a:rPr lang="en-US" b="1" dirty="0"/>
              <a:t>Case Study: Effect of Teaching Method and Gender on Student Performance</a:t>
            </a:r>
          </a:p>
          <a:p>
            <a:r>
              <a:rPr lang="en-US" b="1" dirty="0"/>
              <a:t>Objective:</a:t>
            </a:r>
          </a:p>
          <a:p>
            <a:r>
              <a:rPr lang="en-US" dirty="0"/>
              <a:t>A school administrator wants to investigate whether </a:t>
            </a:r>
            <a:r>
              <a:rPr lang="en-US" b="1" dirty="0"/>
              <a:t>student performance</a:t>
            </a:r>
            <a:r>
              <a:rPr lang="en-US" dirty="0"/>
              <a:t> is affected by:</a:t>
            </a:r>
          </a:p>
          <a:p>
            <a:pPr>
              <a:buFont typeface="+mj-lt"/>
              <a:buAutoNum type="arabicPeriod"/>
            </a:pPr>
            <a:r>
              <a:rPr lang="en-US" b="1" dirty="0"/>
              <a:t>Teaching method</a:t>
            </a:r>
            <a:r>
              <a:rPr lang="en-US" dirty="0"/>
              <a:t> (Traditional vs. Online)</a:t>
            </a:r>
          </a:p>
          <a:p>
            <a:pPr>
              <a:buFont typeface="+mj-lt"/>
              <a:buAutoNum type="arabicPeriod"/>
            </a:pPr>
            <a:r>
              <a:rPr lang="en-US" b="1" dirty="0"/>
              <a:t>Student gender</a:t>
            </a:r>
            <a:r>
              <a:rPr lang="en-US" dirty="0"/>
              <a:t> (Male vs. Female)</a:t>
            </a:r>
          </a:p>
          <a:p>
            <a:r>
              <a:rPr lang="en-US" dirty="0"/>
              <a:t>This leads to a </a:t>
            </a:r>
            <a:r>
              <a:rPr lang="en-US" b="1" dirty="0"/>
              <a:t>2x2 factorial design</a:t>
            </a:r>
            <a:r>
              <a:rPr lang="en-US" dirty="0"/>
              <a:t>:</a:t>
            </a:r>
          </a:p>
          <a:p>
            <a:pPr>
              <a:buFont typeface="Arial" panose="020B0604020202020204" pitchFamily="34" charset="0"/>
              <a:buChar char="•"/>
            </a:pPr>
            <a:r>
              <a:rPr lang="en-US" dirty="0"/>
              <a:t>Factor A: Teaching Method (Traditional, Online)</a:t>
            </a:r>
          </a:p>
          <a:p>
            <a:pPr>
              <a:buFont typeface="Arial" panose="020B0604020202020204" pitchFamily="34" charset="0"/>
              <a:buChar char="•"/>
            </a:pPr>
            <a:r>
              <a:rPr lang="en-US" dirty="0"/>
              <a:t>Factor B: Gender (Male, Female)</a:t>
            </a:r>
          </a:p>
          <a:p>
            <a:pPr>
              <a:buFont typeface="Arial" panose="020B0604020202020204" pitchFamily="34" charset="0"/>
              <a:buChar char="•"/>
            </a:pPr>
            <a:r>
              <a:rPr lang="en-US" dirty="0"/>
              <a:t>Response Variable: Final Exam Score (numerical)</a:t>
            </a:r>
          </a:p>
          <a:p>
            <a:endParaRPr lang="en-US" dirty="0"/>
          </a:p>
        </p:txBody>
      </p:sp>
    </p:spTree>
    <p:extLst>
      <p:ext uri="{BB962C8B-B14F-4D97-AF65-F5344CB8AC3E}">
        <p14:creationId xmlns:p14="http://schemas.microsoft.com/office/powerpoint/2010/main" val="40516405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graphicFrame>
        <p:nvGraphicFramePr>
          <p:cNvPr id="4" name="Content Placeholder 3">
            <a:extLst>
              <a:ext uri="{FF2B5EF4-FFF2-40B4-BE49-F238E27FC236}">
                <a16:creationId xmlns:a16="http://schemas.microsoft.com/office/drawing/2014/main" id="{30CD29F8-8A06-4B73-886B-A33FC88F5E67}"/>
              </a:ext>
            </a:extLst>
          </p:cNvPr>
          <p:cNvGraphicFramePr>
            <a:graphicFrameLocks noGrp="1"/>
          </p:cNvGraphicFramePr>
          <p:nvPr>
            <p:ph idx="1"/>
            <p:extLst>
              <p:ext uri="{D42A27DB-BD31-4B8C-83A1-F6EECF244321}">
                <p14:modId xmlns:p14="http://schemas.microsoft.com/office/powerpoint/2010/main" val="3707857935"/>
              </p:ext>
            </p:extLst>
          </p:nvPr>
        </p:nvGraphicFramePr>
        <p:xfrm>
          <a:off x="838200" y="1747301"/>
          <a:ext cx="6477000" cy="2743200"/>
        </p:xfrm>
        <a:graphic>
          <a:graphicData uri="http://schemas.openxmlformats.org/drawingml/2006/table">
            <a:tbl>
              <a:tblPr>
                <a:tableStyleId>{616DA210-FB5B-4158-B5E0-FEB733F419BA}</a:tableStyleId>
              </a:tblPr>
              <a:tblGrid>
                <a:gridCol w="2159000">
                  <a:extLst>
                    <a:ext uri="{9D8B030D-6E8A-4147-A177-3AD203B41FA5}">
                      <a16:colId xmlns:a16="http://schemas.microsoft.com/office/drawing/2014/main" val="3975125452"/>
                    </a:ext>
                  </a:extLst>
                </a:gridCol>
                <a:gridCol w="2159000">
                  <a:extLst>
                    <a:ext uri="{9D8B030D-6E8A-4147-A177-3AD203B41FA5}">
                      <a16:colId xmlns:a16="http://schemas.microsoft.com/office/drawing/2014/main" val="3663933463"/>
                    </a:ext>
                  </a:extLst>
                </a:gridCol>
                <a:gridCol w="2159000">
                  <a:extLst>
                    <a:ext uri="{9D8B030D-6E8A-4147-A177-3AD203B41FA5}">
                      <a16:colId xmlns:a16="http://schemas.microsoft.com/office/drawing/2014/main" val="3507365894"/>
                    </a:ext>
                  </a:extLst>
                </a:gridCol>
              </a:tblGrid>
              <a:tr h="0">
                <a:tc>
                  <a:txBody>
                    <a:bodyPr/>
                    <a:lstStyle/>
                    <a:p>
                      <a:pPr algn="ctr"/>
                      <a:r>
                        <a:rPr lang="en-US" sz="1400" b="1" dirty="0"/>
                        <a:t>Gender</a:t>
                      </a:r>
                    </a:p>
                  </a:txBody>
                  <a:tcPr anchor="ctr">
                    <a:solidFill>
                      <a:schemeClr val="bg1">
                        <a:lumMod val="85000"/>
                      </a:schemeClr>
                    </a:solidFill>
                  </a:tcPr>
                </a:tc>
                <a:tc>
                  <a:txBody>
                    <a:bodyPr/>
                    <a:lstStyle/>
                    <a:p>
                      <a:pPr algn="ctr"/>
                      <a:r>
                        <a:rPr lang="en-US" sz="1400" b="1"/>
                        <a:t>Teaching Method</a:t>
                      </a:r>
                    </a:p>
                  </a:txBody>
                  <a:tcPr anchor="ctr">
                    <a:solidFill>
                      <a:schemeClr val="bg1">
                        <a:lumMod val="85000"/>
                      </a:schemeClr>
                    </a:solidFill>
                  </a:tcPr>
                </a:tc>
                <a:tc>
                  <a:txBody>
                    <a:bodyPr/>
                    <a:lstStyle/>
                    <a:p>
                      <a:pPr algn="ctr"/>
                      <a:r>
                        <a:rPr lang="en-US" sz="1400" b="1" dirty="0"/>
                        <a:t>Exam Score</a:t>
                      </a:r>
                    </a:p>
                  </a:txBody>
                  <a:tcPr anchor="ctr">
                    <a:solidFill>
                      <a:schemeClr val="bg1">
                        <a:lumMod val="85000"/>
                      </a:schemeClr>
                    </a:solidFill>
                  </a:tcPr>
                </a:tc>
                <a:extLst>
                  <a:ext uri="{0D108BD9-81ED-4DB2-BD59-A6C34878D82A}">
                    <a16:rowId xmlns:a16="http://schemas.microsoft.com/office/drawing/2014/main" val="1765051608"/>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75</a:t>
                      </a:r>
                    </a:p>
                  </a:txBody>
                  <a:tcPr anchor="ctr"/>
                </a:tc>
                <a:extLst>
                  <a:ext uri="{0D108BD9-81ED-4DB2-BD59-A6C34878D82A}">
                    <a16:rowId xmlns:a16="http://schemas.microsoft.com/office/drawing/2014/main" val="660016294"/>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78</a:t>
                      </a:r>
                    </a:p>
                  </a:txBody>
                  <a:tcPr anchor="ctr"/>
                </a:tc>
                <a:extLst>
                  <a:ext uri="{0D108BD9-81ED-4DB2-BD59-A6C34878D82A}">
                    <a16:rowId xmlns:a16="http://schemas.microsoft.com/office/drawing/2014/main" val="2251747229"/>
                  </a:ext>
                </a:extLst>
              </a:tr>
              <a:tr h="0">
                <a:tc>
                  <a:txBody>
                    <a:bodyPr/>
                    <a:lstStyle/>
                    <a:p>
                      <a:r>
                        <a:rPr lang="en-US" sz="1400"/>
                        <a:t>Female</a:t>
                      </a:r>
                    </a:p>
                  </a:txBody>
                  <a:tcPr anchor="ctr"/>
                </a:tc>
                <a:tc>
                  <a:txBody>
                    <a:bodyPr/>
                    <a:lstStyle/>
                    <a:p>
                      <a:r>
                        <a:rPr lang="en-US" sz="1400"/>
                        <a:t>Traditional</a:t>
                      </a:r>
                    </a:p>
                  </a:txBody>
                  <a:tcPr anchor="ctr"/>
                </a:tc>
                <a:tc>
                  <a:txBody>
                    <a:bodyPr/>
                    <a:lstStyle/>
                    <a:p>
                      <a:r>
                        <a:rPr lang="en-US" sz="1400"/>
                        <a:t>85</a:t>
                      </a:r>
                    </a:p>
                  </a:txBody>
                  <a:tcPr anchor="ctr"/>
                </a:tc>
                <a:extLst>
                  <a:ext uri="{0D108BD9-81ED-4DB2-BD59-A6C34878D82A}">
                    <a16:rowId xmlns:a16="http://schemas.microsoft.com/office/drawing/2014/main" val="3338557688"/>
                  </a:ext>
                </a:extLst>
              </a:tr>
              <a:tr h="0">
                <a:tc>
                  <a:txBody>
                    <a:bodyPr/>
                    <a:lstStyle/>
                    <a:p>
                      <a:r>
                        <a:rPr lang="en-US" sz="1400"/>
                        <a:t>Female</a:t>
                      </a:r>
                    </a:p>
                  </a:txBody>
                  <a:tcPr anchor="ctr"/>
                </a:tc>
                <a:tc>
                  <a:txBody>
                    <a:bodyPr/>
                    <a:lstStyle/>
                    <a:p>
                      <a:r>
                        <a:rPr lang="en-US" sz="1400" dirty="0"/>
                        <a:t>Traditional</a:t>
                      </a:r>
                    </a:p>
                  </a:txBody>
                  <a:tcPr anchor="ctr"/>
                </a:tc>
                <a:tc>
                  <a:txBody>
                    <a:bodyPr/>
                    <a:lstStyle/>
                    <a:p>
                      <a:r>
                        <a:rPr lang="en-US" sz="1400"/>
                        <a:t>82</a:t>
                      </a:r>
                    </a:p>
                  </a:txBody>
                  <a:tcPr anchor="ctr"/>
                </a:tc>
                <a:extLst>
                  <a:ext uri="{0D108BD9-81ED-4DB2-BD59-A6C34878D82A}">
                    <a16:rowId xmlns:a16="http://schemas.microsoft.com/office/drawing/2014/main" val="2416556421"/>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a:t>70</a:t>
                      </a:r>
                    </a:p>
                  </a:txBody>
                  <a:tcPr anchor="ctr"/>
                </a:tc>
                <a:extLst>
                  <a:ext uri="{0D108BD9-81ED-4DB2-BD59-A6C34878D82A}">
                    <a16:rowId xmlns:a16="http://schemas.microsoft.com/office/drawing/2014/main" val="527585995"/>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dirty="0"/>
                        <a:t>68</a:t>
                      </a:r>
                    </a:p>
                  </a:txBody>
                  <a:tcPr anchor="ctr"/>
                </a:tc>
                <a:extLst>
                  <a:ext uri="{0D108BD9-81ED-4DB2-BD59-A6C34878D82A}">
                    <a16:rowId xmlns:a16="http://schemas.microsoft.com/office/drawing/2014/main" val="4187301188"/>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80</a:t>
                      </a:r>
                    </a:p>
                  </a:txBody>
                  <a:tcPr anchor="ctr"/>
                </a:tc>
                <a:extLst>
                  <a:ext uri="{0D108BD9-81ED-4DB2-BD59-A6C34878D82A}">
                    <a16:rowId xmlns:a16="http://schemas.microsoft.com/office/drawing/2014/main" val="4015425752"/>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83</a:t>
                      </a:r>
                    </a:p>
                  </a:txBody>
                  <a:tcPr anchor="ctr"/>
                </a:tc>
                <a:extLst>
                  <a:ext uri="{0D108BD9-81ED-4DB2-BD59-A6C34878D82A}">
                    <a16:rowId xmlns:a16="http://schemas.microsoft.com/office/drawing/2014/main" val="1435759704"/>
                  </a:ext>
                </a:extLst>
              </a:tr>
            </a:tbl>
          </a:graphicData>
        </a:graphic>
      </p:graphicFrame>
      <p:graphicFrame>
        <p:nvGraphicFramePr>
          <p:cNvPr id="5" name="Table 4">
            <a:extLst>
              <a:ext uri="{FF2B5EF4-FFF2-40B4-BE49-F238E27FC236}">
                <a16:creationId xmlns:a16="http://schemas.microsoft.com/office/drawing/2014/main" id="{32A7FF02-00A7-4B96-B478-CB5CE55DC7ED}"/>
              </a:ext>
            </a:extLst>
          </p:cNvPr>
          <p:cNvGraphicFramePr>
            <a:graphicFrameLocks noGrp="1"/>
          </p:cNvGraphicFramePr>
          <p:nvPr>
            <p:extLst>
              <p:ext uri="{D42A27DB-BD31-4B8C-83A1-F6EECF244321}">
                <p14:modId xmlns:p14="http://schemas.microsoft.com/office/powerpoint/2010/main" val="1752328494"/>
              </p:ext>
            </p:extLst>
          </p:nvPr>
        </p:nvGraphicFramePr>
        <p:xfrm>
          <a:off x="838200" y="5098574"/>
          <a:ext cx="10515600" cy="146304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270311913"/>
                    </a:ext>
                  </a:extLst>
                </a:gridCol>
                <a:gridCol w="2103120">
                  <a:extLst>
                    <a:ext uri="{9D8B030D-6E8A-4147-A177-3AD203B41FA5}">
                      <a16:colId xmlns:a16="http://schemas.microsoft.com/office/drawing/2014/main" val="1146587391"/>
                    </a:ext>
                  </a:extLst>
                </a:gridCol>
                <a:gridCol w="2103120">
                  <a:extLst>
                    <a:ext uri="{9D8B030D-6E8A-4147-A177-3AD203B41FA5}">
                      <a16:colId xmlns:a16="http://schemas.microsoft.com/office/drawing/2014/main" val="4164875116"/>
                    </a:ext>
                  </a:extLst>
                </a:gridCol>
                <a:gridCol w="2103120">
                  <a:extLst>
                    <a:ext uri="{9D8B030D-6E8A-4147-A177-3AD203B41FA5}">
                      <a16:colId xmlns:a16="http://schemas.microsoft.com/office/drawing/2014/main" val="682256027"/>
                    </a:ext>
                  </a:extLst>
                </a:gridCol>
                <a:gridCol w="2103120">
                  <a:extLst>
                    <a:ext uri="{9D8B030D-6E8A-4147-A177-3AD203B41FA5}">
                      <a16:colId xmlns:a16="http://schemas.microsoft.com/office/drawing/2014/main" val="623223879"/>
                    </a:ext>
                  </a:extLst>
                </a:gridCol>
              </a:tblGrid>
              <a:tr h="0">
                <a:tc>
                  <a:txBody>
                    <a:bodyPr/>
                    <a:lstStyle/>
                    <a:p>
                      <a:endParaRPr lang="en-US"/>
                    </a:p>
                  </a:txBody>
                  <a:tcPr anchor="ctr"/>
                </a:tc>
                <a:tc>
                  <a:txBody>
                    <a:bodyPr/>
                    <a:lstStyle/>
                    <a:p>
                      <a:pPr algn="ctr"/>
                      <a:r>
                        <a:rPr lang="en-US"/>
                        <a:t>Traditional</a:t>
                      </a:r>
                    </a:p>
                  </a:txBody>
                  <a:tcPr anchor="ctr">
                    <a:solidFill>
                      <a:schemeClr val="bg1">
                        <a:lumMod val="85000"/>
                      </a:schemeClr>
                    </a:solidFill>
                  </a:tcPr>
                </a:tc>
                <a:tc>
                  <a:txBody>
                    <a:bodyPr/>
                    <a:lstStyle/>
                    <a:p>
                      <a:pPr algn="ctr"/>
                      <a:endParaRPr lang="en-US"/>
                    </a:p>
                  </a:txBody>
                  <a:tcPr anchor="ctr">
                    <a:solidFill>
                      <a:schemeClr val="bg1">
                        <a:lumMod val="85000"/>
                      </a:schemeClr>
                    </a:solidFill>
                  </a:tcPr>
                </a:tc>
                <a:tc>
                  <a:txBody>
                    <a:bodyPr/>
                    <a:lstStyle/>
                    <a:p>
                      <a:pPr algn="ctr"/>
                      <a:r>
                        <a:rPr lang="en-US"/>
                        <a:t>Online</a:t>
                      </a:r>
                    </a:p>
                  </a:txBody>
                  <a:tcPr anchor="ctr">
                    <a:solidFill>
                      <a:schemeClr val="bg1">
                        <a:lumMod val="85000"/>
                      </a:schemeClr>
                    </a:solidFill>
                  </a:tcPr>
                </a:tc>
                <a:tc>
                  <a:txBody>
                    <a:bodyPr/>
                    <a:lstStyle/>
                    <a:p>
                      <a:pPr algn="ctr"/>
                      <a:endParaRPr lang="en-US" dirty="0"/>
                    </a:p>
                  </a:txBody>
                  <a:tcPr anchor="ctr">
                    <a:solidFill>
                      <a:schemeClr val="bg1">
                        <a:lumMod val="85000"/>
                      </a:schemeClr>
                    </a:solidFill>
                  </a:tcPr>
                </a:tc>
                <a:extLst>
                  <a:ext uri="{0D108BD9-81ED-4DB2-BD59-A6C34878D82A}">
                    <a16:rowId xmlns:a16="http://schemas.microsoft.com/office/drawing/2014/main" val="1311376575"/>
                  </a:ext>
                </a:extLst>
              </a:tr>
              <a:tr h="0">
                <a:tc>
                  <a:txBody>
                    <a:bodyPr/>
                    <a:lstStyle/>
                    <a:p>
                      <a:endParaRPr lang="en-US"/>
                    </a:p>
                  </a:txBody>
                  <a:tcPr anchor="ctr"/>
                </a:tc>
                <a:tc>
                  <a:txBody>
                    <a:bodyPr/>
                    <a:lstStyle/>
                    <a:p>
                      <a:pPr algn="ctr"/>
                      <a:r>
                        <a:rPr lang="en-US"/>
                        <a:t>Male</a:t>
                      </a:r>
                    </a:p>
                  </a:txBody>
                  <a:tcPr anchor="ctr">
                    <a:solidFill>
                      <a:schemeClr val="bg1">
                        <a:lumMod val="85000"/>
                      </a:schemeClr>
                    </a:solidFill>
                  </a:tcPr>
                </a:tc>
                <a:tc>
                  <a:txBody>
                    <a:bodyPr/>
                    <a:lstStyle/>
                    <a:p>
                      <a:pPr algn="ctr"/>
                      <a:r>
                        <a:rPr lang="en-US"/>
                        <a:t>Female</a:t>
                      </a:r>
                    </a:p>
                  </a:txBody>
                  <a:tcPr anchor="ctr">
                    <a:solidFill>
                      <a:schemeClr val="bg1">
                        <a:lumMod val="85000"/>
                      </a:schemeClr>
                    </a:solidFill>
                  </a:tcPr>
                </a:tc>
                <a:tc>
                  <a:txBody>
                    <a:bodyPr/>
                    <a:lstStyle/>
                    <a:p>
                      <a:pPr algn="ctr"/>
                      <a:r>
                        <a:rPr lang="en-US"/>
                        <a:t>Male</a:t>
                      </a:r>
                    </a:p>
                  </a:txBody>
                  <a:tcPr anchor="ctr">
                    <a:solidFill>
                      <a:schemeClr val="bg1">
                        <a:lumMod val="85000"/>
                      </a:schemeClr>
                    </a:solidFill>
                  </a:tcPr>
                </a:tc>
                <a:tc>
                  <a:txBody>
                    <a:bodyPr/>
                    <a:lstStyle/>
                    <a:p>
                      <a:pPr algn="ctr"/>
                      <a:r>
                        <a:rPr lang="en-US" dirty="0"/>
                        <a:t>Female</a:t>
                      </a:r>
                    </a:p>
                  </a:txBody>
                  <a:tcPr anchor="ctr">
                    <a:solidFill>
                      <a:schemeClr val="bg1">
                        <a:lumMod val="85000"/>
                      </a:schemeClr>
                    </a:solidFill>
                  </a:tcPr>
                </a:tc>
                <a:extLst>
                  <a:ext uri="{0D108BD9-81ED-4DB2-BD59-A6C34878D82A}">
                    <a16:rowId xmlns:a16="http://schemas.microsoft.com/office/drawing/2014/main" val="1761932133"/>
                  </a:ext>
                </a:extLst>
              </a:tr>
              <a:tr h="0">
                <a:tc>
                  <a:txBody>
                    <a:bodyPr/>
                    <a:lstStyle/>
                    <a:p>
                      <a:r>
                        <a:rPr lang="en-US"/>
                        <a:t>Score1</a:t>
                      </a:r>
                    </a:p>
                  </a:txBody>
                  <a:tcPr anchor="ctr">
                    <a:solidFill>
                      <a:schemeClr val="bg1">
                        <a:lumMod val="85000"/>
                      </a:schemeClr>
                    </a:solidFill>
                  </a:tcPr>
                </a:tc>
                <a:tc>
                  <a:txBody>
                    <a:bodyPr/>
                    <a:lstStyle/>
                    <a:p>
                      <a:pPr algn="ctr"/>
                      <a:r>
                        <a:rPr lang="en-US"/>
                        <a:t>75</a:t>
                      </a:r>
                    </a:p>
                  </a:txBody>
                  <a:tcPr anchor="ctr"/>
                </a:tc>
                <a:tc>
                  <a:txBody>
                    <a:bodyPr/>
                    <a:lstStyle/>
                    <a:p>
                      <a:pPr algn="ctr"/>
                      <a:r>
                        <a:rPr lang="en-US"/>
                        <a:t>85</a:t>
                      </a:r>
                    </a:p>
                  </a:txBody>
                  <a:tcPr anchor="ctr"/>
                </a:tc>
                <a:tc>
                  <a:txBody>
                    <a:bodyPr/>
                    <a:lstStyle/>
                    <a:p>
                      <a:pPr algn="ctr"/>
                      <a:r>
                        <a:rPr lang="en-US"/>
                        <a:t>70</a:t>
                      </a:r>
                    </a:p>
                  </a:txBody>
                  <a:tcPr anchor="ctr"/>
                </a:tc>
                <a:tc>
                  <a:txBody>
                    <a:bodyPr/>
                    <a:lstStyle/>
                    <a:p>
                      <a:pPr algn="ctr"/>
                      <a:r>
                        <a:rPr lang="en-US"/>
                        <a:t>80</a:t>
                      </a:r>
                    </a:p>
                  </a:txBody>
                  <a:tcPr anchor="ctr"/>
                </a:tc>
                <a:extLst>
                  <a:ext uri="{0D108BD9-81ED-4DB2-BD59-A6C34878D82A}">
                    <a16:rowId xmlns:a16="http://schemas.microsoft.com/office/drawing/2014/main" val="3274913487"/>
                  </a:ext>
                </a:extLst>
              </a:tr>
              <a:tr h="0">
                <a:tc>
                  <a:txBody>
                    <a:bodyPr/>
                    <a:lstStyle/>
                    <a:p>
                      <a:r>
                        <a:rPr lang="en-US" dirty="0"/>
                        <a:t>Score2</a:t>
                      </a:r>
                    </a:p>
                  </a:txBody>
                  <a:tcPr anchor="ctr">
                    <a:solidFill>
                      <a:schemeClr val="bg1">
                        <a:lumMod val="85000"/>
                      </a:schemeClr>
                    </a:solidFill>
                  </a:tcPr>
                </a:tc>
                <a:tc>
                  <a:txBody>
                    <a:bodyPr/>
                    <a:lstStyle/>
                    <a:p>
                      <a:pPr algn="ctr"/>
                      <a:r>
                        <a:rPr lang="en-US"/>
                        <a:t>78</a:t>
                      </a:r>
                    </a:p>
                  </a:txBody>
                  <a:tcPr anchor="ctr"/>
                </a:tc>
                <a:tc>
                  <a:txBody>
                    <a:bodyPr/>
                    <a:lstStyle/>
                    <a:p>
                      <a:pPr algn="ctr"/>
                      <a:r>
                        <a:rPr lang="en-US"/>
                        <a:t>82</a:t>
                      </a:r>
                    </a:p>
                  </a:txBody>
                  <a:tcPr anchor="ctr"/>
                </a:tc>
                <a:tc>
                  <a:txBody>
                    <a:bodyPr/>
                    <a:lstStyle/>
                    <a:p>
                      <a:pPr algn="ctr"/>
                      <a:r>
                        <a:rPr lang="en-US"/>
                        <a:t>68</a:t>
                      </a:r>
                    </a:p>
                  </a:txBody>
                  <a:tcPr anchor="ctr"/>
                </a:tc>
                <a:tc>
                  <a:txBody>
                    <a:bodyPr/>
                    <a:lstStyle/>
                    <a:p>
                      <a:pPr algn="ctr"/>
                      <a:r>
                        <a:rPr lang="en-US" dirty="0"/>
                        <a:t>83</a:t>
                      </a:r>
                    </a:p>
                  </a:txBody>
                  <a:tcPr anchor="ctr"/>
                </a:tc>
                <a:extLst>
                  <a:ext uri="{0D108BD9-81ED-4DB2-BD59-A6C34878D82A}">
                    <a16:rowId xmlns:a16="http://schemas.microsoft.com/office/drawing/2014/main" val="943877498"/>
                  </a:ext>
                </a:extLst>
              </a:tr>
            </a:tbl>
          </a:graphicData>
        </a:graphic>
      </p:graphicFrame>
    </p:spTree>
    <p:extLst>
      <p:ext uri="{BB962C8B-B14F-4D97-AF65-F5344CB8AC3E}">
        <p14:creationId xmlns:p14="http://schemas.microsoft.com/office/powerpoint/2010/main" val="3660604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Categorical Data</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Chi-Square Tests</a:t>
            </a:r>
          </a:p>
        </p:txBody>
      </p:sp>
    </p:spTree>
    <p:extLst>
      <p:ext uri="{BB962C8B-B14F-4D97-AF65-F5344CB8AC3E}">
        <p14:creationId xmlns:p14="http://schemas.microsoft.com/office/powerpoint/2010/main" val="2575039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sz="2800" dirty="0"/>
              <a:t>Introduction to Chi-Square Tests</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Definition: Chi-Square tests are statistical methods used to determine if there is a significant association between categorical variables.</a:t>
            </a:r>
          </a:p>
          <a:p>
            <a:r>
              <a:rPr lang="en-US" dirty="0"/>
              <a:t>Types of Chi-Square Tests:</a:t>
            </a:r>
          </a:p>
          <a:p>
            <a:pPr lvl="1"/>
            <a:r>
              <a:rPr lang="en-US" sz="2400" dirty="0"/>
              <a:t>Test of Independence: Determines if two or more categories are independent.</a:t>
            </a:r>
          </a:p>
          <a:p>
            <a:pPr lvl="1"/>
            <a:r>
              <a:rPr lang="en-US" sz="2400" dirty="0"/>
              <a:t>Goodness of Fit Test: Determines if a sample matches an expected distribution.</a:t>
            </a:r>
          </a:p>
        </p:txBody>
      </p:sp>
    </p:spTree>
    <p:extLst>
      <p:ext uri="{BB962C8B-B14F-4D97-AF65-F5344CB8AC3E}">
        <p14:creationId xmlns:p14="http://schemas.microsoft.com/office/powerpoint/2010/main" val="2990045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82CFA-FC71-061B-1C5B-91B3F8CAB52E}"/>
              </a:ext>
            </a:extLst>
          </p:cNvPr>
          <p:cNvSpPr>
            <a:spLocks noGrp="1"/>
          </p:cNvSpPr>
          <p:nvPr>
            <p:ph type="title"/>
          </p:nvPr>
        </p:nvSpPr>
        <p:spPr/>
        <p:txBody>
          <a:bodyPr/>
          <a:lstStyle/>
          <a:p>
            <a:r>
              <a:rPr lang="en-US" dirty="0"/>
              <a:t>Focus on Chi-Square Test of Independence</a:t>
            </a:r>
          </a:p>
        </p:txBody>
      </p:sp>
      <p:sp>
        <p:nvSpPr>
          <p:cNvPr id="3" name="Content Placeholder 2">
            <a:extLst>
              <a:ext uri="{FF2B5EF4-FFF2-40B4-BE49-F238E27FC236}">
                <a16:creationId xmlns:a16="http://schemas.microsoft.com/office/drawing/2014/main" id="{29EA7011-F30A-B5BD-7916-BEDAAC688CE5}"/>
              </a:ext>
            </a:extLst>
          </p:cNvPr>
          <p:cNvSpPr>
            <a:spLocks noGrp="1"/>
          </p:cNvSpPr>
          <p:nvPr>
            <p:ph idx="1"/>
          </p:nvPr>
        </p:nvSpPr>
        <p:spPr/>
        <p:txBody>
          <a:bodyPr/>
          <a:lstStyle/>
          <a:p>
            <a:r>
              <a:rPr lang="en-US" dirty="0"/>
              <a:t>Purpose: To assess whether observed frequencies in a contingency table differ significantly from expected frequencies derived from hypothesis.</a:t>
            </a:r>
          </a:p>
          <a:p>
            <a:r>
              <a:rPr lang="en-US" dirty="0"/>
              <a:t>Applicable Scenarios: Useful in marketing research, opinion polling, healthcare, and demographic studies.</a:t>
            </a:r>
          </a:p>
        </p:txBody>
      </p:sp>
      <p:pic>
        <p:nvPicPr>
          <p:cNvPr id="1026" name="Picture 2" descr="Chi-Square Table - Statistics By Jim">
            <a:extLst>
              <a:ext uri="{FF2B5EF4-FFF2-40B4-BE49-F238E27FC236}">
                <a16:creationId xmlns:a16="http://schemas.microsoft.com/office/drawing/2014/main" id="{4777CF26-0F99-41D1-84BC-BEB619F5A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6161" y="3364302"/>
            <a:ext cx="4226002" cy="281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1028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02C9D-D2CB-5A92-48D4-45EDA8CDD30F}"/>
              </a:ext>
            </a:extLst>
          </p:cNvPr>
          <p:cNvSpPr>
            <a:spLocks noGrp="1"/>
          </p:cNvSpPr>
          <p:nvPr>
            <p:ph type="title"/>
          </p:nvPr>
        </p:nvSpPr>
        <p:spPr/>
        <p:txBody>
          <a:bodyPr/>
          <a:lstStyle/>
          <a:p>
            <a:r>
              <a:rPr lang="en-US" dirty="0"/>
              <a:t>Assumptions of the Chi-Square Test of Independence</a:t>
            </a:r>
          </a:p>
        </p:txBody>
      </p:sp>
      <p:sp>
        <p:nvSpPr>
          <p:cNvPr id="3" name="Content Placeholder 2">
            <a:extLst>
              <a:ext uri="{FF2B5EF4-FFF2-40B4-BE49-F238E27FC236}">
                <a16:creationId xmlns:a16="http://schemas.microsoft.com/office/drawing/2014/main" id="{82330144-6753-370A-BDCC-FBBBCB8FC516}"/>
              </a:ext>
            </a:extLst>
          </p:cNvPr>
          <p:cNvSpPr>
            <a:spLocks noGrp="1"/>
          </p:cNvSpPr>
          <p:nvPr>
            <p:ph idx="1"/>
          </p:nvPr>
        </p:nvSpPr>
        <p:spPr/>
        <p:txBody>
          <a:bodyPr/>
          <a:lstStyle/>
          <a:p>
            <a:r>
              <a:rPr lang="en-US" dirty="0"/>
              <a:t>Sample Adequacy: The sample size should be large enough, typically each category should have an expected frequency of 5 or more.</a:t>
            </a:r>
          </a:p>
          <a:p>
            <a:r>
              <a:rPr lang="en-US" dirty="0"/>
              <a:t>Independence: Observations must be independent of each other.</a:t>
            </a:r>
          </a:p>
          <a:p>
            <a:r>
              <a:rPr lang="en-US" dirty="0"/>
              <a:t>Random Sampling: Data should be collected randomly.</a:t>
            </a:r>
          </a:p>
          <a:p>
            <a:r>
              <a:rPr lang="en-US" dirty="0"/>
              <a:t>Data Level: The test requires nominal or ordinal data.</a:t>
            </a:r>
          </a:p>
        </p:txBody>
      </p:sp>
    </p:spTree>
    <p:extLst>
      <p:ext uri="{BB962C8B-B14F-4D97-AF65-F5344CB8AC3E}">
        <p14:creationId xmlns:p14="http://schemas.microsoft.com/office/powerpoint/2010/main" val="1377124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34D6-C15E-1858-49D1-65A5F4AB6E84}"/>
              </a:ext>
            </a:extLst>
          </p:cNvPr>
          <p:cNvSpPr>
            <a:spLocks noGrp="1"/>
          </p:cNvSpPr>
          <p:nvPr>
            <p:ph type="title"/>
          </p:nvPr>
        </p:nvSpPr>
        <p:spPr/>
        <p:txBody>
          <a:bodyPr/>
          <a:lstStyle/>
          <a:p>
            <a:r>
              <a:rPr lang="en-US" dirty="0"/>
              <a:t>The Chi-Square Statistic</a:t>
            </a:r>
          </a:p>
        </p:txBody>
      </p:sp>
      <p:pic>
        <p:nvPicPr>
          <p:cNvPr id="6" name="Content Placeholder 5">
            <a:extLst>
              <a:ext uri="{FF2B5EF4-FFF2-40B4-BE49-F238E27FC236}">
                <a16:creationId xmlns:a16="http://schemas.microsoft.com/office/drawing/2014/main" id="{1FD29ADE-F46E-E9EA-DA8F-199E7FED1006}"/>
              </a:ext>
            </a:extLst>
          </p:cNvPr>
          <p:cNvPicPr>
            <a:picLocks noGrp="1" noChangeAspect="1"/>
          </p:cNvPicPr>
          <p:nvPr>
            <p:ph idx="1"/>
          </p:nvPr>
        </p:nvPicPr>
        <p:blipFill>
          <a:blip r:embed="rId2"/>
          <a:stretch>
            <a:fillRect/>
          </a:stretch>
        </p:blipFill>
        <p:spPr>
          <a:xfrm>
            <a:off x="838200" y="1727006"/>
            <a:ext cx="5887272" cy="3277057"/>
          </a:xfrm>
          <a:prstGeom prst="rect">
            <a:avLst/>
          </a:prstGeom>
        </p:spPr>
      </p:pic>
    </p:spTree>
    <p:extLst>
      <p:ext uri="{BB962C8B-B14F-4D97-AF65-F5344CB8AC3E}">
        <p14:creationId xmlns:p14="http://schemas.microsoft.com/office/powerpoint/2010/main" val="2630096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0238-28BD-CEAD-3F93-628B23B9DBD0}"/>
              </a:ext>
            </a:extLst>
          </p:cNvPr>
          <p:cNvSpPr>
            <a:spLocks noGrp="1"/>
          </p:cNvSpPr>
          <p:nvPr>
            <p:ph type="title"/>
          </p:nvPr>
        </p:nvSpPr>
        <p:spPr/>
        <p:txBody>
          <a:bodyPr/>
          <a:lstStyle/>
          <a:p>
            <a:r>
              <a:rPr lang="en-US" dirty="0"/>
              <a:t>Calculating Expected Frequencies</a:t>
            </a:r>
          </a:p>
        </p:txBody>
      </p:sp>
      <p:pic>
        <p:nvPicPr>
          <p:cNvPr id="5" name="Content Placeholder 4">
            <a:extLst>
              <a:ext uri="{FF2B5EF4-FFF2-40B4-BE49-F238E27FC236}">
                <a16:creationId xmlns:a16="http://schemas.microsoft.com/office/drawing/2014/main" id="{7FDD7C87-6909-64CA-A587-61A30C42F2BE}"/>
              </a:ext>
            </a:extLst>
          </p:cNvPr>
          <p:cNvPicPr>
            <a:picLocks noGrp="1" noChangeAspect="1"/>
          </p:cNvPicPr>
          <p:nvPr>
            <p:ph idx="1"/>
          </p:nvPr>
        </p:nvPicPr>
        <p:blipFill>
          <a:blip r:embed="rId2"/>
          <a:stretch>
            <a:fillRect/>
          </a:stretch>
        </p:blipFill>
        <p:spPr>
          <a:xfrm>
            <a:off x="838200" y="1721516"/>
            <a:ext cx="10515600" cy="1147952"/>
          </a:xfrm>
        </p:spPr>
      </p:pic>
    </p:spTree>
    <p:extLst>
      <p:ext uri="{BB962C8B-B14F-4D97-AF65-F5344CB8AC3E}">
        <p14:creationId xmlns:p14="http://schemas.microsoft.com/office/powerpoint/2010/main" val="3328652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300D-7F60-3373-1DFE-7822B68C4B37}"/>
              </a:ext>
            </a:extLst>
          </p:cNvPr>
          <p:cNvSpPr>
            <a:spLocks noGrp="1"/>
          </p:cNvSpPr>
          <p:nvPr>
            <p:ph type="title"/>
          </p:nvPr>
        </p:nvSpPr>
        <p:spPr/>
        <p:txBody>
          <a:bodyPr>
            <a:normAutofit/>
          </a:bodyPr>
          <a:lstStyle/>
          <a:p>
            <a:r>
              <a:rPr lang="en-US" dirty="0"/>
              <a:t>Conducting the Test</a:t>
            </a:r>
          </a:p>
        </p:txBody>
      </p:sp>
      <p:sp>
        <p:nvSpPr>
          <p:cNvPr id="3" name="Content Placeholder 2">
            <a:extLst>
              <a:ext uri="{FF2B5EF4-FFF2-40B4-BE49-F238E27FC236}">
                <a16:creationId xmlns:a16="http://schemas.microsoft.com/office/drawing/2014/main" id="{3CC5B0C0-50D3-FFD9-98E6-EF4F0FD589DA}"/>
              </a:ext>
            </a:extLst>
          </p:cNvPr>
          <p:cNvSpPr>
            <a:spLocks noGrp="1"/>
          </p:cNvSpPr>
          <p:nvPr>
            <p:ph idx="1"/>
          </p:nvPr>
        </p:nvSpPr>
        <p:spPr/>
        <p:txBody>
          <a:bodyPr/>
          <a:lstStyle/>
          <a:p>
            <a:r>
              <a:rPr lang="en-US" dirty="0"/>
              <a:t>Step-by-Step Process:</a:t>
            </a:r>
          </a:p>
          <a:p>
            <a:pPr lvl="1"/>
            <a:r>
              <a:rPr lang="en-US" dirty="0"/>
              <a:t>Set up the contingency table.</a:t>
            </a:r>
          </a:p>
          <a:p>
            <a:pPr lvl="1"/>
            <a:r>
              <a:rPr lang="en-US" dirty="0"/>
              <a:t>Calculate expected frequencies for each cell.</a:t>
            </a:r>
          </a:p>
          <a:p>
            <a:pPr lvl="1"/>
            <a:r>
              <a:rPr lang="en-US" dirty="0"/>
              <a:t>Compute Chi-Square statistic using the formula.</a:t>
            </a:r>
          </a:p>
          <a:p>
            <a:pPr lvl="1"/>
            <a:r>
              <a:rPr lang="en-US" dirty="0"/>
              <a:t>Compare the calculated Chi-Square to the critical value from Chi-Square distribution table based on degrees of freedom and significance level.</a:t>
            </a:r>
          </a:p>
        </p:txBody>
      </p:sp>
    </p:spTree>
    <p:extLst>
      <p:ext uri="{BB962C8B-B14F-4D97-AF65-F5344CB8AC3E}">
        <p14:creationId xmlns:p14="http://schemas.microsoft.com/office/powerpoint/2010/main" val="26206978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D075-DFB4-CBD9-923F-179A747B9430}"/>
              </a:ext>
            </a:extLst>
          </p:cNvPr>
          <p:cNvSpPr>
            <a:spLocks noGrp="1"/>
          </p:cNvSpPr>
          <p:nvPr>
            <p:ph type="title"/>
          </p:nvPr>
        </p:nvSpPr>
        <p:spPr/>
        <p:txBody>
          <a:bodyPr/>
          <a:lstStyle/>
          <a:p>
            <a:r>
              <a:rPr lang="en-US" dirty="0"/>
              <a:t>Interpreting Results</a:t>
            </a:r>
          </a:p>
        </p:txBody>
      </p:sp>
      <p:pic>
        <p:nvPicPr>
          <p:cNvPr id="5" name="Content Placeholder 4">
            <a:extLst>
              <a:ext uri="{FF2B5EF4-FFF2-40B4-BE49-F238E27FC236}">
                <a16:creationId xmlns:a16="http://schemas.microsoft.com/office/drawing/2014/main" id="{B636DED6-2E8E-111D-7C5D-408A3130139F}"/>
              </a:ext>
            </a:extLst>
          </p:cNvPr>
          <p:cNvPicPr>
            <a:picLocks noGrp="1" noChangeAspect="1"/>
          </p:cNvPicPr>
          <p:nvPr>
            <p:ph idx="1"/>
          </p:nvPr>
        </p:nvPicPr>
        <p:blipFill>
          <a:blip r:embed="rId2"/>
          <a:stretch>
            <a:fillRect/>
          </a:stretch>
        </p:blipFill>
        <p:spPr>
          <a:xfrm>
            <a:off x="838200" y="1880225"/>
            <a:ext cx="10515600" cy="2205376"/>
          </a:xfrm>
        </p:spPr>
      </p:pic>
    </p:spTree>
    <p:extLst>
      <p:ext uri="{BB962C8B-B14F-4D97-AF65-F5344CB8AC3E}">
        <p14:creationId xmlns:p14="http://schemas.microsoft.com/office/powerpoint/2010/main" val="140683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1F79-8E73-AF8E-EE4A-7500CE004782}"/>
              </a:ext>
            </a:extLst>
          </p:cNvPr>
          <p:cNvSpPr>
            <a:spLocks noGrp="1"/>
          </p:cNvSpPr>
          <p:nvPr>
            <p:ph type="title"/>
          </p:nvPr>
        </p:nvSpPr>
        <p:spPr/>
        <p:txBody>
          <a:bodyPr>
            <a:normAutofit/>
          </a:bodyPr>
          <a:lstStyle/>
          <a:p>
            <a:r>
              <a:rPr lang="en-US" dirty="0"/>
              <a:t>Example: Product Preference Across Age Groups</a:t>
            </a:r>
          </a:p>
        </p:txBody>
      </p:sp>
      <p:sp>
        <p:nvSpPr>
          <p:cNvPr id="3" name="Content Placeholder 2">
            <a:extLst>
              <a:ext uri="{FF2B5EF4-FFF2-40B4-BE49-F238E27FC236}">
                <a16:creationId xmlns:a16="http://schemas.microsoft.com/office/drawing/2014/main" id="{E505A385-9E8A-BA09-71D4-20CEB556D77F}"/>
              </a:ext>
            </a:extLst>
          </p:cNvPr>
          <p:cNvSpPr>
            <a:spLocks noGrp="1"/>
          </p:cNvSpPr>
          <p:nvPr>
            <p:ph idx="1"/>
          </p:nvPr>
        </p:nvSpPr>
        <p:spPr>
          <a:xfrm>
            <a:off x="838200" y="1706008"/>
            <a:ext cx="10515600" cy="2353670"/>
          </a:xfrm>
        </p:spPr>
        <p:txBody>
          <a:bodyPr>
            <a:normAutofit/>
          </a:bodyPr>
          <a:lstStyle/>
          <a:p>
            <a:r>
              <a:rPr lang="en-US" dirty="0"/>
              <a:t>A company wants to determine if there is a significant association between the age group of its customers and their preference for one of two new beverage products. The marketing team has conducted a survey and collected data from different age groups.</a:t>
            </a:r>
          </a:p>
          <a:p>
            <a:pPr marL="0" indent="0">
              <a:buNone/>
            </a:pPr>
            <a:r>
              <a:rPr lang="en-US" dirty="0"/>
              <a:t>Data Collected</a:t>
            </a:r>
          </a:p>
          <a:p>
            <a:r>
              <a:rPr lang="en-US" dirty="0"/>
              <a:t>Here's the observed frequency table based on the survey:</a:t>
            </a:r>
          </a:p>
          <a:p>
            <a:endParaRPr lang="en-US" dirty="0"/>
          </a:p>
        </p:txBody>
      </p:sp>
      <p:graphicFrame>
        <p:nvGraphicFramePr>
          <p:cNvPr id="4" name="Table 3">
            <a:extLst>
              <a:ext uri="{FF2B5EF4-FFF2-40B4-BE49-F238E27FC236}">
                <a16:creationId xmlns:a16="http://schemas.microsoft.com/office/drawing/2014/main" id="{CE1AB887-0ABD-3634-5523-8A09B0C1FA10}"/>
              </a:ext>
            </a:extLst>
          </p:cNvPr>
          <p:cNvGraphicFramePr>
            <a:graphicFrameLocks noGrp="1"/>
          </p:cNvGraphicFramePr>
          <p:nvPr>
            <p:extLst>
              <p:ext uri="{D42A27DB-BD31-4B8C-83A1-F6EECF244321}">
                <p14:modId xmlns:p14="http://schemas.microsoft.com/office/powerpoint/2010/main" val="2731848300"/>
              </p:ext>
            </p:extLst>
          </p:nvPr>
        </p:nvGraphicFramePr>
        <p:xfrm>
          <a:off x="3307080" y="4219955"/>
          <a:ext cx="5577840" cy="1554480"/>
        </p:xfrm>
        <a:graphic>
          <a:graphicData uri="http://schemas.openxmlformats.org/drawingml/2006/table">
            <a:tbl>
              <a:tblPr>
                <a:tableStyleId>{9D7B26C5-4107-4FEC-AEDC-1716B250A1EF}</a:tableStyleId>
              </a:tblPr>
              <a:tblGrid>
                <a:gridCol w="1394460">
                  <a:extLst>
                    <a:ext uri="{9D8B030D-6E8A-4147-A177-3AD203B41FA5}">
                      <a16:colId xmlns:a16="http://schemas.microsoft.com/office/drawing/2014/main" val="3944533981"/>
                    </a:ext>
                  </a:extLst>
                </a:gridCol>
                <a:gridCol w="1394460">
                  <a:extLst>
                    <a:ext uri="{9D8B030D-6E8A-4147-A177-3AD203B41FA5}">
                      <a16:colId xmlns:a16="http://schemas.microsoft.com/office/drawing/2014/main" val="3858453604"/>
                    </a:ext>
                  </a:extLst>
                </a:gridCol>
                <a:gridCol w="1394460">
                  <a:extLst>
                    <a:ext uri="{9D8B030D-6E8A-4147-A177-3AD203B41FA5}">
                      <a16:colId xmlns:a16="http://schemas.microsoft.com/office/drawing/2014/main" val="2379972503"/>
                    </a:ext>
                  </a:extLst>
                </a:gridCol>
                <a:gridCol w="1394460">
                  <a:extLst>
                    <a:ext uri="{9D8B030D-6E8A-4147-A177-3AD203B41FA5}">
                      <a16:colId xmlns:a16="http://schemas.microsoft.com/office/drawing/2014/main" val="83740644"/>
                    </a:ext>
                  </a:extLst>
                </a:gridCol>
              </a:tblGrid>
              <a:tr h="0">
                <a:tc>
                  <a:txBody>
                    <a:bodyPr/>
                    <a:lstStyle/>
                    <a:p>
                      <a:pPr fontAlgn="b"/>
                      <a:endParaRPr lang="en-US" sz="1200" b="1" dirty="0">
                        <a:effectLst/>
                      </a:endParaRPr>
                    </a:p>
                  </a:txBody>
                  <a:tcPr anchor="b"/>
                </a:tc>
                <a:tc>
                  <a:txBody>
                    <a:bodyPr/>
                    <a:lstStyle/>
                    <a:p>
                      <a:pPr fontAlgn="b"/>
                      <a:br>
                        <a:rPr lang="en-US" sz="1200" b="1" dirty="0">
                          <a:effectLst/>
                        </a:rPr>
                      </a:br>
                      <a:r>
                        <a:rPr lang="en-US" sz="1200" b="1" dirty="0">
                          <a:effectLst/>
                        </a:rPr>
                        <a:t>Product A</a:t>
                      </a:r>
                    </a:p>
                  </a:txBody>
                  <a:tcPr anchor="b"/>
                </a:tc>
                <a:tc>
                  <a:txBody>
                    <a:bodyPr/>
                    <a:lstStyle/>
                    <a:p>
                      <a:pPr fontAlgn="b"/>
                      <a:r>
                        <a:rPr lang="en-US" sz="1200" b="1" dirty="0">
                          <a:effectLst/>
                        </a:rPr>
                        <a:t>Product B</a:t>
                      </a:r>
                    </a:p>
                  </a:txBody>
                  <a:tcPr anchor="b"/>
                </a:tc>
                <a:tc>
                  <a:txBody>
                    <a:bodyPr/>
                    <a:lstStyle/>
                    <a:p>
                      <a:pPr fontAlgn="b"/>
                      <a:r>
                        <a:rPr lang="en-US" sz="1200" b="1" dirty="0">
                          <a:effectLst/>
                        </a:rPr>
                        <a:t>Total</a:t>
                      </a:r>
                    </a:p>
                  </a:txBody>
                  <a:tcPr anchor="b"/>
                </a:tc>
                <a:extLst>
                  <a:ext uri="{0D108BD9-81ED-4DB2-BD59-A6C34878D82A}">
                    <a16:rowId xmlns:a16="http://schemas.microsoft.com/office/drawing/2014/main" val="2152752031"/>
                  </a:ext>
                </a:extLst>
              </a:tr>
              <a:tr h="0">
                <a:tc>
                  <a:txBody>
                    <a:bodyPr/>
                    <a:lstStyle/>
                    <a:p>
                      <a:pPr fontAlgn="base"/>
                      <a:r>
                        <a:rPr lang="en-US" sz="1200" b="1">
                          <a:effectLst/>
                        </a:rPr>
                        <a:t>Under 30</a:t>
                      </a:r>
                      <a:endParaRPr lang="en-US" sz="1200">
                        <a:effectLst/>
                      </a:endParaRPr>
                    </a:p>
                  </a:txBody>
                  <a:tcPr anchor="ctr"/>
                </a:tc>
                <a:tc>
                  <a:txBody>
                    <a:bodyPr/>
                    <a:lstStyle/>
                    <a:p>
                      <a:pPr fontAlgn="base"/>
                      <a:r>
                        <a:rPr lang="en-US" sz="1200">
                          <a:effectLst/>
                        </a:rPr>
                        <a:t>30</a:t>
                      </a:r>
                    </a:p>
                  </a:txBody>
                  <a:tcPr anchor="ctr"/>
                </a:tc>
                <a:tc>
                  <a:txBody>
                    <a:bodyPr/>
                    <a:lstStyle/>
                    <a:p>
                      <a:pPr fontAlgn="base"/>
                      <a:r>
                        <a:rPr lang="en-US" sz="1200">
                          <a:effectLst/>
                        </a:rPr>
                        <a:t>40</a:t>
                      </a:r>
                    </a:p>
                  </a:txBody>
                  <a:tcPr anchor="ctr"/>
                </a:tc>
                <a:tc>
                  <a:txBody>
                    <a:bodyPr/>
                    <a:lstStyle/>
                    <a:p>
                      <a:pPr fontAlgn="base"/>
                      <a:r>
                        <a:rPr lang="en-US" sz="1200">
                          <a:effectLst/>
                        </a:rPr>
                        <a:t>70</a:t>
                      </a:r>
                    </a:p>
                  </a:txBody>
                  <a:tcPr anchor="ctr"/>
                </a:tc>
                <a:extLst>
                  <a:ext uri="{0D108BD9-81ED-4DB2-BD59-A6C34878D82A}">
                    <a16:rowId xmlns:a16="http://schemas.microsoft.com/office/drawing/2014/main" val="394349561"/>
                  </a:ext>
                </a:extLst>
              </a:tr>
              <a:tr h="0">
                <a:tc>
                  <a:txBody>
                    <a:bodyPr/>
                    <a:lstStyle/>
                    <a:p>
                      <a:pPr fontAlgn="base"/>
                      <a:r>
                        <a:rPr lang="en-US" sz="1200" b="1">
                          <a:effectLst/>
                        </a:rPr>
                        <a:t>30 to 50</a:t>
                      </a:r>
                      <a:endParaRPr lang="en-US" sz="1200">
                        <a:effectLst/>
                      </a:endParaRPr>
                    </a:p>
                  </a:txBody>
                  <a:tcPr anchor="ctr"/>
                </a:tc>
                <a:tc>
                  <a:txBody>
                    <a:bodyPr/>
                    <a:lstStyle/>
                    <a:p>
                      <a:pPr fontAlgn="base"/>
                      <a:r>
                        <a:rPr lang="en-US" sz="1200">
                          <a:effectLst/>
                        </a:rPr>
                        <a:t>50</a:t>
                      </a:r>
                    </a:p>
                  </a:txBody>
                  <a:tcPr anchor="ctr"/>
                </a:tc>
                <a:tc>
                  <a:txBody>
                    <a:bodyPr/>
                    <a:lstStyle/>
                    <a:p>
                      <a:pPr fontAlgn="base"/>
                      <a:r>
                        <a:rPr lang="en-US" sz="1200" dirty="0">
                          <a:effectLst/>
                        </a:rPr>
                        <a:t>30</a:t>
                      </a:r>
                    </a:p>
                  </a:txBody>
                  <a:tcPr anchor="ctr"/>
                </a:tc>
                <a:tc>
                  <a:txBody>
                    <a:bodyPr/>
                    <a:lstStyle/>
                    <a:p>
                      <a:pPr fontAlgn="base"/>
                      <a:r>
                        <a:rPr lang="en-US" sz="1200">
                          <a:effectLst/>
                        </a:rPr>
                        <a:t>80</a:t>
                      </a:r>
                    </a:p>
                  </a:txBody>
                  <a:tcPr anchor="ctr"/>
                </a:tc>
                <a:extLst>
                  <a:ext uri="{0D108BD9-81ED-4DB2-BD59-A6C34878D82A}">
                    <a16:rowId xmlns:a16="http://schemas.microsoft.com/office/drawing/2014/main" val="4005488617"/>
                  </a:ext>
                </a:extLst>
              </a:tr>
              <a:tr h="0">
                <a:tc>
                  <a:txBody>
                    <a:bodyPr/>
                    <a:lstStyle/>
                    <a:p>
                      <a:pPr fontAlgn="base"/>
                      <a:r>
                        <a:rPr lang="en-US" sz="1200" b="1">
                          <a:effectLst/>
                        </a:rPr>
                        <a:t>Over 50</a:t>
                      </a:r>
                      <a:endParaRPr lang="en-US" sz="1200">
                        <a:effectLst/>
                      </a:endParaRPr>
                    </a:p>
                  </a:txBody>
                  <a:tcPr anchor="ctr"/>
                </a:tc>
                <a:tc>
                  <a:txBody>
                    <a:bodyPr/>
                    <a:lstStyle/>
                    <a:p>
                      <a:pPr fontAlgn="base"/>
                      <a:r>
                        <a:rPr lang="en-US" sz="1200">
                          <a:effectLst/>
                        </a:rPr>
                        <a:t>20</a:t>
                      </a:r>
                    </a:p>
                  </a:txBody>
                  <a:tcPr anchor="ctr"/>
                </a:tc>
                <a:tc>
                  <a:txBody>
                    <a:bodyPr/>
                    <a:lstStyle/>
                    <a:p>
                      <a:pPr fontAlgn="base"/>
                      <a:r>
                        <a:rPr lang="en-US" sz="1200">
                          <a:effectLst/>
                        </a:rPr>
                        <a:t>30</a:t>
                      </a:r>
                    </a:p>
                  </a:txBody>
                  <a:tcPr anchor="ctr"/>
                </a:tc>
                <a:tc>
                  <a:txBody>
                    <a:bodyPr/>
                    <a:lstStyle/>
                    <a:p>
                      <a:pPr fontAlgn="base"/>
                      <a:r>
                        <a:rPr lang="en-US" sz="1200">
                          <a:effectLst/>
                        </a:rPr>
                        <a:t>50</a:t>
                      </a:r>
                    </a:p>
                  </a:txBody>
                  <a:tcPr anchor="ctr"/>
                </a:tc>
                <a:extLst>
                  <a:ext uri="{0D108BD9-81ED-4DB2-BD59-A6C34878D82A}">
                    <a16:rowId xmlns:a16="http://schemas.microsoft.com/office/drawing/2014/main" val="1635451177"/>
                  </a:ext>
                </a:extLst>
              </a:tr>
              <a:tr h="0">
                <a:tc>
                  <a:txBody>
                    <a:bodyPr/>
                    <a:lstStyle/>
                    <a:p>
                      <a:pPr fontAlgn="base"/>
                      <a:r>
                        <a:rPr lang="en-US" sz="1200" b="1">
                          <a:effectLst/>
                        </a:rPr>
                        <a:t>Total</a:t>
                      </a:r>
                      <a:endParaRPr lang="en-US" sz="1200">
                        <a:effectLst/>
                      </a:endParaRPr>
                    </a:p>
                  </a:txBody>
                  <a:tcPr anchor="ctr"/>
                </a:tc>
                <a:tc>
                  <a:txBody>
                    <a:bodyPr/>
                    <a:lstStyle/>
                    <a:p>
                      <a:pPr fontAlgn="base"/>
                      <a:r>
                        <a:rPr lang="en-US" sz="1200">
                          <a:effectLst/>
                        </a:rPr>
                        <a:t>100</a:t>
                      </a:r>
                    </a:p>
                  </a:txBody>
                  <a:tcPr anchor="ctr"/>
                </a:tc>
                <a:tc>
                  <a:txBody>
                    <a:bodyPr/>
                    <a:lstStyle/>
                    <a:p>
                      <a:pPr fontAlgn="base"/>
                      <a:r>
                        <a:rPr lang="en-US" sz="1200">
                          <a:effectLst/>
                        </a:rPr>
                        <a:t>100</a:t>
                      </a:r>
                    </a:p>
                  </a:txBody>
                  <a:tcPr anchor="ctr"/>
                </a:tc>
                <a:tc>
                  <a:txBody>
                    <a:bodyPr/>
                    <a:lstStyle/>
                    <a:p>
                      <a:pPr fontAlgn="base"/>
                      <a:r>
                        <a:rPr lang="en-US" sz="1200" dirty="0">
                          <a:effectLst/>
                        </a:rPr>
                        <a:t>200</a:t>
                      </a:r>
                    </a:p>
                  </a:txBody>
                  <a:tcPr anchor="ctr"/>
                </a:tc>
                <a:extLst>
                  <a:ext uri="{0D108BD9-81ED-4DB2-BD59-A6C34878D82A}">
                    <a16:rowId xmlns:a16="http://schemas.microsoft.com/office/drawing/2014/main" val="2950534434"/>
                  </a:ext>
                </a:extLst>
              </a:tr>
            </a:tbl>
          </a:graphicData>
        </a:graphic>
      </p:graphicFrame>
      <p:sp>
        <p:nvSpPr>
          <p:cNvPr id="6" name="TextBox 5">
            <a:extLst>
              <a:ext uri="{FF2B5EF4-FFF2-40B4-BE49-F238E27FC236}">
                <a16:creationId xmlns:a16="http://schemas.microsoft.com/office/drawing/2014/main" id="{4A11A0C4-B51A-DD8D-CDFC-77550574A649}"/>
              </a:ext>
            </a:extLst>
          </p:cNvPr>
          <p:cNvSpPr txBox="1"/>
          <p:nvPr/>
        </p:nvSpPr>
        <p:spPr>
          <a:xfrm>
            <a:off x="838200" y="5934670"/>
            <a:ext cx="9435830" cy="923330"/>
          </a:xfrm>
          <a:prstGeom prst="rect">
            <a:avLst/>
          </a:prstGeom>
          <a:noFill/>
        </p:spPr>
        <p:txBody>
          <a:bodyPr wrap="square">
            <a:spAutoFit/>
          </a:bodyPr>
          <a:lstStyle/>
          <a:p>
            <a:pPr algn="l"/>
            <a:r>
              <a:rPr lang="en-US" b="1" i="0" dirty="0">
                <a:solidFill>
                  <a:srgbClr val="0D0D0D"/>
                </a:solidFill>
                <a:effectLst/>
                <a:highlight>
                  <a:srgbClr val="FFFFFF"/>
                </a:highlight>
                <a:latin typeface="Söhne"/>
              </a:rPr>
              <a:t>Task</a:t>
            </a:r>
          </a:p>
          <a:p>
            <a:pPr algn="l"/>
            <a:r>
              <a:rPr lang="en-US" b="0" i="0" dirty="0">
                <a:solidFill>
                  <a:srgbClr val="0D0D0D"/>
                </a:solidFill>
                <a:effectLst/>
                <a:highlight>
                  <a:srgbClr val="FFFFFF"/>
                </a:highlight>
                <a:latin typeface="Söhne"/>
              </a:rPr>
              <a:t>Perform a Chi-Square Test of Independence to determine if there's a significant relationship between age group and product preference.</a:t>
            </a:r>
          </a:p>
        </p:txBody>
      </p:sp>
    </p:spTree>
    <p:extLst>
      <p:ext uri="{BB962C8B-B14F-4D97-AF65-F5344CB8AC3E}">
        <p14:creationId xmlns:p14="http://schemas.microsoft.com/office/powerpoint/2010/main" val="17883082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7" name="Content Placeholder 6">
            <a:extLst>
              <a:ext uri="{FF2B5EF4-FFF2-40B4-BE49-F238E27FC236}">
                <a16:creationId xmlns:a16="http://schemas.microsoft.com/office/drawing/2014/main" id="{82CD8893-813D-E7F1-E3A4-257A7AB15598}"/>
              </a:ext>
            </a:extLst>
          </p:cNvPr>
          <p:cNvPicPr>
            <a:picLocks noGrp="1" noChangeAspect="1"/>
          </p:cNvPicPr>
          <p:nvPr>
            <p:ph idx="1"/>
          </p:nvPr>
        </p:nvPicPr>
        <p:blipFill>
          <a:blip r:embed="rId2"/>
          <a:stretch>
            <a:fillRect/>
          </a:stretch>
        </p:blipFill>
        <p:spPr>
          <a:xfrm>
            <a:off x="838200" y="1738989"/>
            <a:ext cx="8757732" cy="4991100"/>
          </a:xfrm>
        </p:spPr>
      </p:pic>
    </p:spTree>
    <p:extLst>
      <p:ext uri="{BB962C8B-B14F-4D97-AF65-F5344CB8AC3E}">
        <p14:creationId xmlns:p14="http://schemas.microsoft.com/office/powerpoint/2010/main" val="1660737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6" name="Content Placeholder 5">
            <a:extLst>
              <a:ext uri="{FF2B5EF4-FFF2-40B4-BE49-F238E27FC236}">
                <a16:creationId xmlns:a16="http://schemas.microsoft.com/office/drawing/2014/main" id="{2D52F2B0-8113-5FAF-ABBE-D56C43E5B9F5}"/>
              </a:ext>
            </a:extLst>
          </p:cNvPr>
          <p:cNvPicPr>
            <a:picLocks noGrp="1" noChangeAspect="1"/>
          </p:cNvPicPr>
          <p:nvPr>
            <p:ph idx="1"/>
          </p:nvPr>
        </p:nvPicPr>
        <p:blipFill>
          <a:blip r:embed="rId2"/>
          <a:stretch>
            <a:fillRect/>
          </a:stretch>
        </p:blipFill>
        <p:spPr>
          <a:xfrm>
            <a:off x="838200" y="1767489"/>
            <a:ext cx="10515600" cy="4104005"/>
          </a:xfrm>
        </p:spPr>
      </p:pic>
    </p:spTree>
    <p:extLst>
      <p:ext uri="{BB962C8B-B14F-4D97-AF65-F5344CB8AC3E}">
        <p14:creationId xmlns:p14="http://schemas.microsoft.com/office/powerpoint/2010/main" val="1982708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1298-26B9-C28D-96F0-9FCD9ECDB9BF}"/>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73243035-DCAA-9726-8CC1-7E57DACD3F6E}"/>
              </a:ext>
            </a:extLst>
          </p:cNvPr>
          <p:cNvSpPr>
            <a:spLocks noGrp="1"/>
          </p:cNvSpPr>
          <p:nvPr>
            <p:ph idx="1"/>
          </p:nvPr>
        </p:nvSpPr>
        <p:spPr/>
        <p:txBody>
          <a:bodyPr/>
          <a:lstStyle/>
          <a:p>
            <a:r>
              <a:rPr lang="en-US" dirty="0"/>
              <a:t>After calculating the Chi-Square statistic and comparing it with the critical value from a Chi-Square distribution table (or using p-value), you can conclude whether there is a statistically significant association between age group and product preference.</a:t>
            </a:r>
          </a:p>
        </p:txBody>
      </p:sp>
    </p:spTree>
    <p:extLst>
      <p:ext uri="{BB962C8B-B14F-4D97-AF65-F5344CB8AC3E}">
        <p14:creationId xmlns:p14="http://schemas.microsoft.com/office/powerpoint/2010/main" val="1987101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AA95-80B6-CD5E-3924-E510E93FA389}"/>
              </a:ext>
            </a:extLst>
          </p:cNvPr>
          <p:cNvSpPr>
            <a:spLocks noGrp="1"/>
          </p:cNvSpPr>
          <p:nvPr>
            <p:ph type="title"/>
          </p:nvPr>
        </p:nvSpPr>
        <p:spPr>
          <a:xfrm>
            <a:off x="838200" y="797523"/>
            <a:ext cx="3655979" cy="748208"/>
          </a:xfrm>
        </p:spPr>
        <p:txBody>
          <a:bodyPr/>
          <a:lstStyle/>
          <a:p>
            <a:r>
              <a:rPr lang="en-US" dirty="0"/>
              <a:t>How to Select Test Type</a:t>
            </a:r>
          </a:p>
        </p:txBody>
      </p:sp>
      <p:pic>
        <p:nvPicPr>
          <p:cNvPr id="4" name="Content Placeholder 4" descr="A diagram of a flowchart&#10;&#10;Description automatically generated">
            <a:extLst>
              <a:ext uri="{FF2B5EF4-FFF2-40B4-BE49-F238E27FC236}">
                <a16:creationId xmlns:a16="http://schemas.microsoft.com/office/drawing/2014/main" id="{74D2163C-9B06-605A-CBD7-17ACC1C061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53368" y="45635"/>
            <a:ext cx="5305031" cy="6759002"/>
          </a:xfrm>
        </p:spPr>
      </p:pic>
    </p:spTree>
    <p:extLst>
      <p:ext uri="{BB962C8B-B14F-4D97-AF65-F5344CB8AC3E}">
        <p14:creationId xmlns:p14="http://schemas.microsoft.com/office/powerpoint/2010/main" val="1697141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7693</TotalTime>
  <Words>6238</Words>
  <Application>Microsoft Office PowerPoint</Application>
  <PresentationFormat>Widescreen</PresentationFormat>
  <Paragraphs>1026</Paragraphs>
  <Slides>57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Aptos Narrow</vt:lpstr>
      <vt:lpstr>Arial</vt:lpstr>
      <vt:lpstr>Calibri</vt:lpstr>
      <vt:lpstr>Calibri Light</vt:lpstr>
      <vt:lpstr>Cambria Math</vt:lpstr>
      <vt:lpstr>Söhne</vt:lpstr>
      <vt:lpstr>Verdana</vt:lpstr>
      <vt:lpstr>Wingdings</vt:lpstr>
      <vt:lpstr>Office Theme</vt:lpstr>
      <vt:lpstr>307102 Descriptive Statistics for Business</vt:lpstr>
      <vt:lpstr>Content</vt:lpstr>
      <vt:lpstr>Hypothesis Testing</vt:lpstr>
      <vt:lpstr>Business Related Examples in Hypothesis Testing</vt:lpstr>
      <vt:lpstr>PowerPoint Presentation</vt:lpstr>
      <vt:lpstr>Key Concepts</vt:lpstr>
      <vt:lpstr>The Null and The Alternative Hypothesis</vt:lpstr>
      <vt:lpstr>Choosing the Right Test</vt:lpstr>
      <vt:lpstr>The Process</vt:lpstr>
      <vt:lpstr>More about Hypothesis Testing Core Concepts</vt:lpstr>
      <vt:lpstr>The Significance Level α</vt:lpstr>
      <vt:lpstr>The Test Statistic</vt:lpstr>
      <vt:lpstr>Computing the Test Statistic</vt:lpstr>
      <vt:lpstr>A Word about The Types of Populations Hypothesis Tests</vt:lpstr>
      <vt:lpstr>The Critical Value and the p-Value Approach to Hypothesis Testing</vt:lpstr>
      <vt:lpstr>The Critical Value Approach to Hypothesis Testing</vt:lpstr>
      <vt:lpstr>The p-Value Approach to Hypothesis Testing</vt:lpstr>
      <vt:lpstr>Type I and Type II Errors</vt:lpstr>
      <vt:lpstr>Hypothesis Testing Examples</vt:lpstr>
      <vt:lpstr>One Sample Test – Testing for Two Tails</vt:lpstr>
      <vt:lpstr>Implement the Test in Excel</vt:lpstr>
      <vt:lpstr>One Sample - One Tailed Test (Lower Tail Test)</vt:lpstr>
      <vt:lpstr>Implement the Test in Excel</vt:lpstr>
      <vt:lpstr>One Sample - One Tailed Test (Upper Tail Test)</vt:lpstr>
      <vt:lpstr>PowerPoint Presentation</vt:lpstr>
      <vt:lpstr>One Sample - One Tailed Test (Upper Tail Test)</vt:lpstr>
      <vt:lpstr>One Sample - One Tailed Test (Upper Tail Test)</vt:lpstr>
      <vt:lpstr>One Sample - One Tailed Test (Lower Tail Test)</vt:lpstr>
      <vt:lpstr>Hypothesis Testing for Two Populations Means</vt:lpstr>
      <vt:lpstr>Types of Hypothesis Tests</vt:lpstr>
      <vt:lpstr>Compares the means of two dependent groups (Paired T Test)</vt:lpstr>
      <vt:lpstr>Compares the means of two dependent groups (Paired T Test)</vt:lpstr>
      <vt:lpstr>Compares the means of two dependent groups (Paired T Test)</vt:lpstr>
      <vt:lpstr>Compares the means of two independent groups  (variance assumed to be equal)</vt:lpstr>
      <vt:lpstr>Compares the means of two independent groups  (variance assumed to be equal)</vt:lpstr>
      <vt:lpstr>Compares the means of two independent groups  (variance assumed to be not equal)</vt:lpstr>
      <vt:lpstr>Compares the means of two independent groups  (variance assumed to be not equal)</vt:lpstr>
      <vt:lpstr>Hypothesis Testing for More than Two Populations Means</vt:lpstr>
      <vt:lpstr>Introduction to One-Way ANOVA</vt:lpstr>
      <vt:lpstr>ANOVA</vt:lpstr>
      <vt:lpstr>ANOVA Example</vt:lpstr>
      <vt:lpstr>Interpreting Results</vt:lpstr>
      <vt:lpstr>2-Way ANOVA</vt:lpstr>
      <vt:lpstr>2-Way ANOVA</vt:lpstr>
      <vt:lpstr>Hypothesis Testing for Categorical Data</vt:lpstr>
      <vt:lpstr>Introduction to Chi-Square Tests</vt:lpstr>
      <vt:lpstr>Focus on Chi-Square Test of Independence</vt:lpstr>
      <vt:lpstr>Assumptions of the Chi-Square Test of Independence</vt:lpstr>
      <vt:lpstr>The Chi-Square Statistic</vt:lpstr>
      <vt:lpstr>Calculating Expected Frequencies</vt:lpstr>
      <vt:lpstr>Conducting the Test</vt:lpstr>
      <vt:lpstr>Interpreting Results</vt:lpstr>
      <vt:lpstr>Example: Product Preference Across Age Groups</vt:lpstr>
      <vt:lpstr>Steps to Solve in Excel</vt:lpstr>
      <vt:lpstr>Steps to Solve in Excel</vt:lpstr>
      <vt:lpstr>Interpretation</vt:lpstr>
      <vt:lpstr>How to Select Test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1116</cp:revision>
  <dcterms:created xsi:type="dcterms:W3CDTF">2023-03-26T11:17:23Z</dcterms:created>
  <dcterms:modified xsi:type="dcterms:W3CDTF">2025-05-16T05:51:22Z</dcterms:modified>
</cp:coreProperties>
</file>